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4610"/>
  </p:normalViewPr>
  <p:slideViewPr>
    <p:cSldViewPr snapToGrid="0" snapToObjects="1">
      <p:cViewPr>
        <p:scale>
          <a:sx n="100" d="100"/>
          <a:sy n="100" d="100"/>
        </p:scale>
        <p:origin x="1544" y="7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388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sugerido: 1 minuto.
Buenos días. Somos Andrés Vargas y Jonathan Garcés, y presentamos el proyecto “Implementación de GLPI para la gestión de Mesa de Ayuda y control de activos TI en JUNJI”.
El proyecto nace desde una necesidad concreta: JUNJI requiere fortalecer su gestión de soporte tecnológico y, al mismo tiempo, contar con mayor control sobre sus activos TI. La propuesta se basa en GLPI, una plataforma open source de ITSM que permite integrar tickets, usuarios, activos, reportes y trazabilidad en un solo entorno.
Durante la presentación mostraremos el contexto del problema, los objetivos, la arquitectura elegida, la implementación, la validación funcional, los riesgos, los aprendizajes y el impacto esperado. También dejaremos preparado el recorrido de demo, donde el foco será mostrar el flujo completo del usuario y del equipo de soporte.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sugerido: 2 minutos.
La idea central del proyecto se puede explicar en una frase: pasar desde una operación muy apoyada en correo y registros dispersos hacia una plataforma centralizada, trazable y preparada para gestión.
En el escenario actual, la Mesa de Ayuda funciona con tickets generados desde correos. Eso permite registrar solicitudes, pero limita la estandarización, la explotación de datos, la reportería y la trazabilidad completa. Además, JUNJI necesita controlar activos TI: equipos, pantallas, notebooks y periféricos, con información de ubicación, estado, responsable y relación con tickets.
La propuesta es implementar GLPI porque resuelve ambos frentes en un solo sistema. No solo reemplaza una ticketera, sino que integra Mesa de Ayuda, inventario, activos, usuarios, perfiles, reportes y dashboards.
El impacto esperado es reducir la dispersión de información, mejorar la trazabilidad, apoyar a las jefaturas con datos operativos y entregar una base sostenible para el soporte tecnológico institucional.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sugerido: 2 minutos.
Antes de hablar de tecnología, es importante entender el contexto del cliente. JUNJI es una organización pública de escala nacional, con unidades educativas y oficinas distribuidas en distintas regiones. En este tipo de organización, los procesos de soporte no pueden depender solo de acciones informales, porque hay continuidad operativa, control interno, auditoría y disponibilidad de información involucradas.
Los usuarios principales del sistema son los solicitantes internos, que ingresan requerimientos; los equipos de soporte TI, que deben clasificarlos, asignarlos y resolverlos; las jefaturas, que necesitan información para gestionar; y los activos TI, que aunque no son usuarios, son objetos centrales de control: equipos, monitores, periféricos y otros recursos institucionales.
Por eso la solución debía ser robusta, pero también simple de administrar. No se buscaba crear un sistema desde cero, sino implementar una plataforma que respondiera rápido a una necesidad operativa real.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sugerido: 2 minutos.
El proceso actual parte cuando un usuario detecta un problema o requerimiento y lo informa por correo. Ese correo genera o alimenta un ticket, luego el seguimiento se realiza en el sistema y la respuesta final vuelve al usuario.
El punto importante es que sí existe un sistema, pero funciona principalmente como repositorio de correos y tickets. Eso deja varias brechas: dashboards poco detallados, baja capacidad de extraer información por área, región o tipo de requerimiento, dependencia del correo y tickets con información desigual.
La consecuencia es operacional: mayor carga para construir reportes manuales, poca capacidad para identificar cuellos de botella, dificultad para medir tiempos de respuesta y decisiones que pueden quedar basadas en percepciones más que en datos.
Por eso la propuesta no es solo cambiar una herramienta, sino mejorar la forma en que se captura, procesa y usa la información del soporte.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sugerido: 2 minutos.
El objetivo general fue implementar GLPI como plataforma institucional para centralizar Mesa de Ayuda y control de activos TI. En términos SMART, el objetivo es específico porque apunta a GLPI y a dos procesos claros; es medible por los tickets, formularios, reportes y activos; es alcanzable porque se apoya en una plataforma existente; es relevante porque responde directamente a las brechas detectadas; y está acotado al horizonte del MVP.
Los objetivos específicos se agrupan en cinco líneas: configurar la plataforma, diseñar formularios estructurados, habilitar gestión de activos, incorporar dashboards y validar funcionalmente la solución.
El alcance incluye configuración base, perfiles, catálogos, flujo de tickets, activos, reportes y pruebas. Quedan fuera las integraciones profundas, reportería ejecutiva avanzada, automatización total del inventario y desarrollo sobre el núcleo de GLPI.
Esto es importante porque la propuesta mantiene un alcance realista: resuelve lo crítico sin sobredimensionar la primera entrega.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sugerido: 2 minutos.
El MVP se diseñó como un flujo funcional completo. Parte con un formulario estructurado, continúa con gestión del ciclo de vida del ticket, asignación, trazabilidad, asociación con activos y termina entregando información mediante dashboards y reportes.
Los requerimientos críticos están implementados sobre ese flujo: crear tickets, gestionar estados, asignar responsables, registrar historial, administrar activos, vincular tickets con activos y controlar perfiles.
Los requerimientos que quedaron parcialmente implementados corresponden a dimensiones más avanzadas, como reportería ejecutiva o reglas más sofisticadas de clasificación. Eso no impide demostrar el núcleo del sistema ni genera errores bloqueantes.
Para la defensa, este slide sirve para anticipar la demo: lo que vamos a mostrar después no son pantallas aisladas, sino el recorrido completo del MVP.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sugerido: 2 minutos.
La metodología utilizada fue Scrum adaptado a un proyecto de implementación y parametrización. No se trató de programar una aplicación desde cero, por lo que el enfoque ágil se usó principalmente para priorizar, organizar, validar y ajustar el avance.
La planificación formal del informe se estructuró entre S2 y S10, mientras que GitHub se usó como herramienta operativa para organizar el roadmap, el backlog y el seguimiento de tareas. Las actividades avanzan desde levantamiento, instalación y configuración, hasta pruebas, aceptación y cierre.
Es importante aclarar que, aunque la pauta menciona herramientas como Trello o Postman, en este proyecto el núcleo de gestión estuvo en GitHub. Postman no fue parte central porque las pruebas se realizaron desde la plataforma web de GLPI, simulando la experiencia real de los usuarios. Draw.io se usó para la elaboración de diagramas de arquitectura y diseño.
El valor de este enfoque fue mantener trazabilidad entre planificación, backlog, Gantt, pruebas y entregables.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sugerido: 2 minutos y medio.
La arquitectura propuesta es una arquitectura web monolítica en capas, desplegada sobre una máquina virtual institucional. Esto significa que GLPI funciona como una aplicación web única, donde se integran la interfaz, la lógica de mesa de ayuda, gestión de activos, reportería y persistencia de datos.
La decisión tiene cuatro fundamentos principales. Primero, reduce complejidad técnica y permite una puesta en marcha más rápida. Segundo, centraliza en un solo entorno helpdesk e inventario, lo que mejora la trazabilidad entre ticket, usuario, ubicación y activo. Tercero, simplifica la administración para el equipo TI, porque opera sobre una instancia principal en una VM. Cuarto, facilita respaldo, mantención y control operacional.
Se descartó microservicios o un frontend propio porque habría implicado más componentes, mayor costo, más integración y mayor carga de observabilidad. También se descartó desarrollar una solución desde cero porque GLPI ya entrega funcionalidades maduras.
La instalación completa queda documentada en el Anexo A, por lo que la arquitectura no queda solo como diseño conceptual, sino como una ruta técnica replicable.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sugerido: 2 minutos.
Este diagrama resume la arquitectura a nivel C4. A la izquierda están los actores principales: solicitantes, agentes TI y jefaturas. Todos interactúan con GLPI como sistema central. Dentro de GLPI se concentran los módulos críticos: tickets, formularios, activos, perfiles, dashboards y reportes.
A la derecha aparecen los componentes de soporte: MariaDB para persistencia, correo para notificaciones y GLPI Agent o GLPI Inventory para fortalecer inventario en etapas posteriores.
Desde el punto de vista de diseño, la solución aprovecha las capacidades nativas de GLPI en vez de duplicarlas. Eso permite aplicar principios similares a SOLID en los artefactos propios: separar responsabilidades, mantener configuraciones organizadas y evitar modificar el core.
La idea central para la defensa es que la arquitectura es coherente con el problema: no se sobredimensiona, pero sí resuelve las brechas críticas.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sugerido: 2 minutos.
El modelo de datos se acotó al subconjunto relevante para el MVP. La entidad central es el ticket, porque desde ahí se conecta el solicitante, la ubicación, la categoría, los estados, las tareas, los comentarios y los activos asociados.
Un punto importante es la relación entre ticket y activo. GLPI permite vincular uno o más activos a un ticket, lo que mejora la trazabilidad del soporte. Por ejemplo, si un notebook presenta una falla, el ticket no queda aislado: queda asociado al equipo, su ubicación, responsable y estado.
El esquema físico considera tablas como glpi_tickets, glpi_users, glpi_locations, glpi_itilcategories, glpi_items_tickets y tablas de activos.
Se justificó la normalización hasta tercera forma normal en el subconjunto analizado: datos atómicos, dependencias correctas y separación de entidades maestras. Esto reduce duplicidad y ayuda a que los reportes se construyan sobre datos más consistentes.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sugerido: 1 minuto.
Antes de entrar a la demo, conviene ordenar qué se va a mostrar. La demo debe ser fluida y no debe depender de improvisación. El recorrido recomendado es: primero mostrar login y perfil de usuario; luego crear un ticket desde formulario estructurado; después gestionarlo desde el rol de soporte, cambiando estado y asignando responsable; luego asociar el ticket a un activo TI; finalmente revisar un dashboard o reporte.
La idea es que el evaluador vea el flujo completo: ingreso, atención, trazabilidad, activo relacionado y visualización para gestión.
En la presentación oral, este slide permite controlar el tiempo y preparar al público para lo que verá en pantalla. La clave es no mostrar todo GLPI, sino el flujo crítico del MVP.</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sugerido: 3 minutos.
En esta primera parte de la demo se debe mostrar el ingreso al sistema desde navegador. Esto es relevante porque la validación se hizo desde la plataforma web real, no mediante API.
Luego se muestra la creación de un ticket. El foco no es solo que el ticket se cree, sino que el formulario capture información mínima: categoría, prioridad, descripción, ubicación u otros campos definidos.
Después se debe demostrar una validación: intentar enviar un ticket incompleto o mostrar evidencia de que el sistema bloquea campos obligatorios. Esto conecta directamente con uno de los problemas iniciales: los usuarios enviaban solicitudes con distintos niveles de detalle, lo que dificultaba clasificación y análisis.
El mensaje para el evaluador es claro: el sistema no solo registra solicitudes, sino que obliga una captura de información más ordenada, lo que mejora la trazabilidad y la reportería posterior.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sugerido: 3 minutos.
La segunda parte de la demo debe mostrar el punto más importante desde el soporte. Una vez creado el ticket, un agente puede revisarlo, asignarlo a un técnico o grupo, cambiar su estado y registrar acciones.
Luego se muestra la asociación entre ticket y activo. Este punto es clave porque conecta la Mesa de Ayuda con el inventario. Por ejemplo, si un equipo presenta falla, el soporte no queda solo con una descripción del problema: puede saber qué activo está involucrado, dónde está, quién lo tiene asignado y qué historial tiene.
También se debe mostrar el inventario o la ficha del activo, especialmente si contiene ubicación, estado y responsable.
La idea es remarcar que la solución mejora trazabilidad: no solo se atienden tickets, sino que se construye una historia operativa entre usuarios, requerimientos y recursos tecnológicos.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sugerido: 3 minutos.
La tercera parte de la demo se enfoca en jefaturas y control de gestión. Aquí lo relevante es mostrar que la información capturada en tickets y activos puede visualizarse y explotarse.
Primero se muestra el dashboard, destacando indicadores como tickets por área, abiertos versus cerrados, tiempos de respuesta y carga de trabajo. Luego se puede mostrar la exportación o reporte filtrado, por ejemplo por área, estado o fecha.
Este punto conecta directamente con la problemática inicial: antes la generación de información requería procesos manuales, revisión de correos y planillas auxiliares. Con GLPI, la información queda estructurada y disponible para consulta.
También es importante ser transparente: el MVP cubre reportería operativa base; la reportería ejecutiva avanzada queda como mejora futura. Eso muestra realismo y manejo del alcance.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sugerido: 2 minutos.
En calidad del proyecto se trabajó con una estrategia coherente con el tipo de solución. Como GLPI es una plataforma existente y el proyecto se orientó a implementación y parametrización, el foco no estuvo en probar código fuente del core, sino en validar flujos críticos del sistema configurado.
Se documentaron casos de prueba funcionales, de integración, seguridad, operación y aceptación. Los 18 casos definidos se completaron y los escenarios críticos alcanzaron cobertura funcional del 100% sobre el MVP.
También se aplicaron buenas prácticas: no modificar el núcleo de GLPI, mantener configuraciones y documentación organizadas, versionar el trabajo en GitHub y usar evidencias visuales.
Es importante manejar bien la pregunta sobre pruebas unitarias. La respuesta debe ser honesta: no se desarrolló lógica de negocio propia significativa, por lo que la cobertura unitaria tradicional no es el eje. En su lugar, se validó funcionalmente el sistema desde la experiencia real del usuario en navegador.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sugerido: 2 minutos.
Los riesgos se gestionaron desde la formulación de la propuesta. El riesgo más crítico fue el crecimiento no controlado del alcance, porque GLPI tiene muchas capacidades y es fácil querer incorporar más de lo que corresponde al MVP. La mitigación fue priorizar el backlog y dejar claras las exclusiones.
También se identificaron riesgos de infraestructura, calidad de datos históricos, reportería ejecutiva y adopción de usuarios. Para cada uno se propusieron acciones: arquitectura simple sobre VM, formularios estructurados, dashboards base, pruebas de aceptación y lenguaje cercano al usuario.
En deuda técnica, el proyecto deja una ruta clara: mejorar reportería ejecutiva, automatizar reglas, incorporar inventario por agentes, integrar LDAP o Active Directory y madurar el gobierno del dato.
El mensaje clave es que la deuda técnica no invalida el MVP. Al contrario, muestra que el alcance fue realista y que existe una ruta de evolución.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sugerido: 2 minutos.
Como conclusión, el proyecto logró construir y validar una propuesta coherente para JUNJI. El MVP permite centralizar tickets, estandarizar formularios, gestionar activos, aplicar perfiles, consultar reportes base y demostrar los flujos críticos sin errores bloqueantes.
El impacto esperado está en tres dimensiones. Primero, operación: menos dependencia del correo y más trazabilidad del soporte. Segundo, gestión: dashboards y reportes que permiten ver mejor el estado de la Mesa de Ayuda. Tercero, control interno: activos TI con ubicación, responsable, estado e historial asociado a tickets.
La propuesta también es sostenible porque evita costos de licenciamiento y aprovecha infraestructura existente.
Para cerrar, es importante remarcar que este proyecto no solo busca reemplazar una herramienta; busca mejorar cómo JUNJI gestiona información, soporte y recursos tecnológicos. Las mejoras futuras quedan trazadas, pero el núcleo funcional del MVP ya queda cubierto.</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sugerido: 1 minuto y medio.
Para cerrar, esta presentación está pensada para durar entre 30 y 35 minutos. La clave es no leer las diapositivas y usar cada una como apoyo visual.
La demo debe estar preparada antes de empezar: usuarios creados, datos cargados, tickets de ejemplo, activos registrados y dashboards listos. Si algo falla en vivo, se deben tener capturas como respaldo.
Las preguntas técnicas más probables serán por qué se eligió GLPI, por qué se usó máquina virtual y no Docker, cómo se manejan perfiles y permisos, por qué no hay pruebas unitarias tradicionales, cómo se escalaría la solución y qué deuda técnica queda.
El mensaje final debe ser breve: el problema era real, la solución es viable, el MVP fue validado y la propuesta deja una base sostenible para mejorar soporte y control de activos en JUNJI. Muchas gracias.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AF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74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2742"/>
          </a:solidFill>
          <a:ln w="12700">
            <a:solidFill>
              <a:srgbClr val="0F2742"/>
            </a:solidFill>
            <a:prstDash val="solid"/>
          </a:ln>
        </p:spPr>
        <p:txBody>
          <a:bodyPr/>
          <a:lstStyle/>
          <a:p>
            <a:endParaRPr lang="en-CL"/>
          </a:p>
        </p:txBody>
      </p:sp>
      <p:sp>
        <p:nvSpPr>
          <p:cNvPr id="3" name="Shape 1"/>
          <p:cNvSpPr/>
          <p:nvPr/>
        </p:nvSpPr>
        <p:spPr>
          <a:xfrm rot="1080000">
            <a:off x="8321040" y="640080"/>
            <a:ext cx="2926080" cy="164592"/>
          </a:xfrm>
          <a:prstGeom prst="rect">
            <a:avLst/>
          </a:prstGeom>
          <a:solidFill>
            <a:srgbClr val="0BBF72">
              <a:alpha val="75000"/>
            </a:srgbClr>
          </a:solidFill>
          <a:ln w="12700">
            <a:solidFill>
              <a:srgbClr val="0BBF72">
                <a:alpha val="0"/>
              </a:srgbClr>
            </a:solidFill>
            <a:prstDash val="solid"/>
          </a:ln>
        </p:spPr>
        <p:txBody>
          <a:bodyPr/>
          <a:lstStyle/>
          <a:p>
            <a:endParaRPr lang="en-CL"/>
          </a:p>
        </p:txBody>
      </p:sp>
      <p:sp>
        <p:nvSpPr>
          <p:cNvPr id="4" name="Shape 2"/>
          <p:cNvSpPr/>
          <p:nvPr/>
        </p:nvSpPr>
        <p:spPr>
          <a:xfrm rot="-1080000">
            <a:off x="8961120" y="5212080"/>
            <a:ext cx="2560320" cy="164592"/>
          </a:xfrm>
          <a:prstGeom prst="rect">
            <a:avLst/>
          </a:prstGeom>
          <a:solidFill>
            <a:srgbClr val="2EA7D6">
              <a:alpha val="75000"/>
            </a:srgbClr>
          </a:solidFill>
          <a:ln w="12700">
            <a:solidFill>
              <a:srgbClr val="2EA7D6">
                <a:alpha val="0"/>
              </a:srgbClr>
            </a:solidFill>
            <a:prstDash val="solid"/>
          </a:ln>
        </p:spPr>
        <p:txBody>
          <a:bodyPr/>
          <a:lstStyle/>
          <a:p>
            <a:endParaRPr lang="en-CL"/>
          </a:p>
        </p:txBody>
      </p:sp>
      <p:sp>
        <p:nvSpPr>
          <p:cNvPr id="5" name="Text 3"/>
          <p:cNvSpPr/>
          <p:nvPr/>
        </p:nvSpPr>
        <p:spPr>
          <a:xfrm>
            <a:off x="685800" y="1234440"/>
            <a:ext cx="7315200" cy="411480"/>
          </a:xfrm>
          <a:prstGeom prst="rect">
            <a:avLst/>
          </a:prstGeom>
          <a:noFill/>
          <a:ln/>
        </p:spPr>
        <p:txBody>
          <a:bodyPr wrap="square" lIns="0" tIns="0" rIns="0" bIns="0" rtlCol="0" anchor="ctr"/>
          <a:lstStyle/>
          <a:p>
            <a:pPr marL="0" indent="0">
              <a:buNone/>
            </a:pPr>
            <a:r>
              <a:rPr lang="en-US" sz="3300" b="1" dirty="0">
                <a:solidFill>
                  <a:srgbClr val="FFFFFF"/>
                </a:solidFill>
              </a:rPr>
              <a:t>Implementación de GLPI</a:t>
            </a:r>
            <a:endParaRPr lang="en-US" sz="3300" dirty="0"/>
          </a:p>
        </p:txBody>
      </p:sp>
      <p:sp>
        <p:nvSpPr>
          <p:cNvPr id="6" name="Text 4"/>
          <p:cNvSpPr/>
          <p:nvPr/>
        </p:nvSpPr>
        <p:spPr>
          <a:xfrm>
            <a:off x="713232" y="1755648"/>
            <a:ext cx="7772400" cy="347472"/>
          </a:xfrm>
          <a:prstGeom prst="rect">
            <a:avLst/>
          </a:prstGeom>
          <a:noFill/>
          <a:ln/>
        </p:spPr>
        <p:txBody>
          <a:bodyPr wrap="square" lIns="0" tIns="0" rIns="0" bIns="0" rtlCol="0" anchor="ctr"/>
          <a:lstStyle/>
          <a:p>
            <a:pPr marL="0" indent="0">
              <a:buNone/>
            </a:pPr>
            <a:r>
              <a:rPr lang="en-US" sz="2000" b="1" dirty="0">
                <a:solidFill>
                  <a:srgbClr val="DCE7F2"/>
                </a:solidFill>
              </a:rPr>
              <a:t>Gestión de Mesa de Ayuda y control de activos TI en JUNJI</a:t>
            </a:r>
            <a:endParaRPr lang="en-US" sz="2000" dirty="0"/>
          </a:p>
        </p:txBody>
      </p:sp>
      <p:sp>
        <p:nvSpPr>
          <p:cNvPr id="7" name="Shape 5"/>
          <p:cNvSpPr/>
          <p:nvPr/>
        </p:nvSpPr>
        <p:spPr>
          <a:xfrm>
            <a:off x="713232" y="2331720"/>
            <a:ext cx="4937760" cy="0"/>
          </a:xfrm>
          <a:prstGeom prst="line">
            <a:avLst/>
          </a:prstGeom>
          <a:noFill/>
          <a:ln w="38100">
            <a:solidFill>
              <a:srgbClr val="0BBF72"/>
            </a:solidFill>
            <a:prstDash val="solid"/>
          </a:ln>
        </p:spPr>
        <p:txBody>
          <a:bodyPr/>
          <a:lstStyle/>
          <a:p>
            <a:endParaRPr lang="en-CL"/>
          </a:p>
        </p:txBody>
      </p:sp>
      <p:sp>
        <p:nvSpPr>
          <p:cNvPr id="8" name="Text 6"/>
          <p:cNvSpPr/>
          <p:nvPr/>
        </p:nvSpPr>
        <p:spPr>
          <a:xfrm>
            <a:off x="713232" y="2651760"/>
            <a:ext cx="4937760" cy="228600"/>
          </a:xfrm>
          <a:prstGeom prst="rect">
            <a:avLst/>
          </a:prstGeom>
          <a:noFill/>
          <a:ln/>
        </p:spPr>
        <p:txBody>
          <a:bodyPr wrap="square" lIns="0" tIns="0" rIns="0" bIns="0" rtlCol="0" anchor="ctr"/>
          <a:lstStyle/>
          <a:p>
            <a:pPr marL="0" indent="0">
              <a:buNone/>
            </a:pPr>
            <a:r>
              <a:rPr lang="en-US" sz="1300" dirty="0">
                <a:solidFill>
                  <a:srgbClr val="DCE7F2"/>
                </a:solidFill>
              </a:rPr>
              <a:t>Defensa oral de proyecto de software</a:t>
            </a:r>
            <a:endParaRPr lang="en-US" sz="1300" dirty="0"/>
          </a:p>
        </p:txBody>
      </p:sp>
      <p:sp>
        <p:nvSpPr>
          <p:cNvPr id="9" name="Text 7"/>
          <p:cNvSpPr/>
          <p:nvPr/>
        </p:nvSpPr>
        <p:spPr>
          <a:xfrm>
            <a:off x="713232" y="4069080"/>
            <a:ext cx="5760720" cy="1097280"/>
          </a:xfrm>
          <a:prstGeom prst="rect">
            <a:avLst/>
          </a:prstGeom>
          <a:noFill/>
          <a:ln/>
        </p:spPr>
        <p:txBody>
          <a:bodyPr wrap="square" rtlCol="0" anchor="ctr">
            <a:normAutofit/>
          </a:bodyPr>
          <a:lstStyle/>
          <a:p>
            <a:pPr marL="0" indent="0">
              <a:buNone/>
            </a:pPr>
            <a:r>
              <a:rPr lang="en-US" sz="1400" dirty="0">
                <a:solidFill>
                  <a:srgbClr val="FFFFFF"/>
                </a:solidFill>
              </a:rPr>
              <a:t>Andrés Vargas · Jonathan Garcés</a:t>
            </a:r>
            <a:endParaRPr lang="en-US" sz="1400" dirty="0"/>
          </a:p>
          <a:p>
            <a:pPr marL="0" indent="0">
              <a:buNone/>
            </a:pPr>
            <a:r>
              <a:rPr lang="en-US" sz="1400" dirty="0">
                <a:solidFill>
                  <a:srgbClr val="FFFFFF"/>
                </a:solidFill>
              </a:rPr>
              <a:t>Cliente: Junta Nacional de Jardines Infantiles (JUNJI)</a:t>
            </a:r>
            <a:endParaRPr lang="en-US" sz="1400" dirty="0"/>
          </a:p>
          <a:p>
            <a:pPr marL="0" indent="0">
              <a:buNone/>
            </a:pPr>
            <a:r>
              <a:rPr lang="en-US" sz="1400" dirty="0">
                <a:solidFill>
                  <a:srgbClr val="FFFFFF"/>
                </a:solidFill>
              </a:rPr>
              <a:t>Tecnologías: GLPI · PHP · Apache · MariaDB · GLPI Inventory · GitHub</a:t>
            </a:r>
            <a:endParaRPr lang="en-US" sz="1400" dirty="0"/>
          </a:p>
        </p:txBody>
      </p:sp>
      <p:sp>
        <p:nvSpPr>
          <p:cNvPr id="10" name="Shape 8"/>
          <p:cNvSpPr/>
          <p:nvPr/>
        </p:nvSpPr>
        <p:spPr>
          <a:xfrm>
            <a:off x="713232" y="5532120"/>
            <a:ext cx="1325880" cy="320040"/>
          </a:xfrm>
          <a:prstGeom prst="roundRect">
            <a:avLst>
              <a:gd name="adj" fmla="val 22857"/>
            </a:avLst>
          </a:prstGeom>
          <a:solidFill>
            <a:srgbClr val="0BBF72"/>
          </a:solidFill>
          <a:ln w="12700">
            <a:solidFill>
              <a:srgbClr val="0BBF72"/>
            </a:solidFill>
            <a:prstDash val="solid"/>
          </a:ln>
        </p:spPr>
        <p:txBody>
          <a:bodyPr/>
          <a:lstStyle/>
          <a:p>
            <a:endParaRPr lang="en-CL"/>
          </a:p>
        </p:txBody>
      </p:sp>
      <p:sp>
        <p:nvSpPr>
          <p:cNvPr id="11" name="Text 9"/>
          <p:cNvSpPr/>
          <p:nvPr/>
        </p:nvSpPr>
        <p:spPr>
          <a:xfrm>
            <a:off x="786384" y="5605272"/>
            <a:ext cx="1179576" cy="137160"/>
          </a:xfrm>
          <a:prstGeom prst="rect">
            <a:avLst/>
          </a:prstGeom>
          <a:noFill/>
          <a:ln/>
        </p:spPr>
        <p:txBody>
          <a:bodyPr wrap="square" lIns="0" tIns="0" rIns="0" bIns="0" rtlCol="0" anchor="ctr"/>
          <a:lstStyle/>
          <a:p>
            <a:pPr marL="0" indent="0" algn="ctr">
              <a:buNone/>
            </a:pPr>
            <a:r>
              <a:rPr lang="en-US" sz="850" b="1" dirty="0">
                <a:solidFill>
                  <a:srgbClr val="FFFFFF"/>
                </a:solidFill>
              </a:rPr>
              <a:t>MVP funcional</a:t>
            </a:r>
            <a:endParaRPr lang="en-US" sz="850" dirty="0"/>
          </a:p>
        </p:txBody>
      </p:sp>
      <p:sp>
        <p:nvSpPr>
          <p:cNvPr id="12" name="Shape 10"/>
          <p:cNvSpPr/>
          <p:nvPr/>
        </p:nvSpPr>
        <p:spPr>
          <a:xfrm>
            <a:off x="2240280" y="5532120"/>
            <a:ext cx="1645920" cy="320040"/>
          </a:xfrm>
          <a:prstGeom prst="roundRect">
            <a:avLst>
              <a:gd name="adj" fmla="val 22857"/>
            </a:avLst>
          </a:prstGeom>
          <a:solidFill>
            <a:srgbClr val="1F5B99"/>
          </a:solidFill>
          <a:ln w="12700">
            <a:solidFill>
              <a:srgbClr val="1F5B99"/>
            </a:solidFill>
            <a:prstDash val="solid"/>
          </a:ln>
        </p:spPr>
        <p:txBody>
          <a:bodyPr/>
          <a:lstStyle/>
          <a:p>
            <a:endParaRPr lang="en-CL"/>
          </a:p>
        </p:txBody>
      </p:sp>
      <p:sp>
        <p:nvSpPr>
          <p:cNvPr id="13" name="Text 11"/>
          <p:cNvSpPr/>
          <p:nvPr/>
        </p:nvSpPr>
        <p:spPr>
          <a:xfrm>
            <a:off x="2313432" y="5605272"/>
            <a:ext cx="1499616" cy="137160"/>
          </a:xfrm>
          <a:prstGeom prst="rect">
            <a:avLst/>
          </a:prstGeom>
          <a:noFill/>
          <a:ln/>
        </p:spPr>
        <p:txBody>
          <a:bodyPr wrap="square" lIns="0" tIns="0" rIns="0" bIns="0" rtlCol="0" anchor="ctr"/>
          <a:lstStyle/>
          <a:p>
            <a:pPr marL="0" indent="0" algn="ctr">
              <a:buNone/>
            </a:pPr>
            <a:r>
              <a:rPr lang="en-US" sz="850" b="1" dirty="0">
                <a:solidFill>
                  <a:srgbClr val="FFFFFF"/>
                </a:solidFill>
              </a:rPr>
              <a:t>ITSM + Activos TI</a:t>
            </a:r>
            <a:endParaRPr lang="en-US" sz="850" dirty="0"/>
          </a:p>
        </p:txBody>
      </p:sp>
      <p:sp>
        <p:nvSpPr>
          <p:cNvPr id="14" name="Shape 12"/>
          <p:cNvSpPr/>
          <p:nvPr/>
        </p:nvSpPr>
        <p:spPr>
          <a:xfrm>
            <a:off x="4096512" y="5532120"/>
            <a:ext cx="1234440" cy="320040"/>
          </a:xfrm>
          <a:prstGeom prst="roundRect">
            <a:avLst>
              <a:gd name="adj" fmla="val 22857"/>
            </a:avLst>
          </a:prstGeom>
          <a:solidFill>
            <a:srgbClr val="2EA7D6"/>
          </a:solidFill>
          <a:ln w="12700">
            <a:solidFill>
              <a:srgbClr val="2EA7D6"/>
            </a:solidFill>
            <a:prstDash val="solid"/>
          </a:ln>
        </p:spPr>
        <p:txBody>
          <a:bodyPr/>
          <a:lstStyle/>
          <a:p>
            <a:endParaRPr lang="en-CL"/>
          </a:p>
        </p:txBody>
      </p:sp>
      <p:sp>
        <p:nvSpPr>
          <p:cNvPr id="15" name="Text 13"/>
          <p:cNvSpPr/>
          <p:nvPr/>
        </p:nvSpPr>
        <p:spPr>
          <a:xfrm>
            <a:off x="4169664" y="5605272"/>
            <a:ext cx="1088136" cy="137160"/>
          </a:xfrm>
          <a:prstGeom prst="rect">
            <a:avLst/>
          </a:prstGeom>
          <a:noFill/>
          <a:ln/>
        </p:spPr>
        <p:txBody>
          <a:bodyPr wrap="square" lIns="0" tIns="0" rIns="0" bIns="0" rtlCol="0" anchor="ctr"/>
          <a:lstStyle/>
          <a:p>
            <a:pPr marL="0" indent="0" algn="ctr">
              <a:buNone/>
            </a:pPr>
            <a:r>
              <a:rPr lang="en-US" sz="850" b="1" dirty="0">
                <a:solidFill>
                  <a:srgbClr val="FFFFFF"/>
                </a:solidFill>
              </a:rPr>
              <a:t>Open Source</a:t>
            </a:r>
            <a:endParaRPr lang="en-US" sz="850" dirty="0"/>
          </a:p>
        </p:txBody>
      </p:sp>
      <p:sp>
        <p:nvSpPr>
          <p:cNvPr id="16" name="Text 14"/>
          <p:cNvSpPr/>
          <p:nvPr/>
        </p:nvSpPr>
        <p:spPr>
          <a:xfrm>
            <a:off x="502920" y="6611112"/>
            <a:ext cx="6583680" cy="146304"/>
          </a:xfrm>
          <a:prstGeom prst="rect">
            <a:avLst/>
          </a:prstGeom>
          <a:noFill/>
          <a:ln/>
        </p:spPr>
        <p:txBody>
          <a:bodyPr wrap="square" lIns="0" tIns="0" rIns="0" bIns="0" rtlCol="0" anchor="ctr"/>
          <a:lstStyle/>
          <a:p>
            <a:pPr marL="0" indent="0">
              <a:buNone/>
            </a:pPr>
            <a:r>
              <a:rPr lang="en-US" sz="750" dirty="0">
                <a:solidFill>
                  <a:srgbClr val="DCE7F2"/>
                </a:solidFill>
              </a:rPr>
              <a:t>TIP-INF-401 | Ingeniería en Informática | IPSS 2026</a:t>
            </a:r>
            <a:endParaRPr lang="en-US" sz="750" dirty="0"/>
          </a:p>
        </p:txBody>
      </p:sp>
      <p:sp>
        <p:nvSpPr>
          <p:cNvPr id="17" name="Text 15"/>
          <p:cNvSpPr/>
          <p:nvPr/>
        </p:nvSpPr>
        <p:spPr>
          <a:xfrm>
            <a:off x="11064240" y="6611112"/>
            <a:ext cx="640080" cy="146304"/>
          </a:xfrm>
          <a:prstGeom prst="rect">
            <a:avLst/>
          </a:prstGeom>
          <a:noFill/>
          <a:ln/>
        </p:spPr>
        <p:txBody>
          <a:bodyPr wrap="square" lIns="0" tIns="0" rIns="0" bIns="0" rtlCol="0" anchor="ctr"/>
          <a:lstStyle/>
          <a:p>
            <a:pPr marL="0" indent="0" algn="r">
              <a:buNone/>
            </a:pPr>
            <a:r>
              <a:rPr lang="en-US" sz="750" dirty="0">
                <a:solidFill>
                  <a:srgbClr val="DCE7F2"/>
                </a:solidFill>
              </a:rPr>
              <a:t>1/18</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BBF72"/>
          </a:solidFill>
          <a:ln w="12700">
            <a:solidFill>
              <a:srgbClr val="0BBF72"/>
            </a:solidFill>
            <a:prstDash val="solid"/>
          </a:ln>
        </p:spPr>
        <p:txBody>
          <a:bodyPr/>
          <a:lstStyle/>
          <a:p>
            <a:endParaRPr lang="en-CL"/>
          </a:p>
        </p:txBody>
      </p:sp>
      <p:sp>
        <p:nvSpPr>
          <p:cNvPr id="3" name="Shape 1"/>
          <p:cNvSpPr/>
          <p:nvPr/>
        </p:nvSpPr>
        <p:spPr>
          <a:xfrm>
            <a:off x="0" y="6565392"/>
            <a:ext cx="12191695" cy="292608"/>
          </a:xfrm>
          <a:prstGeom prst="rect">
            <a:avLst/>
          </a:prstGeom>
          <a:solidFill>
            <a:srgbClr val="0F2742"/>
          </a:solidFill>
          <a:ln w="12700">
            <a:solidFill>
              <a:srgbClr val="0F2742"/>
            </a:solidFill>
            <a:prstDash val="solid"/>
          </a:ln>
        </p:spPr>
        <p:txBody>
          <a:bodyPr/>
          <a:lstStyle/>
          <a:p>
            <a:endParaRPr lang="en-CL"/>
          </a:p>
        </p:txBody>
      </p:sp>
      <p:sp>
        <p:nvSpPr>
          <p:cNvPr id="4" name="Text 2"/>
          <p:cNvSpPr/>
          <p:nvPr/>
        </p:nvSpPr>
        <p:spPr>
          <a:xfrm>
            <a:off x="502920" y="347472"/>
            <a:ext cx="10515600" cy="384048"/>
          </a:xfrm>
          <a:prstGeom prst="rect">
            <a:avLst/>
          </a:prstGeom>
          <a:noFill/>
          <a:ln/>
        </p:spPr>
        <p:txBody>
          <a:bodyPr wrap="square" lIns="0" tIns="0" rIns="0" bIns="0" rtlCol="0" anchor="ctr"/>
          <a:lstStyle/>
          <a:p>
            <a:pPr marL="0" indent="0">
              <a:buNone/>
            </a:pPr>
            <a:r>
              <a:rPr lang="en-US" sz="2600" b="1" dirty="0">
                <a:solidFill>
                  <a:srgbClr val="0F2742"/>
                </a:solidFill>
                <a:latin typeface="Arial" pitchFamily="34" charset="0"/>
                <a:ea typeface="Arial" pitchFamily="34" charset="-122"/>
                <a:cs typeface="Arial" pitchFamily="34" charset="-120"/>
              </a:rPr>
              <a:t>Del correo a una plataforma trazable</a:t>
            </a:r>
            <a:endParaRPr lang="en-US" sz="2600" dirty="0"/>
          </a:p>
        </p:txBody>
      </p:sp>
      <p:sp>
        <p:nvSpPr>
          <p:cNvPr id="5" name="Text 3"/>
          <p:cNvSpPr/>
          <p:nvPr/>
        </p:nvSpPr>
        <p:spPr>
          <a:xfrm>
            <a:off x="521208" y="768096"/>
            <a:ext cx="10607040" cy="219456"/>
          </a:xfrm>
          <a:prstGeom prst="rect">
            <a:avLst/>
          </a:prstGeom>
          <a:noFill/>
          <a:ln/>
        </p:spPr>
        <p:txBody>
          <a:bodyPr wrap="square" lIns="0" tIns="0" rIns="0" bIns="0" rtlCol="0" anchor="ctr"/>
          <a:lstStyle/>
          <a:p>
            <a:pPr marL="0" indent="0">
              <a:buNone/>
            </a:pPr>
            <a:r>
              <a:rPr lang="en-US" sz="1050" dirty="0">
                <a:solidFill>
                  <a:srgbClr val="657182"/>
                </a:solidFill>
              </a:rPr>
              <a:t>La propuesta transforma un flujo disperso en un sistema centralizado de soporte e inventario.</a:t>
            </a:r>
            <a:endParaRPr lang="en-US" sz="1050" dirty="0"/>
          </a:p>
        </p:txBody>
      </p:sp>
      <p:sp>
        <p:nvSpPr>
          <p:cNvPr id="6" name="Text 4"/>
          <p:cNvSpPr/>
          <p:nvPr/>
        </p:nvSpPr>
        <p:spPr>
          <a:xfrm>
            <a:off x="502920" y="6611112"/>
            <a:ext cx="6583680" cy="146304"/>
          </a:xfrm>
          <a:prstGeom prst="rect">
            <a:avLst/>
          </a:prstGeom>
          <a:noFill/>
          <a:ln/>
        </p:spPr>
        <p:txBody>
          <a:bodyPr wrap="square" lIns="0" tIns="0" rIns="0" bIns="0" rtlCol="0" anchor="ctr"/>
          <a:lstStyle/>
          <a:p>
            <a:pPr marL="0" indent="0">
              <a:buNone/>
            </a:pPr>
            <a:r>
              <a:rPr lang="en-US" sz="750" dirty="0">
                <a:solidFill>
                  <a:srgbClr val="DCE7F2"/>
                </a:solidFill>
              </a:rPr>
              <a:t>TIP-INF-401 | Ingeniería en Informática | IPSS 2026</a:t>
            </a:r>
            <a:endParaRPr lang="en-US" sz="750" dirty="0"/>
          </a:p>
        </p:txBody>
      </p:sp>
      <p:sp>
        <p:nvSpPr>
          <p:cNvPr id="7" name="Text 5"/>
          <p:cNvSpPr/>
          <p:nvPr/>
        </p:nvSpPr>
        <p:spPr>
          <a:xfrm>
            <a:off x="11064240" y="6611112"/>
            <a:ext cx="640080" cy="146304"/>
          </a:xfrm>
          <a:prstGeom prst="rect">
            <a:avLst/>
          </a:prstGeom>
          <a:noFill/>
          <a:ln/>
        </p:spPr>
        <p:txBody>
          <a:bodyPr wrap="square" lIns="0" tIns="0" rIns="0" bIns="0" rtlCol="0" anchor="ctr"/>
          <a:lstStyle/>
          <a:p>
            <a:pPr marL="0" indent="0" algn="r">
              <a:buNone/>
            </a:pPr>
            <a:r>
              <a:rPr lang="en-US" sz="750" dirty="0">
                <a:solidFill>
                  <a:srgbClr val="DCE7F2"/>
                </a:solidFill>
              </a:rPr>
              <a:t>2/18</a:t>
            </a:r>
            <a:endParaRPr lang="en-US" sz="750" dirty="0"/>
          </a:p>
        </p:txBody>
      </p:sp>
      <p:sp>
        <p:nvSpPr>
          <p:cNvPr id="8" name="Shape 6"/>
          <p:cNvSpPr/>
          <p:nvPr/>
        </p:nvSpPr>
        <p:spPr>
          <a:xfrm>
            <a:off x="640080" y="1417320"/>
            <a:ext cx="3108960" cy="3566160"/>
          </a:xfrm>
          <a:prstGeom prst="roundRect">
            <a:avLst>
              <a:gd name="adj" fmla="val 2941"/>
            </a:avLst>
          </a:prstGeom>
          <a:solidFill>
            <a:srgbClr val="FDECEC"/>
          </a:solidFill>
          <a:ln w="12700">
            <a:solidFill>
              <a:srgbClr val="F1C6C6"/>
            </a:solidFill>
            <a:prstDash val="solid"/>
          </a:ln>
        </p:spPr>
        <p:txBody>
          <a:bodyPr/>
          <a:lstStyle/>
          <a:p>
            <a:endParaRPr lang="en-CL"/>
          </a:p>
        </p:txBody>
      </p:sp>
      <p:sp>
        <p:nvSpPr>
          <p:cNvPr id="9" name="Text 7"/>
          <p:cNvSpPr/>
          <p:nvPr/>
        </p:nvSpPr>
        <p:spPr>
          <a:xfrm>
            <a:off x="868680" y="1645920"/>
            <a:ext cx="2468880" cy="274320"/>
          </a:xfrm>
          <a:prstGeom prst="rect">
            <a:avLst/>
          </a:prstGeom>
          <a:noFill/>
          <a:ln/>
        </p:spPr>
        <p:txBody>
          <a:bodyPr wrap="square" lIns="0" tIns="0" rIns="0" bIns="0" rtlCol="0" anchor="ctr"/>
          <a:lstStyle/>
          <a:p>
            <a:pPr marL="0" indent="0" algn="ctr">
              <a:buNone/>
            </a:pPr>
            <a:r>
              <a:rPr lang="en-US" sz="2200" b="1" dirty="0">
                <a:solidFill>
                  <a:srgbClr val="D64545"/>
                </a:solidFill>
              </a:rPr>
              <a:t>Antes</a:t>
            </a:r>
            <a:endParaRPr lang="en-US" sz="2200" dirty="0"/>
          </a:p>
        </p:txBody>
      </p:sp>
      <p:sp>
        <p:nvSpPr>
          <p:cNvPr id="10" name="Text 8"/>
          <p:cNvSpPr/>
          <p:nvPr/>
        </p:nvSpPr>
        <p:spPr>
          <a:xfrm>
            <a:off x="914400" y="2148840"/>
            <a:ext cx="2377440" cy="2103120"/>
          </a:xfrm>
          <a:prstGeom prst="rect">
            <a:avLst/>
          </a:prstGeom>
          <a:noFill/>
          <a:ln/>
        </p:spPr>
        <p:txBody>
          <a:bodyPr wrap="square" lIns="635" tIns="635" rIns="635" bIns="635" rtlCol="0" anchor="ctr">
            <a:normAutofit/>
          </a:bodyPr>
          <a:lstStyle/>
          <a:p>
            <a:r>
              <a:rPr lang="en-US" sz="1300" dirty="0">
                <a:solidFill>
                  <a:srgbClr val="1B1F23"/>
                </a:solidFill>
              </a:rPr>
              <a:t>Tickets nacen desde correos</a:t>
            </a:r>
            <a:endParaRPr lang="en-US" sz="1300" dirty="0"/>
          </a:p>
          <a:p>
            <a:r>
              <a:rPr lang="en-US" sz="1300" dirty="0">
                <a:solidFill>
                  <a:srgbClr val="1B1F23"/>
                </a:solidFill>
              </a:rPr>
              <a:t>Campos poco estandarizados</a:t>
            </a:r>
            <a:endParaRPr lang="en-US" sz="1300" dirty="0"/>
          </a:p>
          <a:p>
            <a:r>
              <a:rPr lang="en-US" sz="1300" dirty="0">
                <a:solidFill>
                  <a:srgbClr val="1B1F23"/>
                </a:solidFill>
              </a:rPr>
              <a:t>Reportes manuales</a:t>
            </a:r>
            <a:endParaRPr lang="en-US" sz="1300" dirty="0"/>
          </a:p>
          <a:p>
            <a:r>
              <a:rPr lang="en-US" sz="1300" dirty="0">
                <a:solidFill>
                  <a:srgbClr val="1B1F23"/>
                </a:solidFill>
              </a:rPr>
              <a:t>Activos TI sin trazabilidad integral</a:t>
            </a:r>
            <a:endParaRPr lang="en-US" sz="1300" dirty="0"/>
          </a:p>
        </p:txBody>
      </p:sp>
      <p:sp>
        <p:nvSpPr>
          <p:cNvPr id="11" name="Text 9"/>
          <p:cNvSpPr/>
          <p:nvPr/>
        </p:nvSpPr>
        <p:spPr>
          <a:xfrm>
            <a:off x="4160520" y="2788920"/>
            <a:ext cx="548640" cy="548640"/>
          </a:xfrm>
          <a:prstGeom prst="rect">
            <a:avLst/>
          </a:prstGeom>
          <a:noFill/>
          <a:ln/>
        </p:spPr>
        <p:txBody>
          <a:bodyPr wrap="square" lIns="0" tIns="0" rIns="0" bIns="0" rtlCol="0" anchor="ctr"/>
          <a:lstStyle/>
          <a:p>
            <a:pPr marL="0" indent="0" algn="ctr">
              <a:buNone/>
            </a:pPr>
            <a:r>
              <a:rPr lang="en-US" sz="3400" b="1" dirty="0">
                <a:solidFill>
                  <a:srgbClr val="657182"/>
                </a:solidFill>
              </a:rPr>
              <a:t>→</a:t>
            </a:r>
            <a:endParaRPr lang="en-US" sz="3400" dirty="0"/>
          </a:p>
        </p:txBody>
      </p:sp>
      <p:sp>
        <p:nvSpPr>
          <p:cNvPr id="12" name="Shape 10"/>
          <p:cNvSpPr/>
          <p:nvPr/>
        </p:nvSpPr>
        <p:spPr>
          <a:xfrm>
            <a:off x="4937760" y="1188720"/>
            <a:ext cx="3108960" cy="4023360"/>
          </a:xfrm>
          <a:prstGeom prst="roundRect">
            <a:avLst>
              <a:gd name="adj" fmla="val 2941"/>
            </a:avLst>
          </a:prstGeom>
          <a:solidFill>
            <a:srgbClr val="E6F7EF"/>
          </a:solidFill>
          <a:ln w="12700">
            <a:solidFill>
              <a:srgbClr val="B8E6D0"/>
            </a:solidFill>
            <a:prstDash val="solid"/>
          </a:ln>
        </p:spPr>
        <p:txBody>
          <a:bodyPr/>
          <a:lstStyle/>
          <a:p>
            <a:endParaRPr lang="en-CL"/>
          </a:p>
        </p:txBody>
      </p:sp>
      <p:sp>
        <p:nvSpPr>
          <p:cNvPr id="13" name="Text 11"/>
          <p:cNvSpPr/>
          <p:nvPr/>
        </p:nvSpPr>
        <p:spPr>
          <a:xfrm>
            <a:off x="5166360" y="1481328"/>
            <a:ext cx="2651760" cy="274320"/>
          </a:xfrm>
          <a:prstGeom prst="rect">
            <a:avLst/>
          </a:prstGeom>
          <a:noFill/>
          <a:ln/>
        </p:spPr>
        <p:txBody>
          <a:bodyPr wrap="square" lIns="0" tIns="0" rIns="0" bIns="0" rtlCol="0" anchor="ctr"/>
          <a:lstStyle/>
          <a:p>
            <a:pPr marL="0" indent="0" algn="ctr">
              <a:buNone/>
            </a:pPr>
            <a:r>
              <a:rPr lang="en-US" sz="2200" b="1" dirty="0">
                <a:solidFill>
                  <a:srgbClr val="0BBF72"/>
                </a:solidFill>
              </a:rPr>
              <a:t>Solución</a:t>
            </a:r>
            <a:endParaRPr lang="en-US" sz="2200" dirty="0"/>
          </a:p>
        </p:txBody>
      </p:sp>
      <p:sp>
        <p:nvSpPr>
          <p:cNvPr id="14" name="Text 12"/>
          <p:cNvSpPr/>
          <p:nvPr/>
        </p:nvSpPr>
        <p:spPr>
          <a:xfrm>
            <a:off x="5257800" y="2011680"/>
            <a:ext cx="2377440" cy="2194560"/>
          </a:xfrm>
          <a:prstGeom prst="rect">
            <a:avLst/>
          </a:prstGeom>
          <a:noFill/>
          <a:ln/>
        </p:spPr>
        <p:txBody>
          <a:bodyPr wrap="square" lIns="635" tIns="635" rIns="635" bIns="635" rtlCol="0" anchor="ctr">
            <a:normAutofit/>
          </a:bodyPr>
          <a:lstStyle/>
          <a:p>
            <a:r>
              <a:rPr lang="en-US" sz="1300" dirty="0">
                <a:solidFill>
                  <a:srgbClr val="1B1F23"/>
                </a:solidFill>
              </a:rPr>
              <a:t>GLPI como plataforma central</a:t>
            </a:r>
            <a:endParaRPr lang="en-US" sz="1300" dirty="0"/>
          </a:p>
          <a:p>
            <a:r>
              <a:rPr lang="en-US" sz="1300" dirty="0">
                <a:solidFill>
                  <a:srgbClr val="1B1F23"/>
                </a:solidFill>
              </a:rPr>
              <a:t>Formulario + ciclo de vida</a:t>
            </a:r>
            <a:endParaRPr lang="en-US" sz="1300" dirty="0"/>
          </a:p>
          <a:p>
            <a:r>
              <a:rPr lang="en-US" sz="1300" dirty="0">
                <a:solidFill>
                  <a:srgbClr val="1B1F23"/>
                </a:solidFill>
              </a:rPr>
              <a:t>Inventario de activos TI</a:t>
            </a:r>
            <a:endParaRPr lang="en-US" sz="1300" dirty="0"/>
          </a:p>
          <a:p>
            <a:r>
              <a:rPr lang="en-US" sz="1300" dirty="0">
                <a:solidFill>
                  <a:srgbClr val="1B1F23"/>
                </a:solidFill>
              </a:rPr>
              <a:t>Dashboards y reportes operativos</a:t>
            </a:r>
            <a:endParaRPr lang="en-US" sz="1300" dirty="0"/>
          </a:p>
        </p:txBody>
      </p:sp>
      <p:sp>
        <p:nvSpPr>
          <p:cNvPr id="15" name="Shape 13"/>
          <p:cNvSpPr/>
          <p:nvPr/>
        </p:nvSpPr>
        <p:spPr>
          <a:xfrm>
            <a:off x="8458200" y="1417320"/>
            <a:ext cx="3017520" cy="3566160"/>
          </a:xfrm>
          <a:prstGeom prst="roundRect">
            <a:avLst>
              <a:gd name="adj" fmla="val 3030"/>
            </a:avLst>
          </a:prstGeom>
          <a:solidFill>
            <a:srgbClr val="E7F2FB"/>
          </a:solidFill>
          <a:ln w="12700">
            <a:solidFill>
              <a:srgbClr val="C7DDF0"/>
            </a:solidFill>
            <a:prstDash val="solid"/>
          </a:ln>
        </p:spPr>
        <p:txBody>
          <a:bodyPr/>
          <a:lstStyle/>
          <a:p>
            <a:endParaRPr lang="en-CL"/>
          </a:p>
        </p:txBody>
      </p:sp>
      <p:sp>
        <p:nvSpPr>
          <p:cNvPr id="16" name="Text 14"/>
          <p:cNvSpPr/>
          <p:nvPr/>
        </p:nvSpPr>
        <p:spPr>
          <a:xfrm>
            <a:off x="8686800" y="1645920"/>
            <a:ext cx="2560320" cy="274320"/>
          </a:xfrm>
          <a:prstGeom prst="rect">
            <a:avLst/>
          </a:prstGeom>
          <a:noFill/>
          <a:ln/>
        </p:spPr>
        <p:txBody>
          <a:bodyPr wrap="square" lIns="0" tIns="0" rIns="0" bIns="0" rtlCol="0" anchor="ctr"/>
          <a:lstStyle/>
          <a:p>
            <a:pPr marL="0" indent="0" algn="ctr">
              <a:buNone/>
            </a:pPr>
            <a:r>
              <a:rPr lang="en-US" sz="2200" b="1" dirty="0">
                <a:solidFill>
                  <a:srgbClr val="1F5B99"/>
                </a:solidFill>
              </a:rPr>
              <a:t>Impacto</a:t>
            </a:r>
            <a:endParaRPr lang="en-US" sz="2200" dirty="0"/>
          </a:p>
        </p:txBody>
      </p:sp>
      <p:sp>
        <p:nvSpPr>
          <p:cNvPr id="17" name="Text 15"/>
          <p:cNvSpPr/>
          <p:nvPr/>
        </p:nvSpPr>
        <p:spPr>
          <a:xfrm>
            <a:off x="8915400" y="2148840"/>
            <a:ext cx="2148840" cy="2103120"/>
          </a:xfrm>
          <a:prstGeom prst="rect">
            <a:avLst/>
          </a:prstGeom>
          <a:noFill/>
          <a:ln/>
        </p:spPr>
        <p:txBody>
          <a:bodyPr wrap="square" lIns="635" tIns="635" rIns="635" bIns="635" rtlCol="0" anchor="ctr">
            <a:normAutofit/>
          </a:bodyPr>
          <a:lstStyle/>
          <a:p>
            <a:r>
              <a:rPr lang="en-US" sz="1300" dirty="0">
                <a:solidFill>
                  <a:srgbClr val="1B1F23"/>
                </a:solidFill>
              </a:rPr>
              <a:t>Mayor trazabilidad</a:t>
            </a:r>
            <a:endParaRPr lang="en-US" sz="1300" dirty="0"/>
          </a:p>
          <a:p>
            <a:r>
              <a:rPr lang="en-US" sz="1300" dirty="0">
                <a:solidFill>
                  <a:srgbClr val="1B1F23"/>
                </a:solidFill>
              </a:rPr>
              <a:t>Menos dispersión de información</a:t>
            </a:r>
            <a:endParaRPr lang="en-US" sz="1300" dirty="0"/>
          </a:p>
          <a:p>
            <a:r>
              <a:rPr lang="en-US" sz="1300" dirty="0">
                <a:solidFill>
                  <a:srgbClr val="1B1F23"/>
                </a:solidFill>
              </a:rPr>
              <a:t>Mejor control de activos</a:t>
            </a:r>
            <a:endParaRPr lang="en-US" sz="1300" dirty="0"/>
          </a:p>
          <a:p>
            <a:r>
              <a:rPr lang="en-US" sz="1300" dirty="0">
                <a:solidFill>
                  <a:srgbClr val="1B1F23"/>
                </a:solidFill>
              </a:rPr>
              <a:t>Base para decisiones de gestión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BBF72"/>
          </a:solidFill>
          <a:ln w="12700">
            <a:solidFill>
              <a:srgbClr val="0BBF72"/>
            </a:solidFill>
            <a:prstDash val="solid"/>
          </a:ln>
        </p:spPr>
        <p:txBody>
          <a:bodyPr/>
          <a:lstStyle/>
          <a:p>
            <a:endParaRPr lang="en-CL"/>
          </a:p>
        </p:txBody>
      </p:sp>
      <p:sp>
        <p:nvSpPr>
          <p:cNvPr id="3" name="Shape 1"/>
          <p:cNvSpPr/>
          <p:nvPr/>
        </p:nvSpPr>
        <p:spPr>
          <a:xfrm>
            <a:off x="0" y="6565392"/>
            <a:ext cx="12191695" cy="292608"/>
          </a:xfrm>
          <a:prstGeom prst="rect">
            <a:avLst/>
          </a:prstGeom>
          <a:solidFill>
            <a:srgbClr val="0F2742"/>
          </a:solidFill>
          <a:ln w="12700">
            <a:solidFill>
              <a:srgbClr val="0F2742"/>
            </a:solidFill>
            <a:prstDash val="solid"/>
          </a:ln>
        </p:spPr>
        <p:txBody>
          <a:bodyPr/>
          <a:lstStyle/>
          <a:p>
            <a:endParaRPr lang="en-CL"/>
          </a:p>
        </p:txBody>
      </p:sp>
      <p:sp>
        <p:nvSpPr>
          <p:cNvPr id="4" name="Text 2"/>
          <p:cNvSpPr/>
          <p:nvPr/>
        </p:nvSpPr>
        <p:spPr>
          <a:xfrm>
            <a:off x="502920" y="347472"/>
            <a:ext cx="10515600" cy="384048"/>
          </a:xfrm>
          <a:prstGeom prst="rect">
            <a:avLst/>
          </a:prstGeom>
          <a:noFill/>
          <a:ln/>
        </p:spPr>
        <p:txBody>
          <a:bodyPr wrap="square" lIns="0" tIns="0" rIns="0" bIns="0" rtlCol="0" anchor="ctr"/>
          <a:lstStyle/>
          <a:p>
            <a:pPr marL="0" indent="0">
              <a:buNone/>
            </a:pPr>
            <a:r>
              <a:rPr lang="en-US" sz="2600" b="1" dirty="0">
                <a:solidFill>
                  <a:srgbClr val="0F2742"/>
                </a:solidFill>
                <a:latin typeface="Arial" pitchFamily="34" charset="0"/>
                <a:ea typeface="Arial" pitchFamily="34" charset="-122"/>
                <a:cs typeface="Arial" pitchFamily="34" charset="-120"/>
              </a:rPr>
              <a:t>Contexto organizacional: JUNJI</a:t>
            </a:r>
            <a:endParaRPr lang="en-US" sz="2600" dirty="0"/>
          </a:p>
        </p:txBody>
      </p:sp>
      <p:sp>
        <p:nvSpPr>
          <p:cNvPr id="5" name="Text 3"/>
          <p:cNvSpPr/>
          <p:nvPr/>
        </p:nvSpPr>
        <p:spPr>
          <a:xfrm>
            <a:off x="521208" y="768096"/>
            <a:ext cx="10607040" cy="219456"/>
          </a:xfrm>
          <a:prstGeom prst="rect">
            <a:avLst/>
          </a:prstGeom>
          <a:noFill/>
          <a:ln/>
        </p:spPr>
        <p:txBody>
          <a:bodyPr wrap="square" lIns="0" tIns="0" rIns="0" bIns="0" rtlCol="0" anchor="ctr"/>
          <a:lstStyle/>
          <a:p>
            <a:pPr marL="0" indent="0">
              <a:buNone/>
            </a:pPr>
            <a:r>
              <a:rPr lang="en-US" sz="1050" dirty="0">
                <a:solidFill>
                  <a:srgbClr val="657182"/>
                </a:solidFill>
              </a:rPr>
              <a:t>Organización pública, cobertura nacional y alta dependencia de soporte tecnológico.</a:t>
            </a:r>
            <a:endParaRPr lang="en-US" sz="1050" dirty="0"/>
          </a:p>
        </p:txBody>
      </p:sp>
      <p:sp>
        <p:nvSpPr>
          <p:cNvPr id="6" name="Text 4"/>
          <p:cNvSpPr/>
          <p:nvPr/>
        </p:nvSpPr>
        <p:spPr>
          <a:xfrm>
            <a:off x="502920" y="6611112"/>
            <a:ext cx="6583680" cy="146304"/>
          </a:xfrm>
          <a:prstGeom prst="rect">
            <a:avLst/>
          </a:prstGeom>
          <a:noFill/>
          <a:ln/>
        </p:spPr>
        <p:txBody>
          <a:bodyPr wrap="square" lIns="0" tIns="0" rIns="0" bIns="0" rtlCol="0" anchor="ctr"/>
          <a:lstStyle/>
          <a:p>
            <a:pPr marL="0" indent="0">
              <a:buNone/>
            </a:pPr>
            <a:r>
              <a:rPr lang="en-US" sz="750" dirty="0">
                <a:solidFill>
                  <a:srgbClr val="DCE7F2"/>
                </a:solidFill>
              </a:rPr>
              <a:t>TIP-INF-401 | Ingeniería en Informática | IPSS 2026</a:t>
            </a:r>
            <a:endParaRPr lang="en-US" sz="750" dirty="0"/>
          </a:p>
        </p:txBody>
      </p:sp>
      <p:sp>
        <p:nvSpPr>
          <p:cNvPr id="7" name="Text 5"/>
          <p:cNvSpPr/>
          <p:nvPr/>
        </p:nvSpPr>
        <p:spPr>
          <a:xfrm>
            <a:off x="11064240" y="6611112"/>
            <a:ext cx="640080" cy="146304"/>
          </a:xfrm>
          <a:prstGeom prst="rect">
            <a:avLst/>
          </a:prstGeom>
          <a:noFill/>
          <a:ln/>
        </p:spPr>
        <p:txBody>
          <a:bodyPr wrap="square" lIns="0" tIns="0" rIns="0" bIns="0" rtlCol="0" anchor="ctr"/>
          <a:lstStyle/>
          <a:p>
            <a:pPr marL="0" indent="0" algn="r">
              <a:buNone/>
            </a:pPr>
            <a:r>
              <a:rPr lang="en-US" sz="750" dirty="0">
                <a:solidFill>
                  <a:srgbClr val="DCE7F2"/>
                </a:solidFill>
              </a:rPr>
              <a:t>3/18</a:t>
            </a:r>
            <a:endParaRPr lang="en-US" sz="750" dirty="0"/>
          </a:p>
        </p:txBody>
      </p:sp>
      <p:sp>
        <p:nvSpPr>
          <p:cNvPr id="8" name="Shape 6"/>
          <p:cNvSpPr/>
          <p:nvPr/>
        </p:nvSpPr>
        <p:spPr>
          <a:xfrm>
            <a:off x="685800" y="1234440"/>
            <a:ext cx="2743200" cy="1371600"/>
          </a:xfrm>
          <a:prstGeom prst="roundRect">
            <a:avLst>
              <a:gd name="adj" fmla="val 5333"/>
            </a:avLst>
          </a:prstGeom>
          <a:solidFill>
            <a:srgbClr val="FFFFFF"/>
          </a:solidFill>
          <a:ln w="12700">
            <a:solidFill>
              <a:srgbClr val="CAD6E0"/>
            </a:solidFill>
            <a:prstDash val="solid"/>
          </a:ln>
        </p:spPr>
        <p:txBody>
          <a:bodyPr/>
          <a:lstStyle/>
          <a:p>
            <a:endParaRPr lang="en-CL"/>
          </a:p>
        </p:txBody>
      </p:sp>
      <p:sp>
        <p:nvSpPr>
          <p:cNvPr id="9" name="Shape 7"/>
          <p:cNvSpPr/>
          <p:nvPr/>
        </p:nvSpPr>
        <p:spPr>
          <a:xfrm>
            <a:off x="685800" y="1234440"/>
            <a:ext cx="73152" cy="1371600"/>
          </a:xfrm>
          <a:prstGeom prst="rect">
            <a:avLst/>
          </a:prstGeom>
          <a:solidFill>
            <a:srgbClr val="1F5B99"/>
          </a:solidFill>
          <a:ln w="12700">
            <a:solidFill>
              <a:srgbClr val="1F5B99"/>
            </a:solidFill>
            <a:prstDash val="solid"/>
          </a:ln>
        </p:spPr>
        <p:txBody>
          <a:bodyPr/>
          <a:lstStyle/>
          <a:p>
            <a:endParaRPr lang="en-CL"/>
          </a:p>
        </p:txBody>
      </p:sp>
      <p:sp>
        <p:nvSpPr>
          <p:cNvPr id="10" name="Text 8"/>
          <p:cNvSpPr/>
          <p:nvPr/>
        </p:nvSpPr>
        <p:spPr>
          <a:xfrm>
            <a:off x="886968" y="1380744"/>
            <a:ext cx="2432304" cy="228600"/>
          </a:xfrm>
          <a:prstGeom prst="rect">
            <a:avLst/>
          </a:prstGeom>
          <a:noFill/>
          <a:ln/>
        </p:spPr>
        <p:txBody>
          <a:bodyPr wrap="square" lIns="0" tIns="0" rIns="0" bIns="0" rtlCol="0" anchor="ctr"/>
          <a:lstStyle/>
          <a:p>
            <a:pPr marL="0" indent="0">
              <a:buNone/>
            </a:pPr>
            <a:r>
              <a:rPr lang="en-US" sz="1300" b="1" dirty="0">
                <a:solidFill>
                  <a:srgbClr val="0F2742"/>
                </a:solidFill>
              </a:rPr>
              <a:t>Organización</a:t>
            </a:r>
            <a:endParaRPr lang="en-US" sz="1300" dirty="0"/>
          </a:p>
        </p:txBody>
      </p:sp>
      <p:sp>
        <p:nvSpPr>
          <p:cNvPr id="11" name="Text 9"/>
          <p:cNvSpPr/>
          <p:nvPr/>
        </p:nvSpPr>
        <p:spPr>
          <a:xfrm>
            <a:off x="886968" y="1691640"/>
            <a:ext cx="2432304" cy="822960"/>
          </a:xfrm>
          <a:prstGeom prst="rect">
            <a:avLst/>
          </a:prstGeom>
          <a:noFill/>
          <a:ln/>
        </p:spPr>
        <p:txBody>
          <a:bodyPr wrap="square" lIns="0" tIns="0" rIns="0" bIns="0" rtlCol="0" anchor="ctr">
            <a:normAutofit/>
          </a:bodyPr>
          <a:lstStyle/>
          <a:p>
            <a:pPr marL="0" indent="0">
              <a:buNone/>
            </a:pPr>
            <a:r>
              <a:rPr lang="en-US" sz="1050" dirty="0">
                <a:solidFill>
                  <a:srgbClr val="1B1F23"/>
                </a:solidFill>
              </a:rPr>
              <a:t>Junta Nacional de Jardines Infantiles: organismo público del Estado de Chile, dependiente del Ministerio de Educación.</a:t>
            </a:r>
            <a:endParaRPr lang="en-US" sz="1050" dirty="0"/>
          </a:p>
        </p:txBody>
      </p:sp>
      <p:sp>
        <p:nvSpPr>
          <p:cNvPr id="12" name="Shape 10"/>
          <p:cNvSpPr/>
          <p:nvPr/>
        </p:nvSpPr>
        <p:spPr>
          <a:xfrm>
            <a:off x="685800" y="2788920"/>
            <a:ext cx="2743200" cy="1371600"/>
          </a:xfrm>
          <a:prstGeom prst="roundRect">
            <a:avLst>
              <a:gd name="adj" fmla="val 5333"/>
            </a:avLst>
          </a:prstGeom>
          <a:solidFill>
            <a:srgbClr val="FFFFFF"/>
          </a:solidFill>
          <a:ln w="12700">
            <a:solidFill>
              <a:srgbClr val="CAD6E0"/>
            </a:solidFill>
            <a:prstDash val="solid"/>
          </a:ln>
        </p:spPr>
        <p:txBody>
          <a:bodyPr/>
          <a:lstStyle/>
          <a:p>
            <a:endParaRPr lang="en-CL"/>
          </a:p>
        </p:txBody>
      </p:sp>
      <p:sp>
        <p:nvSpPr>
          <p:cNvPr id="13" name="Shape 11"/>
          <p:cNvSpPr/>
          <p:nvPr/>
        </p:nvSpPr>
        <p:spPr>
          <a:xfrm>
            <a:off x="685800" y="2788920"/>
            <a:ext cx="73152" cy="1371600"/>
          </a:xfrm>
          <a:prstGeom prst="rect">
            <a:avLst/>
          </a:prstGeom>
          <a:solidFill>
            <a:srgbClr val="0BBF72"/>
          </a:solidFill>
          <a:ln w="12700">
            <a:solidFill>
              <a:srgbClr val="0BBF72"/>
            </a:solidFill>
            <a:prstDash val="solid"/>
          </a:ln>
        </p:spPr>
        <p:txBody>
          <a:bodyPr/>
          <a:lstStyle/>
          <a:p>
            <a:endParaRPr lang="en-CL"/>
          </a:p>
        </p:txBody>
      </p:sp>
      <p:sp>
        <p:nvSpPr>
          <p:cNvPr id="14" name="Text 12"/>
          <p:cNvSpPr/>
          <p:nvPr/>
        </p:nvSpPr>
        <p:spPr>
          <a:xfrm>
            <a:off x="886968" y="2935224"/>
            <a:ext cx="2432304" cy="228600"/>
          </a:xfrm>
          <a:prstGeom prst="rect">
            <a:avLst/>
          </a:prstGeom>
          <a:noFill/>
          <a:ln/>
        </p:spPr>
        <p:txBody>
          <a:bodyPr wrap="square" lIns="0" tIns="0" rIns="0" bIns="0" rtlCol="0" anchor="ctr"/>
          <a:lstStyle/>
          <a:p>
            <a:pPr marL="0" indent="0">
              <a:buNone/>
            </a:pPr>
            <a:r>
              <a:rPr lang="en-US" sz="1300" b="1" dirty="0">
                <a:solidFill>
                  <a:srgbClr val="0F2742"/>
                </a:solidFill>
              </a:rPr>
              <a:t>Cobertura</a:t>
            </a:r>
            <a:endParaRPr lang="en-US" sz="1300" dirty="0"/>
          </a:p>
        </p:txBody>
      </p:sp>
      <p:sp>
        <p:nvSpPr>
          <p:cNvPr id="15" name="Text 13"/>
          <p:cNvSpPr/>
          <p:nvPr/>
        </p:nvSpPr>
        <p:spPr>
          <a:xfrm>
            <a:off x="886968" y="3246120"/>
            <a:ext cx="2432304" cy="822960"/>
          </a:xfrm>
          <a:prstGeom prst="rect">
            <a:avLst/>
          </a:prstGeom>
          <a:noFill/>
          <a:ln/>
        </p:spPr>
        <p:txBody>
          <a:bodyPr wrap="square" lIns="0" tIns="0" rIns="0" bIns="0" rtlCol="0" anchor="ctr">
            <a:normAutofit/>
          </a:bodyPr>
          <a:lstStyle/>
          <a:p>
            <a:pPr marL="0" indent="0">
              <a:buNone/>
            </a:pPr>
            <a:r>
              <a:rPr lang="en-US" sz="1050" dirty="0">
                <a:solidFill>
                  <a:srgbClr val="1B1F23"/>
                </a:solidFill>
              </a:rPr>
              <a:t>Presencia nacional: unidades educativas, oficinas regionales, direcciones y equipos administrativos.</a:t>
            </a:r>
            <a:endParaRPr lang="en-US" sz="1050" dirty="0"/>
          </a:p>
        </p:txBody>
      </p:sp>
      <p:sp>
        <p:nvSpPr>
          <p:cNvPr id="16" name="Shape 14"/>
          <p:cNvSpPr/>
          <p:nvPr/>
        </p:nvSpPr>
        <p:spPr>
          <a:xfrm>
            <a:off x="685800" y="4343400"/>
            <a:ext cx="2743200" cy="1371600"/>
          </a:xfrm>
          <a:prstGeom prst="roundRect">
            <a:avLst>
              <a:gd name="adj" fmla="val 5333"/>
            </a:avLst>
          </a:prstGeom>
          <a:solidFill>
            <a:srgbClr val="FFFFFF"/>
          </a:solidFill>
          <a:ln w="12700">
            <a:solidFill>
              <a:srgbClr val="CAD6E0"/>
            </a:solidFill>
            <a:prstDash val="solid"/>
          </a:ln>
        </p:spPr>
        <p:txBody>
          <a:bodyPr/>
          <a:lstStyle/>
          <a:p>
            <a:endParaRPr lang="en-CL"/>
          </a:p>
        </p:txBody>
      </p:sp>
      <p:sp>
        <p:nvSpPr>
          <p:cNvPr id="17" name="Shape 15"/>
          <p:cNvSpPr/>
          <p:nvPr/>
        </p:nvSpPr>
        <p:spPr>
          <a:xfrm>
            <a:off x="685800" y="4343400"/>
            <a:ext cx="73152" cy="1371600"/>
          </a:xfrm>
          <a:prstGeom prst="rect">
            <a:avLst/>
          </a:prstGeom>
          <a:solidFill>
            <a:srgbClr val="2EA7D6"/>
          </a:solidFill>
          <a:ln w="12700">
            <a:solidFill>
              <a:srgbClr val="2EA7D6"/>
            </a:solidFill>
            <a:prstDash val="solid"/>
          </a:ln>
        </p:spPr>
        <p:txBody>
          <a:bodyPr/>
          <a:lstStyle/>
          <a:p>
            <a:endParaRPr lang="en-CL"/>
          </a:p>
        </p:txBody>
      </p:sp>
      <p:sp>
        <p:nvSpPr>
          <p:cNvPr id="18" name="Text 16"/>
          <p:cNvSpPr/>
          <p:nvPr/>
        </p:nvSpPr>
        <p:spPr>
          <a:xfrm>
            <a:off x="886968" y="4489704"/>
            <a:ext cx="2432304" cy="228600"/>
          </a:xfrm>
          <a:prstGeom prst="rect">
            <a:avLst/>
          </a:prstGeom>
          <a:noFill/>
          <a:ln/>
        </p:spPr>
        <p:txBody>
          <a:bodyPr wrap="square" lIns="0" tIns="0" rIns="0" bIns="0" rtlCol="0" anchor="ctr"/>
          <a:lstStyle/>
          <a:p>
            <a:pPr marL="0" indent="0">
              <a:buNone/>
            </a:pPr>
            <a:r>
              <a:rPr lang="en-US" sz="1300" b="1" dirty="0">
                <a:solidFill>
                  <a:srgbClr val="0F2742"/>
                </a:solidFill>
              </a:rPr>
              <a:t>Necesidad TI</a:t>
            </a:r>
            <a:endParaRPr lang="en-US" sz="1300" dirty="0"/>
          </a:p>
        </p:txBody>
      </p:sp>
      <p:sp>
        <p:nvSpPr>
          <p:cNvPr id="19" name="Text 17"/>
          <p:cNvSpPr/>
          <p:nvPr/>
        </p:nvSpPr>
        <p:spPr>
          <a:xfrm>
            <a:off x="886968" y="4800600"/>
            <a:ext cx="2432304" cy="822960"/>
          </a:xfrm>
          <a:prstGeom prst="rect">
            <a:avLst/>
          </a:prstGeom>
          <a:noFill/>
          <a:ln/>
        </p:spPr>
        <p:txBody>
          <a:bodyPr wrap="square" lIns="0" tIns="0" rIns="0" bIns="0" rtlCol="0" anchor="ctr">
            <a:normAutofit/>
          </a:bodyPr>
          <a:lstStyle/>
          <a:p>
            <a:pPr marL="0" indent="0">
              <a:buNone/>
            </a:pPr>
            <a:r>
              <a:rPr lang="en-US" sz="1050" dirty="0">
                <a:solidFill>
                  <a:srgbClr val="1B1F23"/>
                </a:solidFill>
              </a:rPr>
              <a:t>Soporte distribuido, alta demanda de continuidad operativa y trazabilidad para auditoría y gestión.</a:t>
            </a:r>
            <a:endParaRPr lang="en-US" sz="1050" dirty="0"/>
          </a:p>
        </p:txBody>
      </p:sp>
      <p:sp>
        <p:nvSpPr>
          <p:cNvPr id="20" name="Shape 18"/>
          <p:cNvSpPr/>
          <p:nvPr/>
        </p:nvSpPr>
        <p:spPr>
          <a:xfrm>
            <a:off x="3977640" y="1143000"/>
            <a:ext cx="7406640" cy="4572000"/>
          </a:xfrm>
          <a:prstGeom prst="roundRect">
            <a:avLst>
              <a:gd name="adj" fmla="val 2000"/>
            </a:avLst>
          </a:prstGeom>
          <a:solidFill>
            <a:srgbClr val="FFFFFF"/>
          </a:solidFill>
          <a:ln w="12700">
            <a:solidFill>
              <a:srgbClr val="CAD6E0"/>
            </a:solidFill>
            <a:prstDash val="solid"/>
          </a:ln>
        </p:spPr>
        <p:txBody>
          <a:bodyPr/>
          <a:lstStyle/>
          <a:p>
            <a:endParaRPr lang="en-CL"/>
          </a:p>
        </p:txBody>
      </p:sp>
      <p:sp>
        <p:nvSpPr>
          <p:cNvPr id="21" name="Text 19"/>
          <p:cNvSpPr/>
          <p:nvPr/>
        </p:nvSpPr>
        <p:spPr>
          <a:xfrm>
            <a:off x="4251960" y="1417320"/>
            <a:ext cx="6858000" cy="274320"/>
          </a:xfrm>
          <a:prstGeom prst="rect">
            <a:avLst/>
          </a:prstGeom>
          <a:noFill/>
          <a:ln/>
        </p:spPr>
        <p:txBody>
          <a:bodyPr wrap="square" lIns="0" tIns="0" rIns="0" bIns="0" rtlCol="0" anchor="ctr"/>
          <a:lstStyle/>
          <a:p>
            <a:pPr marL="0" indent="0">
              <a:buNone/>
            </a:pPr>
            <a:r>
              <a:rPr lang="en-US" sz="1900" b="1" dirty="0">
                <a:solidFill>
                  <a:srgbClr val="0F2742"/>
                </a:solidFill>
              </a:rPr>
              <a:t>Usuarios involucrados</a:t>
            </a:r>
            <a:endParaRPr lang="en-US" sz="1900" dirty="0"/>
          </a:p>
        </p:txBody>
      </p:sp>
      <p:sp>
        <p:nvSpPr>
          <p:cNvPr id="22" name="Shape 20"/>
          <p:cNvSpPr/>
          <p:nvPr/>
        </p:nvSpPr>
        <p:spPr>
          <a:xfrm>
            <a:off x="4343400" y="1874520"/>
            <a:ext cx="1828800" cy="502920"/>
          </a:xfrm>
          <a:prstGeom prst="roundRect">
            <a:avLst>
              <a:gd name="adj" fmla="val 14545"/>
            </a:avLst>
          </a:prstGeom>
          <a:solidFill>
            <a:srgbClr val="E7F2FB"/>
          </a:solidFill>
          <a:ln w="12700">
            <a:solidFill>
              <a:srgbClr val="CAD6E0"/>
            </a:solidFill>
            <a:prstDash val="solid"/>
          </a:ln>
        </p:spPr>
        <p:txBody>
          <a:bodyPr/>
          <a:lstStyle/>
          <a:p>
            <a:endParaRPr lang="en-CL"/>
          </a:p>
        </p:txBody>
      </p:sp>
      <p:sp>
        <p:nvSpPr>
          <p:cNvPr id="23" name="Text 21"/>
          <p:cNvSpPr/>
          <p:nvPr/>
        </p:nvSpPr>
        <p:spPr>
          <a:xfrm>
            <a:off x="4480560" y="2029968"/>
            <a:ext cx="1554480" cy="146304"/>
          </a:xfrm>
          <a:prstGeom prst="rect">
            <a:avLst/>
          </a:prstGeom>
          <a:noFill/>
          <a:ln/>
        </p:spPr>
        <p:txBody>
          <a:bodyPr wrap="square" lIns="0" tIns="0" rIns="0" bIns="0" rtlCol="0" anchor="ctr"/>
          <a:lstStyle/>
          <a:p>
            <a:pPr marL="0" indent="0" algn="ctr">
              <a:buNone/>
            </a:pPr>
            <a:r>
              <a:rPr lang="en-US" sz="1100" b="1" dirty="0">
                <a:solidFill>
                  <a:srgbClr val="0F2742"/>
                </a:solidFill>
              </a:rPr>
              <a:t>Solicitantes</a:t>
            </a:r>
            <a:endParaRPr lang="en-US" sz="1100" dirty="0"/>
          </a:p>
        </p:txBody>
      </p:sp>
      <p:sp>
        <p:nvSpPr>
          <p:cNvPr id="24" name="Text 22"/>
          <p:cNvSpPr/>
          <p:nvPr/>
        </p:nvSpPr>
        <p:spPr>
          <a:xfrm>
            <a:off x="6446520" y="1965960"/>
            <a:ext cx="4480560" cy="274320"/>
          </a:xfrm>
          <a:prstGeom prst="rect">
            <a:avLst/>
          </a:prstGeom>
          <a:noFill/>
          <a:ln/>
        </p:spPr>
        <p:txBody>
          <a:bodyPr wrap="square" lIns="0" tIns="0" rIns="0" bIns="0" rtlCol="0" anchor="ctr"/>
          <a:lstStyle/>
          <a:p>
            <a:pPr marL="0" indent="0">
              <a:buNone/>
            </a:pPr>
            <a:r>
              <a:rPr lang="en-US" sz="1250" dirty="0">
                <a:solidFill>
                  <a:srgbClr val="1B1F23"/>
                </a:solidFill>
              </a:rPr>
              <a:t>Funcionarios, jardines infantiles, unidades educativas</a:t>
            </a:r>
            <a:endParaRPr lang="en-US" sz="1250" dirty="0"/>
          </a:p>
        </p:txBody>
      </p:sp>
      <p:sp>
        <p:nvSpPr>
          <p:cNvPr id="25" name="Shape 23"/>
          <p:cNvSpPr/>
          <p:nvPr/>
        </p:nvSpPr>
        <p:spPr>
          <a:xfrm>
            <a:off x="4343400" y="2743200"/>
            <a:ext cx="1828800" cy="502920"/>
          </a:xfrm>
          <a:prstGeom prst="roundRect">
            <a:avLst>
              <a:gd name="adj" fmla="val 14545"/>
            </a:avLst>
          </a:prstGeom>
          <a:solidFill>
            <a:srgbClr val="E6F7EF"/>
          </a:solidFill>
          <a:ln w="12700">
            <a:solidFill>
              <a:srgbClr val="CAD6E0"/>
            </a:solidFill>
            <a:prstDash val="solid"/>
          </a:ln>
        </p:spPr>
        <p:txBody>
          <a:bodyPr/>
          <a:lstStyle/>
          <a:p>
            <a:endParaRPr lang="en-CL"/>
          </a:p>
        </p:txBody>
      </p:sp>
      <p:sp>
        <p:nvSpPr>
          <p:cNvPr id="26" name="Text 24"/>
          <p:cNvSpPr/>
          <p:nvPr/>
        </p:nvSpPr>
        <p:spPr>
          <a:xfrm>
            <a:off x="4480560" y="2898648"/>
            <a:ext cx="1554480" cy="146304"/>
          </a:xfrm>
          <a:prstGeom prst="rect">
            <a:avLst/>
          </a:prstGeom>
          <a:noFill/>
          <a:ln/>
        </p:spPr>
        <p:txBody>
          <a:bodyPr wrap="square" lIns="0" tIns="0" rIns="0" bIns="0" rtlCol="0" anchor="ctr"/>
          <a:lstStyle/>
          <a:p>
            <a:pPr marL="0" indent="0" algn="ctr">
              <a:buNone/>
            </a:pPr>
            <a:r>
              <a:rPr lang="en-US" sz="1100" b="1" dirty="0">
                <a:solidFill>
                  <a:srgbClr val="0F2742"/>
                </a:solidFill>
              </a:rPr>
              <a:t>Soporte TI</a:t>
            </a:r>
            <a:endParaRPr lang="en-US" sz="1100" dirty="0"/>
          </a:p>
        </p:txBody>
      </p:sp>
      <p:sp>
        <p:nvSpPr>
          <p:cNvPr id="27" name="Text 25"/>
          <p:cNvSpPr/>
          <p:nvPr/>
        </p:nvSpPr>
        <p:spPr>
          <a:xfrm>
            <a:off x="6446520" y="2834640"/>
            <a:ext cx="4480560" cy="274320"/>
          </a:xfrm>
          <a:prstGeom prst="rect">
            <a:avLst/>
          </a:prstGeom>
          <a:noFill/>
          <a:ln/>
        </p:spPr>
        <p:txBody>
          <a:bodyPr wrap="square" lIns="0" tIns="0" rIns="0" bIns="0" rtlCol="0" anchor="ctr"/>
          <a:lstStyle/>
          <a:p>
            <a:pPr marL="0" indent="0">
              <a:buNone/>
            </a:pPr>
            <a:r>
              <a:rPr lang="en-US" sz="1250" dirty="0">
                <a:solidFill>
                  <a:srgbClr val="1B1F23"/>
                </a:solidFill>
              </a:rPr>
              <a:t>Agentes, técnicos, administradores del sistema</a:t>
            </a:r>
            <a:endParaRPr lang="en-US" sz="1250" dirty="0"/>
          </a:p>
        </p:txBody>
      </p:sp>
      <p:sp>
        <p:nvSpPr>
          <p:cNvPr id="28" name="Shape 26"/>
          <p:cNvSpPr/>
          <p:nvPr/>
        </p:nvSpPr>
        <p:spPr>
          <a:xfrm>
            <a:off x="4343400" y="3611880"/>
            <a:ext cx="1828800" cy="502920"/>
          </a:xfrm>
          <a:prstGeom prst="roundRect">
            <a:avLst>
              <a:gd name="adj" fmla="val 14545"/>
            </a:avLst>
          </a:prstGeom>
          <a:solidFill>
            <a:srgbClr val="FFF6D8"/>
          </a:solidFill>
          <a:ln w="12700">
            <a:solidFill>
              <a:srgbClr val="CAD6E0"/>
            </a:solidFill>
            <a:prstDash val="solid"/>
          </a:ln>
        </p:spPr>
        <p:txBody>
          <a:bodyPr/>
          <a:lstStyle/>
          <a:p>
            <a:endParaRPr lang="en-CL"/>
          </a:p>
        </p:txBody>
      </p:sp>
      <p:sp>
        <p:nvSpPr>
          <p:cNvPr id="29" name="Text 27"/>
          <p:cNvSpPr/>
          <p:nvPr/>
        </p:nvSpPr>
        <p:spPr>
          <a:xfrm>
            <a:off x="4480560" y="3767328"/>
            <a:ext cx="1554480" cy="146304"/>
          </a:xfrm>
          <a:prstGeom prst="rect">
            <a:avLst/>
          </a:prstGeom>
          <a:noFill/>
          <a:ln/>
        </p:spPr>
        <p:txBody>
          <a:bodyPr wrap="square" lIns="0" tIns="0" rIns="0" bIns="0" rtlCol="0" anchor="ctr"/>
          <a:lstStyle/>
          <a:p>
            <a:pPr marL="0" indent="0" algn="ctr">
              <a:buNone/>
            </a:pPr>
            <a:r>
              <a:rPr lang="en-US" sz="1100" b="1" dirty="0">
                <a:solidFill>
                  <a:srgbClr val="0F2742"/>
                </a:solidFill>
              </a:rPr>
              <a:t>Jefaturas</a:t>
            </a:r>
            <a:endParaRPr lang="en-US" sz="1100" dirty="0"/>
          </a:p>
        </p:txBody>
      </p:sp>
      <p:sp>
        <p:nvSpPr>
          <p:cNvPr id="30" name="Text 28"/>
          <p:cNvSpPr/>
          <p:nvPr/>
        </p:nvSpPr>
        <p:spPr>
          <a:xfrm>
            <a:off x="6446520" y="3703320"/>
            <a:ext cx="4480560" cy="274320"/>
          </a:xfrm>
          <a:prstGeom prst="rect">
            <a:avLst/>
          </a:prstGeom>
          <a:noFill/>
          <a:ln/>
        </p:spPr>
        <p:txBody>
          <a:bodyPr wrap="square" lIns="0" tIns="0" rIns="0" bIns="0" rtlCol="0" anchor="ctr"/>
          <a:lstStyle/>
          <a:p>
            <a:pPr marL="0" indent="0">
              <a:buNone/>
            </a:pPr>
            <a:r>
              <a:rPr lang="en-US" sz="1250" dirty="0">
                <a:solidFill>
                  <a:srgbClr val="1B1F23"/>
                </a:solidFill>
              </a:rPr>
              <a:t>Control de gestión, supervisión, toma de decisiones</a:t>
            </a:r>
            <a:endParaRPr lang="en-US" sz="1250" dirty="0"/>
          </a:p>
        </p:txBody>
      </p:sp>
      <p:sp>
        <p:nvSpPr>
          <p:cNvPr id="31" name="Shape 29"/>
          <p:cNvSpPr/>
          <p:nvPr/>
        </p:nvSpPr>
        <p:spPr>
          <a:xfrm>
            <a:off x="4343400" y="4480560"/>
            <a:ext cx="1828800" cy="502920"/>
          </a:xfrm>
          <a:prstGeom prst="roundRect">
            <a:avLst>
              <a:gd name="adj" fmla="val 14545"/>
            </a:avLst>
          </a:prstGeom>
          <a:solidFill>
            <a:srgbClr val="F1F3F5"/>
          </a:solidFill>
          <a:ln w="12700">
            <a:solidFill>
              <a:srgbClr val="CAD6E0"/>
            </a:solidFill>
            <a:prstDash val="solid"/>
          </a:ln>
        </p:spPr>
        <p:txBody>
          <a:bodyPr/>
          <a:lstStyle/>
          <a:p>
            <a:endParaRPr lang="en-CL"/>
          </a:p>
        </p:txBody>
      </p:sp>
      <p:sp>
        <p:nvSpPr>
          <p:cNvPr id="32" name="Text 30"/>
          <p:cNvSpPr/>
          <p:nvPr/>
        </p:nvSpPr>
        <p:spPr>
          <a:xfrm>
            <a:off x="4480560" y="4636008"/>
            <a:ext cx="1554480" cy="146304"/>
          </a:xfrm>
          <a:prstGeom prst="rect">
            <a:avLst/>
          </a:prstGeom>
          <a:noFill/>
          <a:ln/>
        </p:spPr>
        <p:txBody>
          <a:bodyPr wrap="square" lIns="0" tIns="0" rIns="0" bIns="0" rtlCol="0" anchor="ctr"/>
          <a:lstStyle/>
          <a:p>
            <a:pPr marL="0" indent="0" algn="ctr">
              <a:buNone/>
            </a:pPr>
            <a:r>
              <a:rPr lang="en-US" sz="1100" b="1" dirty="0">
                <a:solidFill>
                  <a:srgbClr val="0F2742"/>
                </a:solidFill>
              </a:rPr>
              <a:t>Activos TI</a:t>
            </a:r>
            <a:endParaRPr lang="en-US" sz="1100" dirty="0"/>
          </a:p>
        </p:txBody>
      </p:sp>
      <p:sp>
        <p:nvSpPr>
          <p:cNvPr id="33" name="Text 31"/>
          <p:cNvSpPr/>
          <p:nvPr/>
        </p:nvSpPr>
        <p:spPr>
          <a:xfrm>
            <a:off x="6446520" y="4572000"/>
            <a:ext cx="4480560" cy="274320"/>
          </a:xfrm>
          <a:prstGeom prst="rect">
            <a:avLst/>
          </a:prstGeom>
          <a:noFill/>
          <a:ln/>
        </p:spPr>
        <p:txBody>
          <a:bodyPr wrap="square" lIns="0" tIns="0" rIns="0" bIns="0" rtlCol="0" anchor="ctr"/>
          <a:lstStyle/>
          <a:p>
            <a:pPr marL="0" indent="0">
              <a:buNone/>
            </a:pPr>
            <a:r>
              <a:rPr lang="en-US" sz="1250" dirty="0">
                <a:solidFill>
                  <a:srgbClr val="1B1F23"/>
                </a:solidFill>
              </a:rPr>
              <a:t>PC, notebook, monitor, periféricos, impresoras</a:t>
            </a:r>
            <a:endParaRPr lang="en-US" sz="1250" dirty="0"/>
          </a:p>
        </p:txBody>
      </p:sp>
      <p:sp>
        <p:nvSpPr>
          <p:cNvPr id="34" name="Shape 32"/>
          <p:cNvSpPr/>
          <p:nvPr/>
        </p:nvSpPr>
        <p:spPr>
          <a:xfrm>
            <a:off x="4343400" y="5303520"/>
            <a:ext cx="6675120" cy="292608"/>
          </a:xfrm>
          <a:prstGeom prst="roundRect">
            <a:avLst>
              <a:gd name="adj" fmla="val 15625"/>
            </a:avLst>
          </a:prstGeom>
          <a:solidFill>
            <a:srgbClr val="0F2742"/>
          </a:solidFill>
          <a:ln w="12700">
            <a:solidFill>
              <a:srgbClr val="0F2742"/>
            </a:solidFill>
            <a:prstDash val="solid"/>
          </a:ln>
        </p:spPr>
        <p:txBody>
          <a:bodyPr/>
          <a:lstStyle/>
          <a:p>
            <a:endParaRPr lang="en-CL"/>
          </a:p>
        </p:txBody>
      </p:sp>
      <p:sp>
        <p:nvSpPr>
          <p:cNvPr id="35" name="Text 33"/>
          <p:cNvSpPr/>
          <p:nvPr/>
        </p:nvSpPr>
        <p:spPr>
          <a:xfrm>
            <a:off x="4526280" y="5385816"/>
            <a:ext cx="6309360" cy="91440"/>
          </a:xfrm>
          <a:prstGeom prst="rect">
            <a:avLst/>
          </a:prstGeom>
          <a:noFill/>
          <a:ln/>
        </p:spPr>
        <p:txBody>
          <a:bodyPr wrap="square" lIns="0" tIns="0" rIns="0" bIns="0" rtlCol="0" anchor="ctr"/>
          <a:lstStyle/>
          <a:p>
            <a:pPr marL="0" indent="0" algn="ctr">
              <a:buNone/>
            </a:pPr>
            <a:r>
              <a:rPr lang="en-US" sz="950" b="1" dirty="0">
                <a:solidFill>
                  <a:srgbClr val="FFFFFF"/>
                </a:solidFill>
              </a:rPr>
              <a:t>Clave: la solución debe ser simple, trazable, sostenible y fácil de administrar.</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BBF72"/>
          </a:solidFill>
          <a:ln w="12700">
            <a:solidFill>
              <a:srgbClr val="0BBF72"/>
            </a:solidFill>
            <a:prstDash val="solid"/>
          </a:ln>
        </p:spPr>
        <p:txBody>
          <a:bodyPr/>
          <a:lstStyle/>
          <a:p>
            <a:endParaRPr lang="en-CL"/>
          </a:p>
        </p:txBody>
      </p:sp>
      <p:sp>
        <p:nvSpPr>
          <p:cNvPr id="3" name="Shape 1"/>
          <p:cNvSpPr/>
          <p:nvPr/>
        </p:nvSpPr>
        <p:spPr>
          <a:xfrm>
            <a:off x="0" y="6565392"/>
            <a:ext cx="12191695" cy="292608"/>
          </a:xfrm>
          <a:prstGeom prst="rect">
            <a:avLst/>
          </a:prstGeom>
          <a:solidFill>
            <a:srgbClr val="0F2742"/>
          </a:solidFill>
          <a:ln w="12700">
            <a:solidFill>
              <a:srgbClr val="0F2742"/>
            </a:solidFill>
            <a:prstDash val="solid"/>
          </a:ln>
        </p:spPr>
        <p:txBody>
          <a:bodyPr/>
          <a:lstStyle/>
          <a:p>
            <a:endParaRPr lang="en-CL"/>
          </a:p>
        </p:txBody>
      </p:sp>
      <p:sp>
        <p:nvSpPr>
          <p:cNvPr id="4" name="Text 2"/>
          <p:cNvSpPr/>
          <p:nvPr/>
        </p:nvSpPr>
        <p:spPr>
          <a:xfrm>
            <a:off x="502920" y="347472"/>
            <a:ext cx="10515600" cy="384048"/>
          </a:xfrm>
          <a:prstGeom prst="rect">
            <a:avLst/>
          </a:prstGeom>
          <a:noFill/>
          <a:ln/>
        </p:spPr>
        <p:txBody>
          <a:bodyPr wrap="square" lIns="0" tIns="0" rIns="0" bIns="0" rtlCol="0" anchor="ctr"/>
          <a:lstStyle/>
          <a:p>
            <a:pPr marL="0" indent="0">
              <a:buNone/>
            </a:pPr>
            <a:r>
              <a:rPr lang="en-US" sz="2600" b="1" dirty="0">
                <a:solidFill>
                  <a:srgbClr val="0F2742"/>
                </a:solidFill>
                <a:latin typeface="Arial" pitchFamily="34" charset="0"/>
                <a:ea typeface="Arial" pitchFamily="34" charset="-122"/>
                <a:cs typeface="Arial" pitchFamily="34" charset="-120"/>
              </a:rPr>
              <a:t>Proceso actual y problema identificado</a:t>
            </a:r>
            <a:endParaRPr lang="en-US" sz="2600" dirty="0"/>
          </a:p>
        </p:txBody>
      </p:sp>
      <p:sp>
        <p:nvSpPr>
          <p:cNvPr id="5" name="Text 3"/>
          <p:cNvSpPr/>
          <p:nvPr/>
        </p:nvSpPr>
        <p:spPr>
          <a:xfrm>
            <a:off x="521208" y="768096"/>
            <a:ext cx="10607040" cy="219456"/>
          </a:xfrm>
          <a:prstGeom prst="rect">
            <a:avLst/>
          </a:prstGeom>
          <a:noFill/>
          <a:ln/>
        </p:spPr>
        <p:txBody>
          <a:bodyPr wrap="square" lIns="0" tIns="0" rIns="0" bIns="0" rtlCol="0" anchor="ctr"/>
          <a:lstStyle/>
          <a:p>
            <a:pPr marL="0" indent="0">
              <a:buNone/>
            </a:pPr>
            <a:r>
              <a:rPr lang="en-US" sz="1050" dirty="0">
                <a:solidFill>
                  <a:srgbClr val="657182"/>
                </a:solidFill>
              </a:rPr>
              <a:t>La Mesa de Ayuda existe, pero opera con baja capacidad de análisis y estandarización.</a:t>
            </a:r>
            <a:endParaRPr lang="en-US" sz="1050" dirty="0"/>
          </a:p>
        </p:txBody>
      </p:sp>
      <p:sp>
        <p:nvSpPr>
          <p:cNvPr id="6" name="Text 4"/>
          <p:cNvSpPr/>
          <p:nvPr/>
        </p:nvSpPr>
        <p:spPr>
          <a:xfrm>
            <a:off x="502920" y="6611112"/>
            <a:ext cx="6583680" cy="146304"/>
          </a:xfrm>
          <a:prstGeom prst="rect">
            <a:avLst/>
          </a:prstGeom>
          <a:noFill/>
          <a:ln/>
        </p:spPr>
        <p:txBody>
          <a:bodyPr wrap="square" lIns="0" tIns="0" rIns="0" bIns="0" rtlCol="0" anchor="ctr"/>
          <a:lstStyle/>
          <a:p>
            <a:pPr marL="0" indent="0">
              <a:buNone/>
            </a:pPr>
            <a:r>
              <a:rPr lang="en-US" sz="750" dirty="0">
                <a:solidFill>
                  <a:srgbClr val="DCE7F2"/>
                </a:solidFill>
              </a:rPr>
              <a:t>TIP-INF-401 | Ingeniería en Informática | IPSS 2026</a:t>
            </a:r>
            <a:endParaRPr lang="en-US" sz="750" dirty="0"/>
          </a:p>
        </p:txBody>
      </p:sp>
      <p:sp>
        <p:nvSpPr>
          <p:cNvPr id="7" name="Text 5"/>
          <p:cNvSpPr/>
          <p:nvPr/>
        </p:nvSpPr>
        <p:spPr>
          <a:xfrm>
            <a:off x="11064240" y="6611112"/>
            <a:ext cx="640080" cy="146304"/>
          </a:xfrm>
          <a:prstGeom prst="rect">
            <a:avLst/>
          </a:prstGeom>
          <a:noFill/>
          <a:ln/>
        </p:spPr>
        <p:txBody>
          <a:bodyPr wrap="square" lIns="0" tIns="0" rIns="0" bIns="0" rtlCol="0" anchor="ctr"/>
          <a:lstStyle/>
          <a:p>
            <a:pPr marL="0" indent="0" algn="r">
              <a:buNone/>
            </a:pPr>
            <a:r>
              <a:rPr lang="en-US" sz="750" dirty="0">
                <a:solidFill>
                  <a:srgbClr val="DCE7F2"/>
                </a:solidFill>
              </a:rPr>
              <a:t>4/18</a:t>
            </a:r>
            <a:endParaRPr lang="en-US" sz="750" dirty="0"/>
          </a:p>
        </p:txBody>
      </p:sp>
      <p:sp>
        <p:nvSpPr>
          <p:cNvPr id="8" name="Shape 6"/>
          <p:cNvSpPr/>
          <p:nvPr/>
        </p:nvSpPr>
        <p:spPr>
          <a:xfrm>
            <a:off x="685800" y="1280160"/>
            <a:ext cx="1737360" cy="822960"/>
          </a:xfrm>
          <a:prstGeom prst="roundRect">
            <a:avLst>
              <a:gd name="adj" fmla="val 8889"/>
            </a:avLst>
          </a:prstGeom>
          <a:solidFill>
            <a:srgbClr val="FFFFFF"/>
          </a:solidFill>
          <a:ln w="12700">
            <a:solidFill>
              <a:srgbClr val="CAD6E0"/>
            </a:solidFill>
            <a:prstDash val="solid"/>
          </a:ln>
        </p:spPr>
        <p:txBody>
          <a:bodyPr/>
          <a:lstStyle/>
          <a:p>
            <a:endParaRPr lang="en-CL"/>
          </a:p>
        </p:txBody>
      </p:sp>
      <p:sp>
        <p:nvSpPr>
          <p:cNvPr id="9" name="Shape 7"/>
          <p:cNvSpPr/>
          <p:nvPr/>
        </p:nvSpPr>
        <p:spPr>
          <a:xfrm>
            <a:off x="777240" y="1417320"/>
            <a:ext cx="411480" cy="411480"/>
          </a:xfrm>
          <a:prstGeom prst="ellipse">
            <a:avLst/>
          </a:prstGeom>
          <a:solidFill>
            <a:srgbClr val="1F5B99"/>
          </a:solidFill>
          <a:ln w="12700">
            <a:solidFill>
              <a:srgbClr val="1F5B99"/>
            </a:solidFill>
            <a:prstDash val="solid"/>
          </a:ln>
        </p:spPr>
        <p:txBody>
          <a:bodyPr/>
          <a:lstStyle/>
          <a:p>
            <a:endParaRPr lang="en-CL"/>
          </a:p>
        </p:txBody>
      </p:sp>
      <p:sp>
        <p:nvSpPr>
          <p:cNvPr id="10" name="Text 8"/>
          <p:cNvSpPr/>
          <p:nvPr/>
        </p:nvSpPr>
        <p:spPr>
          <a:xfrm>
            <a:off x="777240" y="1536192"/>
            <a:ext cx="411480" cy="91440"/>
          </a:xfrm>
          <a:prstGeom prst="rect">
            <a:avLst/>
          </a:prstGeom>
          <a:noFill/>
          <a:ln/>
        </p:spPr>
        <p:txBody>
          <a:bodyPr wrap="square" lIns="0" tIns="0" rIns="0" bIns="0" rtlCol="0" anchor="ctr"/>
          <a:lstStyle/>
          <a:p>
            <a:pPr marL="0" indent="0" algn="ctr">
              <a:buNone/>
            </a:pPr>
            <a:r>
              <a:rPr lang="en-US" sz="900" b="1" dirty="0">
                <a:solidFill>
                  <a:srgbClr val="FFFFFF"/>
                </a:solidFill>
              </a:rPr>
              <a:t>1</a:t>
            </a:r>
            <a:endParaRPr lang="en-US" sz="900" dirty="0"/>
          </a:p>
        </p:txBody>
      </p:sp>
      <p:sp>
        <p:nvSpPr>
          <p:cNvPr id="11" name="Text 9"/>
          <p:cNvSpPr/>
          <p:nvPr/>
        </p:nvSpPr>
        <p:spPr>
          <a:xfrm>
            <a:off x="1280160" y="1444752"/>
            <a:ext cx="1005840" cy="320040"/>
          </a:xfrm>
          <a:prstGeom prst="rect">
            <a:avLst/>
          </a:prstGeom>
          <a:noFill/>
          <a:ln/>
        </p:spPr>
        <p:txBody>
          <a:bodyPr wrap="square" lIns="0" tIns="0" rIns="0" bIns="0" rtlCol="0" anchor="ctr">
            <a:normAutofit/>
          </a:bodyPr>
          <a:lstStyle/>
          <a:p>
            <a:pPr marL="0" indent="0">
              <a:buNone/>
            </a:pPr>
            <a:r>
              <a:rPr lang="en-US" sz="1050" dirty="0">
                <a:solidFill>
                  <a:srgbClr val="0F2742"/>
                </a:solidFill>
              </a:rPr>
              <a:t>Usuario detecta necesidad</a:t>
            </a:r>
            <a:endParaRPr lang="en-US" sz="1050" dirty="0"/>
          </a:p>
        </p:txBody>
      </p:sp>
      <p:sp>
        <p:nvSpPr>
          <p:cNvPr id="12" name="Shape 10"/>
          <p:cNvSpPr/>
          <p:nvPr/>
        </p:nvSpPr>
        <p:spPr>
          <a:xfrm>
            <a:off x="2423160" y="1691640"/>
            <a:ext cx="411480" cy="0"/>
          </a:xfrm>
          <a:prstGeom prst="line">
            <a:avLst/>
          </a:prstGeom>
          <a:noFill/>
          <a:ln w="19050">
            <a:solidFill>
              <a:srgbClr val="657182"/>
            </a:solidFill>
            <a:prstDash val="solid"/>
            <a:headEnd type="none"/>
            <a:tailEnd type="triangle"/>
          </a:ln>
        </p:spPr>
        <p:txBody>
          <a:bodyPr/>
          <a:lstStyle/>
          <a:p>
            <a:endParaRPr lang="en-CL"/>
          </a:p>
        </p:txBody>
      </p:sp>
      <p:sp>
        <p:nvSpPr>
          <p:cNvPr id="13" name="Shape 11"/>
          <p:cNvSpPr/>
          <p:nvPr/>
        </p:nvSpPr>
        <p:spPr>
          <a:xfrm>
            <a:off x="2926080" y="1280160"/>
            <a:ext cx="1737360" cy="822960"/>
          </a:xfrm>
          <a:prstGeom prst="roundRect">
            <a:avLst>
              <a:gd name="adj" fmla="val 8889"/>
            </a:avLst>
          </a:prstGeom>
          <a:solidFill>
            <a:srgbClr val="FFFFFF"/>
          </a:solidFill>
          <a:ln w="12700">
            <a:solidFill>
              <a:srgbClr val="CAD6E0"/>
            </a:solidFill>
            <a:prstDash val="solid"/>
          </a:ln>
        </p:spPr>
        <p:txBody>
          <a:bodyPr/>
          <a:lstStyle/>
          <a:p>
            <a:endParaRPr lang="en-CL"/>
          </a:p>
        </p:txBody>
      </p:sp>
      <p:sp>
        <p:nvSpPr>
          <p:cNvPr id="14" name="Shape 12"/>
          <p:cNvSpPr/>
          <p:nvPr/>
        </p:nvSpPr>
        <p:spPr>
          <a:xfrm>
            <a:off x="3017520" y="1417320"/>
            <a:ext cx="411480" cy="411480"/>
          </a:xfrm>
          <a:prstGeom prst="ellipse">
            <a:avLst/>
          </a:prstGeom>
          <a:solidFill>
            <a:srgbClr val="1F5B99"/>
          </a:solidFill>
          <a:ln w="12700">
            <a:solidFill>
              <a:srgbClr val="1F5B99"/>
            </a:solidFill>
            <a:prstDash val="solid"/>
          </a:ln>
        </p:spPr>
        <p:txBody>
          <a:bodyPr/>
          <a:lstStyle/>
          <a:p>
            <a:endParaRPr lang="en-CL"/>
          </a:p>
        </p:txBody>
      </p:sp>
      <p:sp>
        <p:nvSpPr>
          <p:cNvPr id="15" name="Text 13"/>
          <p:cNvSpPr/>
          <p:nvPr/>
        </p:nvSpPr>
        <p:spPr>
          <a:xfrm>
            <a:off x="3017520" y="1536192"/>
            <a:ext cx="411480" cy="91440"/>
          </a:xfrm>
          <a:prstGeom prst="rect">
            <a:avLst/>
          </a:prstGeom>
          <a:noFill/>
          <a:ln/>
        </p:spPr>
        <p:txBody>
          <a:bodyPr wrap="square" lIns="0" tIns="0" rIns="0" bIns="0" rtlCol="0" anchor="ctr"/>
          <a:lstStyle/>
          <a:p>
            <a:pPr marL="0" indent="0" algn="ctr">
              <a:buNone/>
            </a:pPr>
            <a:r>
              <a:rPr lang="en-US" sz="900" b="1" dirty="0">
                <a:solidFill>
                  <a:srgbClr val="FFFFFF"/>
                </a:solidFill>
              </a:rPr>
              <a:t>2</a:t>
            </a:r>
            <a:endParaRPr lang="en-US" sz="900" dirty="0"/>
          </a:p>
        </p:txBody>
      </p:sp>
      <p:sp>
        <p:nvSpPr>
          <p:cNvPr id="16" name="Text 14"/>
          <p:cNvSpPr/>
          <p:nvPr/>
        </p:nvSpPr>
        <p:spPr>
          <a:xfrm>
            <a:off x="3520440" y="1444752"/>
            <a:ext cx="1005840" cy="320040"/>
          </a:xfrm>
          <a:prstGeom prst="rect">
            <a:avLst/>
          </a:prstGeom>
          <a:noFill/>
          <a:ln/>
        </p:spPr>
        <p:txBody>
          <a:bodyPr wrap="square" lIns="0" tIns="0" rIns="0" bIns="0" rtlCol="0" anchor="ctr">
            <a:normAutofit/>
          </a:bodyPr>
          <a:lstStyle/>
          <a:p>
            <a:pPr marL="0" indent="0">
              <a:buNone/>
            </a:pPr>
            <a:r>
              <a:rPr lang="en-US" sz="1050" dirty="0">
                <a:solidFill>
                  <a:srgbClr val="0F2742"/>
                </a:solidFill>
              </a:rPr>
              <a:t>Envía correo al MDA</a:t>
            </a:r>
            <a:endParaRPr lang="en-US" sz="1050" dirty="0"/>
          </a:p>
        </p:txBody>
      </p:sp>
      <p:sp>
        <p:nvSpPr>
          <p:cNvPr id="17" name="Shape 15"/>
          <p:cNvSpPr/>
          <p:nvPr/>
        </p:nvSpPr>
        <p:spPr>
          <a:xfrm>
            <a:off x="4663440" y="1691640"/>
            <a:ext cx="411480" cy="0"/>
          </a:xfrm>
          <a:prstGeom prst="line">
            <a:avLst/>
          </a:prstGeom>
          <a:noFill/>
          <a:ln w="19050">
            <a:solidFill>
              <a:srgbClr val="657182"/>
            </a:solidFill>
            <a:prstDash val="solid"/>
            <a:headEnd type="none"/>
            <a:tailEnd type="triangle"/>
          </a:ln>
        </p:spPr>
        <p:txBody>
          <a:bodyPr/>
          <a:lstStyle/>
          <a:p>
            <a:endParaRPr lang="en-CL"/>
          </a:p>
        </p:txBody>
      </p:sp>
      <p:sp>
        <p:nvSpPr>
          <p:cNvPr id="18" name="Shape 16"/>
          <p:cNvSpPr/>
          <p:nvPr/>
        </p:nvSpPr>
        <p:spPr>
          <a:xfrm>
            <a:off x="5166360" y="1280160"/>
            <a:ext cx="1737360" cy="822960"/>
          </a:xfrm>
          <a:prstGeom prst="roundRect">
            <a:avLst>
              <a:gd name="adj" fmla="val 8889"/>
            </a:avLst>
          </a:prstGeom>
          <a:solidFill>
            <a:srgbClr val="FFFFFF"/>
          </a:solidFill>
          <a:ln w="12700">
            <a:solidFill>
              <a:srgbClr val="CAD6E0"/>
            </a:solidFill>
            <a:prstDash val="solid"/>
          </a:ln>
        </p:spPr>
        <p:txBody>
          <a:bodyPr/>
          <a:lstStyle/>
          <a:p>
            <a:endParaRPr lang="en-CL"/>
          </a:p>
        </p:txBody>
      </p:sp>
      <p:sp>
        <p:nvSpPr>
          <p:cNvPr id="19" name="Shape 17"/>
          <p:cNvSpPr/>
          <p:nvPr/>
        </p:nvSpPr>
        <p:spPr>
          <a:xfrm>
            <a:off x="5257800" y="1417320"/>
            <a:ext cx="411480" cy="411480"/>
          </a:xfrm>
          <a:prstGeom prst="ellipse">
            <a:avLst/>
          </a:prstGeom>
          <a:solidFill>
            <a:srgbClr val="1F5B99"/>
          </a:solidFill>
          <a:ln w="12700">
            <a:solidFill>
              <a:srgbClr val="1F5B99"/>
            </a:solidFill>
            <a:prstDash val="solid"/>
          </a:ln>
        </p:spPr>
        <p:txBody>
          <a:bodyPr/>
          <a:lstStyle/>
          <a:p>
            <a:endParaRPr lang="en-CL"/>
          </a:p>
        </p:txBody>
      </p:sp>
      <p:sp>
        <p:nvSpPr>
          <p:cNvPr id="20" name="Text 18"/>
          <p:cNvSpPr/>
          <p:nvPr/>
        </p:nvSpPr>
        <p:spPr>
          <a:xfrm>
            <a:off x="5257800" y="1536192"/>
            <a:ext cx="411480" cy="91440"/>
          </a:xfrm>
          <a:prstGeom prst="rect">
            <a:avLst/>
          </a:prstGeom>
          <a:noFill/>
          <a:ln/>
        </p:spPr>
        <p:txBody>
          <a:bodyPr wrap="square" lIns="0" tIns="0" rIns="0" bIns="0" rtlCol="0" anchor="ctr"/>
          <a:lstStyle/>
          <a:p>
            <a:pPr marL="0" indent="0" algn="ctr">
              <a:buNone/>
            </a:pPr>
            <a:r>
              <a:rPr lang="en-US" sz="900" b="1" dirty="0">
                <a:solidFill>
                  <a:srgbClr val="FFFFFF"/>
                </a:solidFill>
              </a:rPr>
              <a:t>3</a:t>
            </a:r>
            <a:endParaRPr lang="en-US" sz="900" dirty="0"/>
          </a:p>
        </p:txBody>
      </p:sp>
      <p:sp>
        <p:nvSpPr>
          <p:cNvPr id="21" name="Text 19"/>
          <p:cNvSpPr/>
          <p:nvPr/>
        </p:nvSpPr>
        <p:spPr>
          <a:xfrm>
            <a:off x="5760720" y="1444752"/>
            <a:ext cx="1005840" cy="320040"/>
          </a:xfrm>
          <a:prstGeom prst="rect">
            <a:avLst/>
          </a:prstGeom>
          <a:noFill/>
          <a:ln/>
        </p:spPr>
        <p:txBody>
          <a:bodyPr wrap="square" lIns="0" tIns="0" rIns="0" bIns="0" rtlCol="0" anchor="ctr">
            <a:normAutofit/>
          </a:bodyPr>
          <a:lstStyle/>
          <a:p>
            <a:pPr marL="0" indent="0">
              <a:buNone/>
            </a:pPr>
            <a:r>
              <a:rPr lang="en-US" sz="1050" dirty="0">
                <a:solidFill>
                  <a:srgbClr val="0F2742"/>
                </a:solidFill>
              </a:rPr>
              <a:t>Se genera ticket</a:t>
            </a:r>
            <a:endParaRPr lang="en-US" sz="1050" dirty="0"/>
          </a:p>
        </p:txBody>
      </p:sp>
      <p:sp>
        <p:nvSpPr>
          <p:cNvPr id="22" name="Shape 20"/>
          <p:cNvSpPr/>
          <p:nvPr/>
        </p:nvSpPr>
        <p:spPr>
          <a:xfrm>
            <a:off x="6903720" y="1691640"/>
            <a:ext cx="411480" cy="0"/>
          </a:xfrm>
          <a:prstGeom prst="line">
            <a:avLst/>
          </a:prstGeom>
          <a:noFill/>
          <a:ln w="19050">
            <a:solidFill>
              <a:srgbClr val="657182"/>
            </a:solidFill>
            <a:prstDash val="solid"/>
            <a:headEnd type="none"/>
            <a:tailEnd type="triangle"/>
          </a:ln>
        </p:spPr>
        <p:txBody>
          <a:bodyPr/>
          <a:lstStyle/>
          <a:p>
            <a:endParaRPr lang="en-CL"/>
          </a:p>
        </p:txBody>
      </p:sp>
      <p:sp>
        <p:nvSpPr>
          <p:cNvPr id="23" name="Shape 21"/>
          <p:cNvSpPr/>
          <p:nvPr/>
        </p:nvSpPr>
        <p:spPr>
          <a:xfrm>
            <a:off x="7406640" y="1280160"/>
            <a:ext cx="1737360" cy="822960"/>
          </a:xfrm>
          <a:prstGeom prst="roundRect">
            <a:avLst>
              <a:gd name="adj" fmla="val 8889"/>
            </a:avLst>
          </a:prstGeom>
          <a:solidFill>
            <a:srgbClr val="FFFFFF"/>
          </a:solidFill>
          <a:ln w="12700">
            <a:solidFill>
              <a:srgbClr val="CAD6E0"/>
            </a:solidFill>
            <a:prstDash val="solid"/>
          </a:ln>
        </p:spPr>
        <p:txBody>
          <a:bodyPr/>
          <a:lstStyle/>
          <a:p>
            <a:endParaRPr lang="en-CL"/>
          </a:p>
        </p:txBody>
      </p:sp>
      <p:sp>
        <p:nvSpPr>
          <p:cNvPr id="24" name="Shape 22"/>
          <p:cNvSpPr/>
          <p:nvPr/>
        </p:nvSpPr>
        <p:spPr>
          <a:xfrm>
            <a:off x="7498080" y="1417320"/>
            <a:ext cx="411480" cy="411480"/>
          </a:xfrm>
          <a:prstGeom prst="ellipse">
            <a:avLst/>
          </a:prstGeom>
          <a:solidFill>
            <a:srgbClr val="1F5B99"/>
          </a:solidFill>
          <a:ln w="12700">
            <a:solidFill>
              <a:srgbClr val="1F5B99"/>
            </a:solidFill>
            <a:prstDash val="solid"/>
          </a:ln>
        </p:spPr>
        <p:txBody>
          <a:bodyPr/>
          <a:lstStyle/>
          <a:p>
            <a:endParaRPr lang="en-CL"/>
          </a:p>
        </p:txBody>
      </p:sp>
      <p:sp>
        <p:nvSpPr>
          <p:cNvPr id="25" name="Text 23"/>
          <p:cNvSpPr/>
          <p:nvPr/>
        </p:nvSpPr>
        <p:spPr>
          <a:xfrm>
            <a:off x="7498080" y="1536192"/>
            <a:ext cx="411480" cy="91440"/>
          </a:xfrm>
          <a:prstGeom prst="rect">
            <a:avLst/>
          </a:prstGeom>
          <a:noFill/>
          <a:ln/>
        </p:spPr>
        <p:txBody>
          <a:bodyPr wrap="square" lIns="0" tIns="0" rIns="0" bIns="0" rtlCol="0" anchor="ctr"/>
          <a:lstStyle/>
          <a:p>
            <a:pPr marL="0" indent="0" algn="ctr">
              <a:buNone/>
            </a:pPr>
            <a:r>
              <a:rPr lang="en-US" sz="900" b="1" dirty="0">
                <a:solidFill>
                  <a:srgbClr val="FFFFFF"/>
                </a:solidFill>
              </a:rPr>
              <a:t>4</a:t>
            </a:r>
            <a:endParaRPr lang="en-US" sz="900" dirty="0"/>
          </a:p>
        </p:txBody>
      </p:sp>
      <p:sp>
        <p:nvSpPr>
          <p:cNvPr id="26" name="Text 24"/>
          <p:cNvSpPr/>
          <p:nvPr/>
        </p:nvSpPr>
        <p:spPr>
          <a:xfrm>
            <a:off x="8001000" y="1444752"/>
            <a:ext cx="1005840" cy="320040"/>
          </a:xfrm>
          <a:prstGeom prst="rect">
            <a:avLst/>
          </a:prstGeom>
          <a:noFill/>
          <a:ln/>
        </p:spPr>
        <p:txBody>
          <a:bodyPr wrap="square" lIns="0" tIns="0" rIns="0" bIns="0" rtlCol="0" anchor="ctr">
            <a:normAutofit/>
          </a:bodyPr>
          <a:lstStyle/>
          <a:p>
            <a:pPr marL="0" indent="0">
              <a:buNone/>
            </a:pPr>
            <a:r>
              <a:rPr lang="en-US" sz="1050" dirty="0">
                <a:solidFill>
                  <a:srgbClr val="0F2742"/>
                </a:solidFill>
              </a:rPr>
              <a:t>Seguimiento en sistema</a:t>
            </a:r>
            <a:endParaRPr lang="en-US" sz="1050" dirty="0"/>
          </a:p>
        </p:txBody>
      </p:sp>
      <p:sp>
        <p:nvSpPr>
          <p:cNvPr id="27" name="Shape 25"/>
          <p:cNvSpPr/>
          <p:nvPr/>
        </p:nvSpPr>
        <p:spPr>
          <a:xfrm>
            <a:off x="9144000" y="1691640"/>
            <a:ext cx="411480" cy="0"/>
          </a:xfrm>
          <a:prstGeom prst="line">
            <a:avLst/>
          </a:prstGeom>
          <a:noFill/>
          <a:ln w="19050">
            <a:solidFill>
              <a:srgbClr val="657182"/>
            </a:solidFill>
            <a:prstDash val="solid"/>
            <a:headEnd type="none"/>
            <a:tailEnd type="triangle"/>
          </a:ln>
        </p:spPr>
        <p:txBody>
          <a:bodyPr/>
          <a:lstStyle/>
          <a:p>
            <a:endParaRPr lang="en-CL"/>
          </a:p>
        </p:txBody>
      </p:sp>
      <p:sp>
        <p:nvSpPr>
          <p:cNvPr id="28" name="Shape 26"/>
          <p:cNvSpPr/>
          <p:nvPr/>
        </p:nvSpPr>
        <p:spPr>
          <a:xfrm>
            <a:off x="9646920" y="1280160"/>
            <a:ext cx="1737360" cy="822960"/>
          </a:xfrm>
          <a:prstGeom prst="roundRect">
            <a:avLst>
              <a:gd name="adj" fmla="val 8889"/>
            </a:avLst>
          </a:prstGeom>
          <a:solidFill>
            <a:srgbClr val="FFFFFF"/>
          </a:solidFill>
          <a:ln w="12700">
            <a:solidFill>
              <a:srgbClr val="CAD6E0"/>
            </a:solidFill>
            <a:prstDash val="solid"/>
          </a:ln>
        </p:spPr>
        <p:txBody>
          <a:bodyPr/>
          <a:lstStyle/>
          <a:p>
            <a:endParaRPr lang="en-CL"/>
          </a:p>
        </p:txBody>
      </p:sp>
      <p:sp>
        <p:nvSpPr>
          <p:cNvPr id="29" name="Shape 27"/>
          <p:cNvSpPr/>
          <p:nvPr/>
        </p:nvSpPr>
        <p:spPr>
          <a:xfrm>
            <a:off x="9738360" y="1417320"/>
            <a:ext cx="411480" cy="411480"/>
          </a:xfrm>
          <a:prstGeom prst="ellipse">
            <a:avLst/>
          </a:prstGeom>
          <a:solidFill>
            <a:srgbClr val="1F5B99"/>
          </a:solidFill>
          <a:ln w="12700">
            <a:solidFill>
              <a:srgbClr val="1F5B99"/>
            </a:solidFill>
            <a:prstDash val="solid"/>
          </a:ln>
        </p:spPr>
        <p:txBody>
          <a:bodyPr/>
          <a:lstStyle/>
          <a:p>
            <a:endParaRPr lang="en-CL"/>
          </a:p>
        </p:txBody>
      </p:sp>
      <p:sp>
        <p:nvSpPr>
          <p:cNvPr id="30" name="Text 28"/>
          <p:cNvSpPr/>
          <p:nvPr/>
        </p:nvSpPr>
        <p:spPr>
          <a:xfrm>
            <a:off x="9738360" y="1536192"/>
            <a:ext cx="411480" cy="91440"/>
          </a:xfrm>
          <a:prstGeom prst="rect">
            <a:avLst/>
          </a:prstGeom>
          <a:noFill/>
          <a:ln/>
        </p:spPr>
        <p:txBody>
          <a:bodyPr wrap="square" lIns="0" tIns="0" rIns="0" bIns="0" rtlCol="0" anchor="ctr"/>
          <a:lstStyle/>
          <a:p>
            <a:pPr marL="0" indent="0" algn="ctr">
              <a:buNone/>
            </a:pPr>
            <a:r>
              <a:rPr lang="en-US" sz="900" b="1" dirty="0">
                <a:solidFill>
                  <a:srgbClr val="FFFFFF"/>
                </a:solidFill>
              </a:rPr>
              <a:t>5</a:t>
            </a:r>
            <a:endParaRPr lang="en-US" sz="900" dirty="0"/>
          </a:p>
        </p:txBody>
      </p:sp>
      <p:sp>
        <p:nvSpPr>
          <p:cNvPr id="31" name="Text 29"/>
          <p:cNvSpPr/>
          <p:nvPr/>
        </p:nvSpPr>
        <p:spPr>
          <a:xfrm>
            <a:off x="10241280" y="1444752"/>
            <a:ext cx="1005840" cy="320040"/>
          </a:xfrm>
          <a:prstGeom prst="rect">
            <a:avLst/>
          </a:prstGeom>
          <a:noFill/>
          <a:ln/>
        </p:spPr>
        <p:txBody>
          <a:bodyPr wrap="square" lIns="0" tIns="0" rIns="0" bIns="0" rtlCol="0" anchor="ctr">
            <a:normAutofit fontScale="85000" lnSpcReduction="10000"/>
          </a:bodyPr>
          <a:lstStyle/>
          <a:p>
            <a:pPr marL="0" indent="0">
              <a:buNone/>
            </a:pPr>
            <a:r>
              <a:rPr lang="en-US" sz="1050" dirty="0">
                <a:solidFill>
                  <a:srgbClr val="0F2742"/>
                </a:solidFill>
              </a:rPr>
              <a:t>Cierre y respuesta por correo</a:t>
            </a:r>
            <a:endParaRPr lang="en-US" sz="1050" dirty="0"/>
          </a:p>
        </p:txBody>
      </p:sp>
      <p:sp>
        <p:nvSpPr>
          <p:cNvPr id="32" name="Shape 30"/>
          <p:cNvSpPr/>
          <p:nvPr/>
        </p:nvSpPr>
        <p:spPr>
          <a:xfrm>
            <a:off x="685800" y="2743200"/>
            <a:ext cx="2468880" cy="2057400"/>
          </a:xfrm>
          <a:prstGeom prst="roundRect">
            <a:avLst>
              <a:gd name="adj" fmla="val 3556"/>
            </a:avLst>
          </a:prstGeom>
          <a:solidFill>
            <a:srgbClr val="FFFFFF"/>
          </a:solidFill>
          <a:ln w="12700">
            <a:solidFill>
              <a:srgbClr val="CAD6E0"/>
            </a:solidFill>
            <a:prstDash val="solid"/>
          </a:ln>
        </p:spPr>
        <p:txBody>
          <a:bodyPr/>
          <a:lstStyle/>
          <a:p>
            <a:endParaRPr lang="en-CL"/>
          </a:p>
        </p:txBody>
      </p:sp>
      <p:sp>
        <p:nvSpPr>
          <p:cNvPr id="33" name="Shape 31"/>
          <p:cNvSpPr/>
          <p:nvPr/>
        </p:nvSpPr>
        <p:spPr>
          <a:xfrm>
            <a:off x="685800" y="2743200"/>
            <a:ext cx="73152" cy="2057400"/>
          </a:xfrm>
          <a:prstGeom prst="rect">
            <a:avLst/>
          </a:prstGeom>
          <a:solidFill>
            <a:srgbClr val="D64545"/>
          </a:solidFill>
          <a:ln w="12700">
            <a:solidFill>
              <a:srgbClr val="D64545"/>
            </a:solidFill>
            <a:prstDash val="solid"/>
          </a:ln>
        </p:spPr>
        <p:txBody>
          <a:bodyPr/>
          <a:lstStyle/>
          <a:p>
            <a:endParaRPr lang="en-CL"/>
          </a:p>
        </p:txBody>
      </p:sp>
      <p:sp>
        <p:nvSpPr>
          <p:cNvPr id="34" name="Text 32"/>
          <p:cNvSpPr/>
          <p:nvPr/>
        </p:nvSpPr>
        <p:spPr>
          <a:xfrm>
            <a:off x="886968" y="2889504"/>
            <a:ext cx="2157984" cy="228600"/>
          </a:xfrm>
          <a:prstGeom prst="rect">
            <a:avLst/>
          </a:prstGeom>
          <a:noFill/>
          <a:ln/>
        </p:spPr>
        <p:txBody>
          <a:bodyPr wrap="square" lIns="0" tIns="0" rIns="0" bIns="0" rtlCol="0" anchor="ctr"/>
          <a:lstStyle/>
          <a:p>
            <a:pPr marL="0" indent="0">
              <a:buNone/>
            </a:pPr>
            <a:r>
              <a:rPr lang="en-US" sz="1300" b="1" dirty="0">
                <a:solidFill>
                  <a:srgbClr val="0F2742"/>
                </a:solidFill>
              </a:rPr>
              <a:t>Brecha 1</a:t>
            </a:r>
            <a:endParaRPr lang="en-US" sz="1300" dirty="0"/>
          </a:p>
        </p:txBody>
      </p:sp>
      <p:sp>
        <p:nvSpPr>
          <p:cNvPr id="35" name="Text 33"/>
          <p:cNvSpPr/>
          <p:nvPr/>
        </p:nvSpPr>
        <p:spPr>
          <a:xfrm>
            <a:off x="886968" y="3200400"/>
            <a:ext cx="2157984" cy="1508760"/>
          </a:xfrm>
          <a:prstGeom prst="rect">
            <a:avLst/>
          </a:prstGeom>
          <a:noFill/>
          <a:ln/>
        </p:spPr>
        <p:txBody>
          <a:bodyPr wrap="square" lIns="0" tIns="0" rIns="0" bIns="0" rtlCol="0" anchor="ctr">
            <a:normAutofit/>
          </a:bodyPr>
          <a:lstStyle/>
          <a:p>
            <a:pPr marL="0" indent="0">
              <a:buNone/>
            </a:pPr>
            <a:r>
              <a:rPr lang="en-US" sz="1050" dirty="0">
                <a:solidFill>
                  <a:srgbClr val="1B1F23"/>
                </a:solidFill>
              </a:rPr>
              <a:t>Dashboards limitados: jefaturas no cuentan con indicadores suficientes para gestión.</a:t>
            </a:r>
            <a:endParaRPr lang="en-US" sz="1050" dirty="0"/>
          </a:p>
        </p:txBody>
      </p:sp>
      <p:sp>
        <p:nvSpPr>
          <p:cNvPr id="36" name="Shape 34"/>
          <p:cNvSpPr/>
          <p:nvPr/>
        </p:nvSpPr>
        <p:spPr>
          <a:xfrm>
            <a:off x="3429000" y="2743200"/>
            <a:ext cx="2468880" cy="2057400"/>
          </a:xfrm>
          <a:prstGeom prst="roundRect">
            <a:avLst>
              <a:gd name="adj" fmla="val 3556"/>
            </a:avLst>
          </a:prstGeom>
          <a:solidFill>
            <a:srgbClr val="FFFFFF"/>
          </a:solidFill>
          <a:ln w="12700">
            <a:solidFill>
              <a:srgbClr val="CAD6E0"/>
            </a:solidFill>
            <a:prstDash val="solid"/>
          </a:ln>
        </p:spPr>
        <p:txBody>
          <a:bodyPr/>
          <a:lstStyle/>
          <a:p>
            <a:endParaRPr lang="en-CL"/>
          </a:p>
        </p:txBody>
      </p:sp>
      <p:sp>
        <p:nvSpPr>
          <p:cNvPr id="37" name="Shape 35"/>
          <p:cNvSpPr/>
          <p:nvPr/>
        </p:nvSpPr>
        <p:spPr>
          <a:xfrm>
            <a:off x="3429000" y="2743200"/>
            <a:ext cx="73152" cy="2057400"/>
          </a:xfrm>
          <a:prstGeom prst="rect">
            <a:avLst/>
          </a:prstGeom>
          <a:solidFill>
            <a:srgbClr val="F2994A"/>
          </a:solidFill>
          <a:ln w="12700">
            <a:solidFill>
              <a:srgbClr val="F2994A"/>
            </a:solidFill>
            <a:prstDash val="solid"/>
          </a:ln>
        </p:spPr>
        <p:txBody>
          <a:bodyPr/>
          <a:lstStyle/>
          <a:p>
            <a:endParaRPr lang="en-CL"/>
          </a:p>
        </p:txBody>
      </p:sp>
      <p:sp>
        <p:nvSpPr>
          <p:cNvPr id="38" name="Text 36"/>
          <p:cNvSpPr/>
          <p:nvPr/>
        </p:nvSpPr>
        <p:spPr>
          <a:xfrm>
            <a:off x="3630168" y="2889504"/>
            <a:ext cx="2157984" cy="228600"/>
          </a:xfrm>
          <a:prstGeom prst="rect">
            <a:avLst/>
          </a:prstGeom>
          <a:noFill/>
          <a:ln/>
        </p:spPr>
        <p:txBody>
          <a:bodyPr wrap="square" lIns="0" tIns="0" rIns="0" bIns="0" rtlCol="0" anchor="ctr"/>
          <a:lstStyle/>
          <a:p>
            <a:pPr marL="0" indent="0">
              <a:buNone/>
            </a:pPr>
            <a:r>
              <a:rPr lang="en-US" sz="1300" b="1" dirty="0">
                <a:solidFill>
                  <a:srgbClr val="0F2742"/>
                </a:solidFill>
              </a:rPr>
              <a:t>Brecha 2</a:t>
            </a:r>
            <a:endParaRPr lang="en-US" sz="1300" dirty="0"/>
          </a:p>
        </p:txBody>
      </p:sp>
      <p:sp>
        <p:nvSpPr>
          <p:cNvPr id="39" name="Text 37"/>
          <p:cNvSpPr/>
          <p:nvPr/>
        </p:nvSpPr>
        <p:spPr>
          <a:xfrm>
            <a:off x="3630168" y="3200400"/>
            <a:ext cx="2157984" cy="1508760"/>
          </a:xfrm>
          <a:prstGeom prst="rect">
            <a:avLst/>
          </a:prstGeom>
          <a:noFill/>
          <a:ln/>
        </p:spPr>
        <p:txBody>
          <a:bodyPr wrap="square" lIns="0" tIns="0" rIns="0" bIns="0" rtlCol="0" anchor="ctr">
            <a:normAutofit/>
          </a:bodyPr>
          <a:lstStyle/>
          <a:p>
            <a:pPr marL="0" indent="0">
              <a:buNone/>
            </a:pPr>
            <a:r>
              <a:rPr lang="en-US" sz="1050" dirty="0">
                <a:solidFill>
                  <a:srgbClr val="1B1F23"/>
                </a:solidFill>
              </a:rPr>
              <a:t>Extracción de datos limitada: reportes históricos requieren consolidación manual.</a:t>
            </a:r>
            <a:endParaRPr lang="en-US" sz="1050" dirty="0"/>
          </a:p>
        </p:txBody>
      </p:sp>
      <p:sp>
        <p:nvSpPr>
          <p:cNvPr id="40" name="Shape 38"/>
          <p:cNvSpPr/>
          <p:nvPr/>
        </p:nvSpPr>
        <p:spPr>
          <a:xfrm>
            <a:off x="6172200" y="2743200"/>
            <a:ext cx="2468880" cy="2057400"/>
          </a:xfrm>
          <a:prstGeom prst="roundRect">
            <a:avLst>
              <a:gd name="adj" fmla="val 3556"/>
            </a:avLst>
          </a:prstGeom>
          <a:solidFill>
            <a:srgbClr val="FFFFFF"/>
          </a:solidFill>
          <a:ln w="12700">
            <a:solidFill>
              <a:srgbClr val="CAD6E0"/>
            </a:solidFill>
            <a:prstDash val="solid"/>
          </a:ln>
        </p:spPr>
        <p:txBody>
          <a:bodyPr/>
          <a:lstStyle/>
          <a:p>
            <a:endParaRPr lang="en-CL"/>
          </a:p>
        </p:txBody>
      </p:sp>
      <p:sp>
        <p:nvSpPr>
          <p:cNvPr id="41" name="Shape 39"/>
          <p:cNvSpPr/>
          <p:nvPr/>
        </p:nvSpPr>
        <p:spPr>
          <a:xfrm>
            <a:off x="6172200" y="2743200"/>
            <a:ext cx="73152" cy="2057400"/>
          </a:xfrm>
          <a:prstGeom prst="rect">
            <a:avLst/>
          </a:prstGeom>
          <a:solidFill>
            <a:srgbClr val="F2C94C"/>
          </a:solidFill>
          <a:ln w="12700">
            <a:solidFill>
              <a:srgbClr val="F2C94C"/>
            </a:solidFill>
            <a:prstDash val="solid"/>
          </a:ln>
        </p:spPr>
        <p:txBody>
          <a:bodyPr/>
          <a:lstStyle/>
          <a:p>
            <a:endParaRPr lang="en-CL"/>
          </a:p>
        </p:txBody>
      </p:sp>
      <p:sp>
        <p:nvSpPr>
          <p:cNvPr id="42" name="Text 40"/>
          <p:cNvSpPr/>
          <p:nvPr/>
        </p:nvSpPr>
        <p:spPr>
          <a:xfrm>
            <a:off x="6373368" y="2889504"/>
            <a:ext cx="2157984" cy="228600"/>
          </a:xfrm>
          <a:prstGeom prst="rect">
            <a:avLst/>
          </a:prstGeom>
          <a:noFill/>
          <a:ln/>
        </p:spPr>
        <p:txBody>
          <a:bodyPr wrap="square" lIns="0" tIns="0" rIns="0" bIns="0" rtlCol="0" anchor="ctr"/>
          <a:lstStyle/>
          <a:p>
            <a:pPr marL="0" indent="0">
              <a:buNone/>
            </a:pPr>
            <a:r>
              <a:rPr lang="en-US" sz="1300" b="1" dirty="0">
                <a:solidFill>
                  <a:srgbClr val="0F2742"/>
                </a:solidFill>
              </a:rPr>
              <a:t>Brecha 3</a:t>
            </a:r>
            <a:endParaRPr lang="en-US" sz="1300" dirty="0"/>
          </a:p>
        </p:txBody>
      </p:sp>
      <p:sp>
        <p:nvSpPr>
          <p:cNvPr id="43" name="Text 41"/>
          <p:cNvSpPr/>
          <p:nvPr/>
        </p:nvSpPr>
        <p:spPr>
          <a:xfrm>
            <a:off x="6373368" y="3200400"/>
            <a:ext cx="2157984" cy="1508760"/>
          </a:xfrm>
          <a:prstGeom prst="rect">
            <a:avLst/>
          </a:prstGeom>
          <a:noFill/>
          <a:ln/>
        </p:spPr>
        <p:txBody>
          <a:bodyPr wrap="square" lIns="0" tIns="0" rIns="0" bIns="0" rtlCol="0" anchor="ctr">
            <a:normAutofit/>
          </a:bodyPr>
          <a:lstStyle/>
          <a:p>
            <a:pPr marL="0" indent="0">
              <a:buNone/>
            </a:pPr>
            <a:r>
              <a:rPr lang="en-US" sz="1050" dirty="0">
                <a:solidFill>
                  <a:srgbClr val="1B1F23"/>
                </a:solidFill>
              </a:rPr>
              <a:t>Alta dependencia del correo: riesgo de pérdida de información y trazabilidad parcial.</a:t>
            </a:r>
            <a:endParaRPr lang="en-US" sz="1050" dirty="0"/>
          </a:p>
        </p:txBody>
      </p:sp>
      <p:sp>
        <p:nvSpPr>
          <p:cNvPr id="44" name="Shape 42"/>
          <p:cNvSpPr/>
          <p:nvPr/>
        </p:nvSpPr>
        <p:spPr>
          <a:xfrm>
            <a:off x="8915400" y="2743200"/>
            <a:ext cx="2468880" cy="2057400"/>
          </a:xfrm>
          <a:prstGeom prst="roundRect">
            <a:avLst>
              <a:gd name="adj" fmla="val 3556"/>
            </a:avLst>
          </a:prstGeom>
          <a:solidFill>
            <a:srgbClr val="FFFFFF"/>
          </a:solidFill>
          <a:ln w="12700">
            <a:solidFill>
              <a:srgbClr val="CAD6E0"/>
            </a:solidFill>
            <a:prstDash val="solid"/>
          </a:ln>
        </p:spPr>
        <p:txBody>
          <a:bodyPr/>
          <a:lstStyle/>
          <a:p>
            <a:endParaRPr lang="en-CL"/>
          </a:p>
        </p:txBody>
      </p:sp>
      <p:sp>
        <p:nvSpPr>
          <p:cNvPr id="45" name="Shape 43"/>
          <p:cNvSpPr/>
          <p:nvPr/>
        </p:nvSpPr>
        <p:spPr>
          <a:xfrm>
            <a:off x="8915400" y="2743200"/>
            <a:ext cx="73152" cy="2057400"/>
          </a:xfrm>
          <a:prstGeom prst="rect">
            <a:avLst/>
          </a:prstGeom>
          <a:solidFill>
            <a:srgbClr val="1F5B99"/>
          </a:solidFill>
          <a:ln w="12700">
            <a:solidFill>
              <a:srgbClr val="1F5B99"/>
            </a:solidFill>
            <a:prstDash val="solid"/>
          </a:ln>
        </p:spPr>
        <p:txBody>
          <a:bodyPr/>
          <a:lstStyle/>
          <a:p>
            <a:endParaRPr lang="en-CL"/>
          </a:p>
        </p:txBody>
      </p:sp>
      <p:sp>
        <p:nvSpPr>
          <p:cNvPr id="46" name="Text 44"/>
          <p:cNvSpPr/>
          <p:nvPr/>
        </p:nvSpPr>
        <p:spPr>
          <a:xfrm>
            <a:off x="9116568" y="2889504"/>
            <a:ext cx="2157984" cy="228600"/>
          </a:xfrm>
          <a:prstGeom prst="rect">
            <a:avLst/>
          </a:prstGeom>
          <a:noFill/>
          <a:ln/>
        </p:spPr>
        <p:txBody>
          <a:bodyPr wrap="square" lIns="0" tIns="0" rIns="0" bIns="0" rtlCol="0" anchor="ctr"/>
          <a:lstStyle/>
          <a:p>
            <a:pPr marL="0" indent="0">
              <a:buNone/>
            </a:pPr>
            <a:r>
              <a:rPr lang="en-US" sz="1300" b="1" dirty="0">
                <a:solidFill>
                  <a:srgbClr val="0F2742"/>
                </a:solidFill>
              </a:rPr>
              <a:t>Brecha 4</a:t>
            </a:r>
            <a:endParaRPr lang="en-US" sz="1300" dirty="0"/>
          </a:p>
        </p:txBody>
      </p:sp>
      <p:sp>
        <p:nvSpPr>
          <p:cNvPr id="47" name="Text 45"/>
          <p:cNvSpPr/>
          <p:nvPr/>
        </p:nvSpPr>
        <p:spPr>
          <a:xfrm>
            <a:off x="9116568" y="3200400"/>
            <a:ext cx="2157984" cy="1508760"/>
          </a:xfrm>
          <a:prstGeom prst="rect">
            <a:avLst/>
          </a:prstGeom>
          <a:noFill/>
          <a:ln/>
        </p:spPr>
        <p:txBody>
          <a:bodyPr wrap="square" lIns="0" tIns="0" rIns="0" bIns="0" rtlCol="0" anchor="ctr">
            <a:normAutofit/>
          </a:bodyPr>
          <a:lstStyle/>
          <a:p>
            <a:pPr marL="0" indent="0">
              <a:buNone/>
            </a:pPr>
            <a:r>
              <a:rPr lang="en-US" sz="1050" dirty="0">
                <a:solidFill>
                  <a:srgbClr val="1B1F23"/>
                </a:solidFill>
              </a:rPr>
              <a:t>Tickets poco estandarizados: clasificación y priorización difíciles.</a:t>
            </a:r>
            <a:endParaRPr lang="en-US" sz="1050" dirty="0"/>
          </a:p>
        </p:txBody>
      </p:sp>
      <p:sp>
        <p:nvSpPr>
          <p:cNvPr id="48" name="Shape 46"/>
          <p:cNvSpPr/>
          <p:nvPr/>
        </p:nvSpPr>
        <p:spPr>
          <a:xfrm>
            <a:off x="685800" y="5257800"/>
            <a:ext cx="10698480" cy="640080"/>
          </a:xfrm>
          <a:prstGeom prst="roundRect">
            <a:avLst>
              <a:gd name="adj" fmla="val 11429"/>
            </a:avLst>
          </a:prstGeom>
          <a:solidFill>
            <a:srgbClr val="0F2742"/>
          </a:solidFill>
          <a:ln w="12700">
            <a:solidFill>
              <a:srgbClr val="0F2742"/>
            </a:solidFill>
            <a:prstDash val="solid"/>
          </a:ln>
        </p:spPr>
        <p:txBody>
          <a:bodyPr/>
          <a:lstStyle/>
          <a:p>
            <a:endParaRPr lang="en-CL"/>
          </a:p>
        </p:txBody>
      </p:sp>
      <p:sp>
        <p:nvSpPr>
          <p:cNvPr id="49" name="Text 47"/>
          <p:cNvSpPr/>
          <p:nvPr/>
        </p:nvSpPr>
        <p:spPr>
          <a:xfrm>
            <a:off x="960120" y="5504688"/>
            <a:ext cx="10149840" cy="128016"/>
          </a:xfrm>
          <a:prstGeom prst="rect">
            <a:avLst/>
          </a:prstGeom>
          <a:noFill/>
          <a:ln/>
        </p:spPr>
        <p:txBody>
          <a:bodyPr wrap="square" lIns="0" tIns="0" rIns="0" bIns="0" rtlCol="0" anchor="ctr"/>
          <a:lstStyle/>
          <a:p>
            <a:pPr marL="0" indent="0" algn="ctr">
              <a:buNone/>
            </a:pPr>
            <a:r>
              <a:rPr lang="en-US" sz="1300" b="1" dirty="0">
                <a:solidFill>
                  <a:srgbClr val="FFFFFF"/>
                </a:solidFill>
              </a:rPr>
              <a:t>Impacto operacional: gestión reactiva, mayor carga administrativa y decisiones con datos incompletos.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BBF72"/>
          </a:solidFill>
          <a:ln w="12700">
            <a:solidFill>
              <a:srgbClr val="0BBF72"/>
            </a:solidFill>
            <a:prstDash val="solid"/>
          </a:ln>
        </p:spPr>
        <p:txBody>
          <a:bodyPr/>
          <a:lstStyle/>
          <a:p>
            <a:endParaRPr lang="en-CL"/>
          </a:p>
        </p:txBody>
      </p:sp>
      <p:sp>
        <p:nvSpPr>
          <p:cNvPr id="3" name="Shape 1"/>
          <p:cNvSpPr/>
          <p:nvPr/>
        </p:nvSpPr>
        <p:spPr>
          <a:xfrm>
            <a:off x="0" y="6565392"/>
            <a:ext cx="12191695" cy="292608"/>
          </a:xfrm>
          <a:prstGeom prst="rect">
            <a:avLst/>
          </a:prstGeom>
          <a:solidFill>
            <a:srgbClr val="0F2742"/>
          </a:solidFill>
          <a:ln w="12700">
            <a:solidFill>
              <a:srgbClr val="0F2742"/>
            </a:solidFill>
            <a:prstDash val="solid"/>
          </a:ln>
        </p:spPr>
        <p:txBody>
          <a:bodyPr/>
          <a:lstStyle/>
          <a:p>
            <a:endParaRPr lang="en-CL"/>
          </a:p>
        </p:txBody>
      </p:sp>
      <p:sp>
        <p:nvSpPr>
          <p:cNvPr id="4" name="Text 2"/>
          <p:cNvSpPr/>
          <p:nvPr/>
        </p:nvSpPr>
        <p:spPr>
          <a:xfrm>
            <a:off x="502920" y="347472"/>
            <a:ext cx="10515600" cy="384048"/>
          </a:xfrm>
          <a:prstGeom prst="rect">
            <a:avLst/>
          </a:prstGeom>
          <a:noFill/>
          <a:ln/>
        </p:spPr>
        <p:txBody>
          <a:bodyPr wrap="square" lIns="0" tIns="0" rIns="0" bIns="0" rtlCol="0" anchor="ctr"/>
          <a:lstStyle/>
          <a:p>
            <a:pPr marL="0" indent="0">
              <a:buNone/>
            </a:pPr>
            <a:r>
              <a:rPr lang="en-US" sz="2600" b="1" dirty="0">
                <a:solidFill>
                  <a:srgbClr val="0F2742"/>
                </a:solidFill>
                <a:latin typeface="Arial" pitchFamily="34" charset="0"/>
                <a:ea typeface="Arial" pitchFamily="34" charset="-122"/>
                <a:cs typeface="Arial" pitchFamily="34" charset="-120"/>
              </a:rPr>
              <a:t>Objetivos y alcance del proyecto</a:t>
            </a:r>
            <a:endParaRPr lang="en-US" sz="2600" dirty="0"/>
          </a:p>
        </p:txBody>
      </p:sp>
      <p:sp>
        <p:nvSpPr>
          <p:cNvPr id="5" name="Text 3"/>
          <p:cNvSpPr/>
          <p:nvPr/>
        </p:nvSpPr>
        <p:spPr>
          <a:xfrm>
            <a:off x="521208" y="768096"/>
            <a:ext cx="10607040" cy="219456"/>
          </a:xfrm>
          <a:prstGeom prst="rect">
            <a:avLst/>
          </a:prstGeom>
          <a:noFill/>
          <a:ln/>
        </p:spPr>
        <p:txBody>
          <a:bodyPr wrap="square" lIns="0" tIns="0" rIns="0" bIns="0" rtlCol="0" anchor="ctr"/>
          <a:lstStyle/>
          <a:p>
            <a:pPr marL="0" indent="0">
              <a:buNone/>
            </a:pPr>
            <a:r>
              <a:rPr lang="en-US" sz="1050" dirty="0">
                <a:solidFill>
                  <a:srgbClr val="657182"/>
                </a:solidFill>
              </a:rPr>
              <a:t>Un MVP centrado en trazabilidad, estandarización, reportería base y control de activos TI.</a:t>
            </a:r>
            <a:endParaRPr lang="en-US" sz="1050" dirty="0"/>
          </a:p>
        </p:txBody>
      </p:sp>
      <p:sp>
        <p:nvSpPr>
          <p:cNvPr id="6" name="Text 4"/>
          <p:cNvSpPr/>
          <p:nvPr/>
        </p:nvSpPr>
        <p:spPr>
          <a:xfrm>
            <a:off x="502920" y="6611112"/>
            <a:ext cx="6583680" cy="146304"/>
          </a:xfrm>
          <a:prstGeom prst="rect">
            <a:avLst/>
          </a:prstGeom>
          <a:noFill/>
          <a:ln/>
        </p:spPr>
        <p:txBody>
          <a:bodyPr wrap="square" lIns="0" tIns="0" rIns="0" bIns="0" rtlCol="0" anchor="ctr"/>
          <a:lstStyle/>
          <a:p>
            <a:pPr marL="0" indent="0">
              <a:buNone/>
            </a:pPr>
            <a:r>
              <a:rPr lang="en-US" sz="750" dirty="0">
                <a:solidFill>
                  <a:srgbClr val="DCE7F2"/>
                </a:solidFill>
              </a:rPr>
              <a:t>TIP-INF-401 | Ingeniería en Informática | IPSS 2026</a:t>
            </a:r>
            <a:endParaRPr lang="en-US" sz="750" dirty="0"/>
          </a:p>
        </p:txBody>
      </p:sp>
      <p:sp>
        <p:nvSpPr>
          <p:cNvPr id="7" name="Text 5"/>
          <p:cNvSpPr/>
          <p:nvPr/>
        </p:nvSpPr>
        <p:spPr>
          <a:xfrm>
            <a:off x="11064240" y="6611112"/>
            <a:ext cx="640080" cy="146304"/>
          </a:xfrm>
          <a:prstGeom prst="rect">
            <a:avLst/>
          </a:prstGeom>
          <a:noFill/>
          <a:ln/>
        </p:spPr>
        <p:txBody>
          <a:bodyPr wrap="square" lIns="0" tIns="0" rIns="0" bIns="0" rtlCol="0" anchor="ctr"/>
          <a:lstStyle/>
          <a:p>
            <a:pPr marL="0" indent="0" algn="r">
              <a:buNone/>
            </a:pPr>
            <a:r>
              <a:rPr lang="en-US" sz="750" dirty="0">
                <a:solidFill>
                  <a:srgbClr val="DCE7F2"/>
                </a:solidFill>
              </a:rPr>
              <a:t>5/18</a:t>
            </a:r>
            <a:endParaRPr lang="en-US" sz="750" dirty="0"/>
          </a:p>
        </p:txBody>
      </p:sp>
      <p:sp>
        <p:nvSpPr>
          <p:cNvPr id="8" name="Shape 6"/>
          <p:cNvSpPr/>
          <p:nvPr/>
        </p:nvSpPr>
        <p:spPr>
          <a:xfrm>
            <a:off x="685800" y="1188720"/>
            <a:ext cx="5120640" cy="1188720"/>
          </a:xfrm>
          <a:prstGeom prst="roundRect">
            <a:avLst>
              <a:gd name="adj" fmla="val 7692"/>
            </a:avLst>
          </a:prstGeom>
          <a:solidFill>
            <a:srgbClr val="0F2742"/>
          </a:solidFill>
          <a:ln w="12700">
            <a:solidFill>
              <a:srgbClr val="0F2742"/>
            </a:solidFill>
            <a:prstDash val="solid"/>
          </a:ln>
        </p:spPr>
        <p:txBody>
          <a:bodyPr/>
          <a:lstStyle/>
          <a:p>
            <a:endParaRPr lang="en-CL"/>
          </a:p>
        </p:txBody>
      </p:sp>
      <p:sp>
        <p:nvSpPr>
          <p:cNvPr id="9" name="Text 7"/>
          <p:cNvSpPr/>
          <p:nvPr/>
        </p:nvSpPr>
        <p:spPr>
          <a:xfrm>
            <a:off x="914400" y="1417320"/>
            <a:ext cx="4663440" cy="228600"/>
          </a:xfrm>
          <a:prstGeom prst="rect">
            <a:avLst/>
          </a:prstGeom>
          <a:noFill/>
          <a:ln/>
        </p:spPr>
        <p:txBody>
          <a:bodyPr wrap="square" lIns="0" tIns="0" rIns="0" bIns="0" rtlCol="0" anchor="ctr"/>
          <a:lstStyle/>
          <a:p>
            <a:pPr marL="0" indent="0">
              <a:buNone/>
            </a:pPr>
            <a:r>
              <a:rPr lang="en-US" sz="1600" b="1" dirty="0">
                <a:solidFill>
                  <a:srgbClr val="FFFFFF"/>
                </a:solidFill>
              </a:rPr>
              <a:t>Objetivo general SMART</a:t>
            </a:r>
            <a:endParaRPr lang="en-US" sz="1600" dirty="0"/>
          </a:p>
        </p:txBody>
      </p:sp>
      <p:sp>
        <p:nvSpPr>
          <p:cNvPr id="10" name="Text 8"/>
          <p:cNvSpPr/>
          <p:nvPr/>
        </p:nvSpPr>
        <p:spPr>
          <a:xfrm>
            <a:off x="914400" y="1737360"/>
            <a:ext cx="4572000" cy="420624"/>
          </a:xfrm>
          <a:prstGeom prst="rect">
            <a:avLst/>
          </a:prstGeom>
          <a:noFill/>
          <a:ln/>
        </p:spPr>
        <p:txBody>
          <a:bodyPr wrap="square" lIns="0" tIns="0" rIns="0" bIns="0" rtlCol="0" anchor="ctr">
            <a:normAutofit fontScale="92500" lnSpcReduction="20000"/>
          </a:bodyPr>
          <a:lstStyle/>
          <a:p>
            <a:pPr marL="0" indent="0">
              <a:buNone/>
            </a:pPr>
            <a:r>
              <a:rPr lang="en-US" sz="1150" dirty="0">
                <a:solidFill>
                  <a:srgbClr val="DCE7F2"/>
                </a:solidFill>
              </a:rPr>
              <a:t>Implementar GLPI como plataforma institucional para Mesa de Ayuda y control de activos TI, reduciendo dependencia del correo y fortaleciendo trazabilidad, control y toma de decisiones.</a:t>
            </a:r>
            <a:endParaRPr lang="en-US" sz="1150" dirty="0"/>
          </a:p>
        </p:txBody>
      </p:sp>
      <p:sp>
        <p:nvSpPr>
          <p:cNvPr id="11" name="Shape 9"/>
          <p:cNvSpPr/>
          <p:nvPr/>
        </p:nvSpPr>
        <p:spPr>
          <a:xfrm>
            <a:off x="685800" y="2743200"/>
            <a:ext cx="2514600" cy="2468880"/>
          </a:xfrm>
          <a:prstGeom prst="roundRect">
            <a:avLst>
              <a:gd name="adj" fmla="val 2963"/>
            </a:avLst>
          </a:prstGeom>
          <a:solidFill>
            <a:srgbClr val="FFFFFF"/>
          </a:solidFill>
          <a:ln w="12700">
            <a:solidFill>
              <a:srgbClr val="CAD6E0"/>
            </a:solidFill>
            <a:prstDash val="solid"/>
          </a:ln>
        </p:spPr>
        <p:txBody>
          <a:bodyPr/>
          <a:lstStyle/>
          <a:p>
            <a:endParaRPr lang="en-CL"/>
          </a:p>
        </p:txBody>
      </p:sp>
      <p:sp>
        <p:nvSpPr>
          <p:cNvPr id="12" name="Shape 10"/>
          <p:cNvSpPr/>
          <p:nvPr/>
        </p:nvSpPr>
        <p:spPr>
          <a:xfrm>
            <a:off x="685800" y="2743200"/>
            <a:ext cx="73152" cy="2468880"/>
          </a:xfrm>
          <a:prstGeom prst="rect">
            <a:avLst/>
          </a:prstGeom>
          <a:solidFill>
            <a:srgbClr val="0BBF72"/>
          </a:solidFill>
          <a:ln w="12700">
            <a:solidFill>
              <a:srgbClr val="0BBF72"/>
            </a:solidFill>
            <a:prstDash val="solid"/>
          </a:ln>
        </p:spPr>
        <p:txBody>
          <a:bodyPr/>
          <a:lstStyle/>
          <a:p>
            <a:endParaRPr lang="en-CL"/>
          </a:p>
        </p:txBody>
      </p:sp>
      <p:sp>
        <p:nvSpPr>
          <p:cNvPr id="13" name="Text 11"/>
          <p:cNvSpPr/>
          <p:nvPr/>
        </p:nvSpPr>
        <p:spPr>
          <a:xfrm>
            <a:off x="886968" y="2889504"/>
            <a:ext cx="2203704" cy="228600"/>
          </a:xfrm>
          <a:prstGeom prst="rect">
            <a:avLst/>
          </a:prstGeom>
          <a:noFill/>
          <a:ln/>
        </p:spPr>
        <p:txBody>
          <a:bodyPr wrap="square" lIns="0" tIns="0" rIns="0" bIns="0" rtlCol="0" anchor="ctr"/>
          <a:lstStyle/>
          <a:p>
            <a:pPr marL="0" indent="0">
              <a:buNone/>
            </a:pPr>
            <a:r>
              <a:rPr lang="en-US" sz="1300" b="1" dirty="0">
                <a:solidFill>
                  <a:srgbClr val="0F2742"/>
                </a:solidFill>
              </a:rPr>
              <a:t>Objetivos específicos</a:t>
            </a:r>
            <a:endParaRPr lang="en-US" sz="1300" dirty="0"/>
          </a:p>
        </p:txBody>
      </p:sp>
      <p:sp>
        <p:nvSpPr>
          <p:cNvPr id="14" name="Text 12"/>
          <p:cNvSpPr/>
          <p:nvPr/>
        </p:nvSpPr>
        <p:spPr>
          <a:xfrm>
            <a:off x="886968" y="3200400"/>
            <a:ext cx="2203704" cy="1920240"/>
          </a:xfrm>
          <a:prstGeom prst="rect">
            <a:avLst/>
          </a:prstGeom>
          <a:noFill/>
          <a:ln/>
        </p:spPr>
        <p:txBody>
          <a:bodyPr wrap="square" lIns="0" tIns="0" rIns="0" bIns="0" rtlCol="0" anchor="ctr">
            <a:normAutofit/>
          </a:bodyPr>
          <a:lstStyle/>
          <a:p>
            <a:pPr marL="0" indent="0">
              <a:buNone/>
            </a:pPr>
            <a:r>
              <a:rPr lang="en-US" sz="1050" dirty="0">
                <a:solidFill>
                  <a:srgbClr val="1B1F23"/>
                </a:solidFill>
              </a:rPr>
              <a:t>1. Centralizar tickets</a:t>
            </a:r>
            <a:endParaRPr lang="en-US" sz="1050" dirty="0"/>
          </a:p>
          <a:p>
            <a:pPr marL="0" indent="0">
              <a:buNone/>
            </a:pPr>
            <a:r>
              <a:rPr lang="en-US" sz="1050" dirty="0">
                <a:solidFill>
                  <a:srgbClr val="1B1F23"/>
                </a:solidFill>
              </a:rPr>
              <a:t>2. Estandarizar formularios</a:t>
            </a:r>
            <a:endParaRPr lang="en-US" sz="1050" dirty="0"/>
          </a:p>
          <a:p>
            <a:pPr marL="0" indent="0">
              <a:buNone/>
            </a:pPr>
            <a:r>
              <a:rPr lang="en-US" sz="1050" dirty="0">
                <a:solidFill>
                  <a:srgbClr val="1B1F23"/>
                </a:solidFill>
              </a:rPr>
              <a:t>3. Gestionar activos TI</a:t>
            </a:r>
            <a:endParaRPr lang="en-US" sz="1050" dirty="0"/>
          </a:p>
          <a:p>
            <a:pPr marL="0" indent="0">
              <a:buNone/>
            </a:pPr>
            <a:r>
              <a:rPr lang="en-US" sz="1050" dirty="0">
                <a:solidFill>
                  <a:srgbClr val="1B1F23"/>
                </a:solidFill>
              </a:rPr>
              <a:t>4. Habilitar dashboards</a:t>
            </a:r>
            <a:endParaRPr lang="en-US" sz="1050" dirty="0"/>
          </a:p>
          <a:p>
            <a:pPr marL="0" indent="0">
              <a:buNone/>
            </a:pPr>
            <a:r>
              <a:rPr lang="en-US" sz="1050" dirty="0">
                <a:solidFill>
                  <a:srgbClr val="1B1F23"/>
                </a:solidFill>
              </a:rPr>
              <a:t>5. Validar con usuarios clave</a:t>
            </a:r>
            <a:endParaRPr lang="en-US" sz="1050" dirty="0"/>
          </a:p>
        </p:txBody>
      </p:sp>
      <p:sp>
        <p:nvSpPr>
          <p:cNvPr id="15" name="Shape 13"/>
          <p:cNvSpPr/>
          <p:nvPr/>
        </p:nvSpPr>
        <p:spPr>
          <a:xfrm>
            <a:off x="3429000" y="2743200"/>
            <a:ext cx="2514600" cy="2468880"/>
          </a:xfrm>
          <a:prstGeom prst="roundRect">
            <a:avLst>
              <a:gd name="adj" fmla="val 2963"/>
            </a:avLst>
          </a:prstGeom>
          <a:solidFill>
            <a:srgbClr val="FFFFFF"/>
          </a:solidFill>
          <a:ln w="12700">
            <a:solidFill>
              <a:srgbClr val="CAD6E0"/>
            </a:solidFill>
            <a:prstDash val="solid"/>
          </a:ln>
        </p:spPr>
        <p:txBody>
          <a:bodyPr/>
          <a:lstStyle/>
          <a:p>
            <a:endParaRPr lang="en-CL"/>
          </a:p>
        </p:txBody>
      </p:sp>
      <p:sp>
        <p:nvSpPr>
          <p:cNvPr id="16" name="Shape 14"/>
          <p:cNvSpPr/>
          <p:nvPr/>
        </p:nvSpPr>
        <p:spPr>
          <a:xfrm>
            <a:off x="3429000" y="2743200"/>
            <a:ext cx="73152" cy="2468880"/>
          </a:xfrm>
          <a:prstGeom prst="rect">
            <a:avLst/>
          </a:prstGeom>
          <a:solidFill>
            <a:srgbClr val="1F5B99"/>
          </a:solidFill>
          <a:ln w="12700">
            <a:solidFill>
              <a:srgbClr val="1F5B99"/>
            </a:solidFill>
            <a:prstDash val="solid"/>
          </a:ln>
        </p:spPr>
        <p:txBody>
          <a:bodyPr/>
          <a:lstStyle/>
          <a:p>
            <a:endParaRPr lang="en-CL"/>
          </a:p>
        </p:txBody>
      </p:sp>
      <p:sp>
        <p:nvSpPr>
          <p:cNvPr id="17" name="Text 15"/>
          <p:cNvSpPr/>
          <p:nvPr/>
        </p:nvSpPr>
        <p:spPr>
          <a:xfrm>
            <a:off x="3630168" y="2889504"/>
            <a:ext cx="2203704" cy="228600"/>
          </a:xfrm>
          <a:prstGeom prst="rect">
            <a:avLst/>
          </a:prstGeom>
          <a:noFill/>
          <a:ln/>
        </p:spPr>
        <p:txBody>
          <a:bodyPr wrap="square" lIns="0" tIns="0" rIns="0" bIns="0" rtlCol="0" anchor="ctr"/>
          <a:lstStyle/>
          <a:p>
            <a:pPr marL="0" indent="0">
              <a:buNone/>
            </a:pPr>
            <a:r>
              <a:rPr lang="en-US" sz="1300" b="1" dirty="0">
                <a:solidFill>
                  <a:srgbClr val="0F2742"/>
                </a:solidFill>
              </a:rPr>
              <a:t>Dentro del alcance</a:t>
            </a:r>
            <a:endParaRPr lang="en-US" sz="1300" dirty="0"/>
          </a:p>
        </p:txBody>
      </p:sp>
      <p:sp>
        <p:nvSpPr>
          <p:cNvPr id="18" name="Text 16"/>
          <p:cNvSpPr/>
          <p:nvPr/>
        </p:nvSpPr>
        <p:spPr>
          <a:xfrm>
            <a:off x="3630168" y="3200400"/>
            <a:ext cx="2203704" cy="1920240"/>
          </a:xfrm>
          <a:prstGeom prst="rect">
            <a:avLst/>
          </a:prstGeom>
          <a:noFill/>
          <a:ln/>
        </p:spPr>
        <p:txBody>
          <a:bodyPr wrap="square" lIns="0" tIns="0" rIns="0" bIns="0" rtlCol="0" anchor="ctr">
            <a:normAutofit/>
          </a:bodyPr>
          <a:lstStyle/>
          <a:p>
            <a:pPr marL="0" indent="0">
              <a:buNone/>
            </a:pPr>
            <a:r>
              <a:rPr lang="en-US" sz="1050" dirty="0">
                <a:solidFill>
                  <a:srgbClr val="1B1F23"/>
                </a:solidFill>
              </a:rPr>
              <a:t>VM + GLPI</a:t>
            </a:r>
            <a:endParaRPr lang="en-US" sz="1050" dirty="0"/>
          </a:p>
          <a:p>
            <a:pPr marL="0" indent="0">
              <a:buNone/>
            </a:pPr>
            <a:r>
              <a:rPr lang="en-US" sz="1050" dirty="0">
                <a:solidFill>
                  <a:srgbClr val="1B1F23"/>
                </a:solidFill>
              </a:rPr>
              <a:t>Perfiles y catálogos</a:t>
            </a:r>
            <a:endParaRPr lang="en-US" sz="1050" dirty="0"/>
          </a:p>
          <a:p>
            <a:pPr marL="0" indent="0">
              <a:buNone/>
            </a:pPr>
            <a:r>
              <a:rPr lang="en-US" sz="1050" dirty="0">
                <a:solidFill>
                  <a:srgbClr val="1B1F23"/>
                </a:solidFill>
              </a:rPr>
              <a:t>Flujo de tickets</a:t>
            </a:r>
            <a:endParaRPr lang="en-US" sz="1050" dirty="0"/>
          </a:p>
          <a:p>
            <a:pPr marL="0" indent="0">
              <a:buNone/>
            </a:pPr>
            <a:r>
              <a:rPr lang="en-US" sz="1050" dirty="0">
                <a:solidFill>
                  <a:srgbClr val="1B1F23"/>
                </a:solidFill>
              </a:rPr>
              <a:t>Activos TI</a:t>
            </a:r>
            <a:endParaRPr lang="en-US" sz="1050" dirty="0"/>
          </a:p>
          <a:p>
            <a:pPr marL="0" indent="0">
              <a:buNone/>
            </a:pPr>
            <a:r>
              <a:rPr lang="en-US" sz="1050" dirty="0">
                <a:solidFill>
                  <a:srgbClr val="1B1F23"/>
                </a:solidFill>
              </a:rPr>
              <a:t>Dashboards base</a:t>
            </a:r>
            <a:endParaRPr lang="en-US" sz="1050" dirty="0"/>
          </a:p>
          <a:p>
            <a:pPr marL="0" indent="0">
              <a:buNone/>
            </a:pPr>
            <a:r>
              <a:rPr lang="en-US" sz="1050" dirty="0">
                <a:solidFill>
                  <a:srgbClr val="1B1F23"/>
                </a:solidFill>
              </a:rPr>
              <a:t>Pruebas y documentación</a:t>
            </a:r>
            <a:endParaRPr lang="en-US" sz="1050" dirty="0"/>
          </a:p>
        </p:txBody>
      </p:sp>
      <p:sp>
        <p:nvSpPr>
          <p:cNvPr id="19" name="Shape 17"/>
          <p:cNvSpPr/>
          <p:nvPr/>
        </p:nvSpPr>
        <p:spPr>
          <a:xfrm>
            <a:off x="6172200" y="2743200"/>
            <a:ext cx="2514600" cy="2468880"/>
          </a:xfrm>
          <a:prstGeom prst="roundRect">
            <a:avLst>
              <a:gd name="adj" fmla="val 2963"/>
            </a:avLst>
          </a:prstGeom>
          <a:solidFill>
            <a:srgbClr val="FFFFFF"/>
          </a:solidFill>
          <a:ln w="12700">
            <a:solidFill>
              <a:srgbClr val="CAD6E0"/>
            </a:solidFill>
            <a:prstDash val="solid"/>
          </a:ln>
        </p:spPr>
        <p:txBody>
          <a:bodyPr/>
          <a:lstStyle/>
          <a:p>
            <a:endParaRPr lang="en-CL"/>
          </a:p>
        </p:txBody>
      </p:sp>
      <p:sp>
        <p:nvSpPr>
          <p:cNvPr id="20" name="Shape 18"/>
          <p:cNvSpPr/>
          <p:nvPr/>
        </p:nvSpPr>
        <p:spPr>
          <a:xfrm>
            <a:off x="6172200" y="2743200"/>
            <a:ext cx="73152" cy="2468880"/>
          </a:xfrm>
          <a:prstGeom prst="rect">
            <a:avLst/>
          </a:prstGeom>
          <a:solidFill>
            <a:srgbClr val="F2994A"/>
          </a:solidFill>
          <a:ln w="12700">
            <a:solidFill>
              <a:srgbClr val="F2994A"/>
            </a:solidFill>
            <a:prstDash val="solid"/>
          </a:ln>
        </p:spPr>
        <p:txBody>
          <a:bodyPr/>
          <a:lstStyle/>
          <a:p>
            <a:endParaRPr lang="en-CL"/>
          </a:p>
        </p:txBody>
      </p:sp>
      <p:sp>
        <p:nvSpPr>
          <p:cNvPr id="21" name="Text 19"/>
          <p:cNvSpPr/>
          <p:nvPr/>
        </p:nvSpPr>
        <p:spPr>
          <a:xfrm>
            <a:off x="6373368" y="2889504"/>
            <a:ext cx="2203704" cy="228600"/>
          </a:xfrm>
          <a:prstGeom prst="rect">
            <a:avLst/>
          </a:prstGeom>
          <a:noFill/>
          <a:ln/>
        </p:spPr>
        <p:txBody>
          <a:bodyPr wrap="square" lIns="0" tIns="0" rIns="0" bIns="0" rtlCol="0" anchor="ctr"/>
          <a:lstStyle/>
          <a:p>
            <a:pPr marL="0" indent="0">
              <a:buNone/>
            </a:pPr>
            <a:r>
              <a:rPr lang="en-US" sz="1300" b="1" dirty="0">
                <a:solidFill>
                  <a:srgbClr val="0F2742"/>
                </a:solidFill>
              </a:rPr>
              <a:t>Fuera del alcance</a:t>
            </a:r>
            <a:endParaRPr lang="en-US" sz="1300" dirty="0"/>
          </a:p>
        </p:txBody>
      </p:sp>
      <p:sp>
        <p:nvSpPr>
          <p:cNvPr id="22" name="Text 20"/>
          <p:cNvSpPr/>
          <p:nvPr/>
        </p:nvSpPr>
        <p:spPr>
          <a:xfrm>
            <a:off x="6373368" y="3200400"/>
            <a:ext cx="2203704" cy="1920240"/>
          </a:xfrm>
          <a:prstGeom prst="rect">
            <a:avLst/>
          </a:prstGeom>
          <a:noFill/>
          <a:ln/>
        </p:spPr>
        <p:txBody>
          <a:bodyPr wrap="square" lIns="0" tIns="0" rIns="0" bIns="0" rtlCol="0" anchor="ctr">
            <a:normAutofit/>
          </a:bodyPr>
          <a:lstStyle/>
          <a:p>
            <a:pPr marL="0" indent="0">
              <a:buNone/>
            </a:pPr>
            <a:r>
              <a:rPr lang="en-US" sz="1050" dirty="0">
                <a:solidFill>
                  <a:srgbClr val="1B1F23"/>
                </a:solidFill>
              </a:rPr>
              <a:t>Desarrollo a medida</a:t>
            </a:r>
            <a:endParaRPr lang="en-US" sz="1050" dirty="0"/>
          </a:p>
          <a:p>
            <a:pPr marL="0" indent="0">
              <a:buNone/>
            </a:pPr>
            <a:r>
              <a:rPr lang="en-US" sz="1050" dirty="0">
                <a:solidFill>
                  <a:srgbClr val="1B1F23"/>
                </a:solidFill>
              </a:rPr>
              <a:t>Integración profunda</a:t>
            </a:r>
            <a:endParaRPr lang="en-US" sz="1050" dirty="0"/>
          </a:p>
          <a:p>
            <a:pPr marL="0" indent="0">
              <a:buNone/>
            </a:pPr>
            <a:r>
              <a:rPr lang="en-US" sz="1050" dirty="0">
                <a:solidFill>
                  <a:srgbClr val="1B1F23"/>
                </a:solidFill>
              </a:rPr>
              <a:t>Reporterías ejecutivas avanzadas</a:t>
            </a:r>
            <a:endParaRPr lang="en-US" sz="1050" dirty="0"/>
          </a:p>
          <a:p>
            <a:pPr marL="0" indent="0">
              <a:buNone/>
            </a:pPr>
            <a:r>
              <a:rPr lang="en-US" sz="1050" dirty="0">
                <a:solidFill>
                  <a:srgbClr val="1B1F23"/>
                </a:solidFill>
              </a:rPr>
              <a:t>Migración histórica total</a:t>
            </a:r>
            <a:endParaRPr lang="en-US" sz="1050" dirty="0"/>
          </a:p>
          <a:p>
            <a:pPr marL="0" indent="0">
              <a:buNone/>
            </a:pPr>
            <a:r>
              <a:rPr lang="en-US" sz="1050" dirty="0">
                <a:solidFill>
                  <a:srgbClr val="1B1F23"/>
                </a:solidFill>
              </a:rPr>
              <a:t>Automatizaciones complejas</a:t>
            </a:r>
            <a:endParaRPr lang="en-US" sz="1050" dirty="0"/>
          </a:p>
        </p:txBody>
      </p:sp>
      <p:sp>
        <p:nvSpPr>
          <p:cNvPr id="23" name="Shape 21"/>
          <p:cNvSpPr/>
          <p:nvPr/>
        </p:nvSpPr>
        <p:spPr>
          <a:xfrm>
            <a:off x="8915400" y="2743200"/>
            <a:ext cx="2514600" cy="2468880"/>
          </a:xfrm>
          <a:prstGeom prst="roundRect">
            <a:avLst>
              <a:gd name="adj" fmla="val 2963"/>
            </a:avLst>
          </a:prstGeom>
          <a:solidFill>
            <a:srgbClr val="FFFFFF"/>
          </a:solidFill>
          <a:ln w="12700">
            <a:solidFill>
              <a:srgbClr val="CAD6E0"/>
            </a:solidFill>
            <a:prstDash val="solid"/>
          </a:ln>
        </p:spPr>
        <p:txBody>
          <a:bodyPr/>
          <a:lstStyle/>
          <a:p>
            <a:endParaRPr lang="en-CL"/>
          </a:p>
        </p:txBody>
      </p:sp>
      <p:sp>
        <p:nvSpPr>
          <p:cNvPr id="24" name="Shape 22"/>
          <p:cNvSpPr/>
          <p:nvPr/>
        </p:nvSpPr>
        <p:spPr>
          <a:xfrm>
            <a:off x="8915400" y="2743200"/>
            <a:ext cx="73152" cy="2468880"/>
          </a:xfrm>
          <a:prstGeom prst="rect">
            <a:avLst/>
          </a:prstGeom>
          <a:solidFill>
            <a:srgbClr val="2EA7D6"/>
          </a:solidFill>
          <a:ln w="12700">
            <a:solidFill>
              <a:srgbClr val="2EA7D6"/>
            </a:solidFill>
            <a:prstDash val="solid"/>
          </a:ln>
        </p:spPr>
        <p:txBody>
          <a:bodyPr/>
          <a:lstStyle/>
          <a:p>
            <a:endParaRPr lang="en-CL"/>
          </a:p>
        </p:txBody>
      </p:sp>
      <p:sp>
        <p:nvSpPr>
          <p:cNvPr id="25" name="Text 23"/>
          <p:cNvSpPr/>
          <p:nvPr/>
        </p:nvSpPr>
        <p:spPr>
          <a:xfrm>
            <a:off x="9116568" y="2889504"/>
            <a:ext cx="2203704" cy="228600"/>
          </a:xfrm>
          <a:prstGeom prst="rect">
            <a:avLst/>
          </a:prstGeom>
          <a:noFill/>
          <a:ln/>
        </p:spPr>
        <p:txBody>
          <a:bodyPr wrap="square" lIns="0" tIns="0" rIns="0" bIns="0" rtlCol="0" anchor="ctr"/>
          <a:lstStyle/>
          <a:p>
            <a:pPr marL="0" indent="0">
              <a:buNone/>
            </a:pPr>
            <a:r>
              <a:rPr lang="en-US" sz="1300" b="1" dirty="0">
                <a:solidFill>
                  <a:srgbClr val="0F2742"/>
                </a:solidFill>
              </a:rPr>
              <a:t>Criterio MVP</a:t>
            </a:r>
            <a:endParaRPr lang="en-US" sz="1300" dirty="0"/>
          </a:p>
        </p:txBody>
      </p:sp>
      <p:sp>
        <p:nvSpPr>
          <p:cNvPr id="26" name="Text 24"/>
          <p:cNvSpPr/>
          <p:nvPr/>
        </p:nvSpPr>
        <p:spPr>
          <a:xfrm>
            <a:off x="9116568" y="3200400"/>
            <a:ext cx="2203704" cy="1920240"/>
          </a:xfrm>
          <a:prstGeom prst="rect">
            <a:avLst/>
          </a:prstGeom>
          <a:noFill/>
          <a:ln/>
        </p:spPr>
        <p:txBody>
          <a:bodyPr wrap="square" lIns="0" tIns="0" rIns="0" bIns="0" rtlCol="0" anchor="ctr">
            <a:normAutofit/>
          </a:bodyPr>
          <a:lstStyle/>
          <a:p>
            <a:pPr marL="0" indent="0">
              <a:buNone/>
            </a:pPr>
            <a:r>
              <a:rPr lang="en-US" sz="1050" dirty="0">
                <a:solidFill>
                  <a:srgbClr val="1B1F23"/>
                </a:solidFill>
              </a:rPr>
              <a:t>Resolver lo crítico primero: trazabilidad, formularios, inventario básico, reportería operativa y evidencia funcional.</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BBF72"/>
          </a:solidFill>
          <a:ln w="12700">
            <a:solidFill>
              <a:srgbClr val="0BBF72"/>
            </a:solidFill>
            <a:prstDash val="solid"/>
          </a:ln>
        </p:spPr>
        <p:txBody>
          <a:bodyPr/>
          <a:lstStyle/>
          <a:p>
            <a:endParaRPr lang="en-CL"/>
          </a:p>
        </p:txBody>
      </p:sp>
      <p:sp>
        <p:nvSpPr>
          <p:cNvPr id="3" name="Shape 1"/>
          <p:cNvSpPr/>
          <p:nvPr/>
        </p:nvSpPr>
        <p:spPr>
          <a:xfrm>
            <a:off x="0" y="6565392"/>
            <a:ext cx="12191695" cy="292608"/>
          </a:xfrm>
          <a:prstGeom prst="rect">
            <a:avLst/>
          </a:prstGeom>
          <a:solidFill>
            <a:srgbClr val="0F2742"/>
          </a:solidFill>
          <a:ln w="12700">
            <a:solidFill>
              <a:srgbClr val="0F2742"/>
            </a:solidFill>
            <a:prstDash val="solid"/>
          </a:ln>
        </p:spPr>
        <p:txBody>
          <a:bodyPr/>
          <a:lstStyle/>
          <a:p>
            <a:endParaRPr lang="en-CL"/>
          </a:p>
        </p:txBody>
      </p:sp>
      <p:sp>
        <p:nvSpPr>
          <p:cNvPr id="4" name="Text 2"/>
          <p:cNvSpPr/>
          <p:nvPr/>
        </p:nvSpPr>
        <p:spPr>
          <a:xfrm>
            <a:off x="502920" y="347472"/>
            <a:ext cx="10515600" cy="384048"/>
          </a:xfrm>
          <a:prstGeom prst="rect">
            <a:avLst/>
          </a:prstGeom>
          <a:noFill/>
          <a:ln/>
        </p:spPr>
        <p:txBody>
          <a:bodyPr wrap="square" lIns="0" tIns="0" rIns="0" bIns="0" rtlCol="0" anchor="ctr"/>
          <a:lstStyle/>
          <a:p>
            <a:pPr marL="0" indent="0">
              <a:buNone/>
            </a:pPr>
            <a:r>
              <a:rPr lang="en-US" sz="2600" b="1" dirty="0">
                <a:solidFill>
                  <a:srgbClr val="0F2742"/>
                </a:solidFill>
                <a:latin typeface="Arial" pitchFamily="34" charset="0"/>
                <a:ea typeface="Arial" pitchFamily="34" charset="-122"/>
                <a:cs typeface="Arial" pitchFamily="34" charset="-120"/>
              </a:rPr>
              <a:t>MVP: funcionalidades principales</a:t>
            </a:r>
            <a:endParaRPr lang="en-US" sz="2600" dirty="0"/>
          </a:p>
        </p:txBody>
      </p:sp>
      <p:sp>
        <p:nvSpPr>
          <p:cNvPr id="5" name="Text 3"/>
          <p:cNvSpPr/>
          <p:nvPr/>
        </p:nvSpPr>
        <p:spPr>
          <a:xfrm>
            <a:off x="521208" y="768096"/>
            <a:ext cx="10607040" cy="219456"/>
          </a:xfrm>
          <a:prstGeom prst="rect">
            <a:avLst/>
          </a:prstGeom>
          <a:noFill/>
          <a:ln/>
        </p:spPr>
        <p:txBody>
          <a:bodyPr wrap="square" lIns="0" tIns="0" rIns="0" bIns="0" rtlCol="0" anchor="ctr"/>
          <a:lstStyle/>
          <a:p>
            <a:pPr marL="0" indent="0">
              <a:buNone/>
            </a:pPr>
            <a:r>
              <a:rPr lang="en-US" sz="1050" dirty="0">
                <a:solidFill>
                  <a:srgbClr val="657182"/>
                </a:solidFill>
              </a:rPr>
              <a:t>El núcleo funcional conecta solicitud, soporte, activo y reportería.</a:t>
            </a:r>
            <a:endParaRPr lang="en-US" sz="1050" dirty="0"/>
          </a:p>
        </p:txBody>
      </p:sp>
      <p:sp>
        <p:nvSpPr>
          <p:cNvPr id="6" name="Text 4"/>
          <p:cNvSpPr/>
          <p:nvPr/>
        </p:nvSpPr>
        <p:spPr>
          <a:xfrm>
            <a:off x="502920" y="6611112"/>
            <a:ext cx="6583680" cy="146304"/>
          </a:xfrm>
          <a:prstGeom prst="rect">
            <a:avLst/>
          </a:prstGeom>
          <a:noFill/>
          <a:ln/>
        </p:spPr>
        <p:txBody>
          <a:bodyPr wrap="square" lIns="0" tIns="0" rIns="0" bIns="0" rtlCol="0" anchor="ctr"/>
          <a:lstStyle/>
          <a:p>
            <a:pPr marL="0" indent="0">
              <a:buNone/>
            </a:pPr>
            <a:r>
              <a:rPr lang="en-US" sz="750" dirty="0">
                <a:solidFill>
                  <a:srgbClr val="DCE7F2"/>
                </a:solidFill>
              </a:rPr>
              <a:t>TIP-INF-401 | Ingeniería en Informática | IPSS 2026</a:t>
            </a:r>
            <a:endParaRPr lang="en-US" sz="750" dirty="0"/>
          </a:p>
        </p:txBody>
      </p:sp>
      <p:sp>
        <p:nvSpPr>
          <p:cNvPr id="7" name="Text 5"/>
          <p:cNvSpPr/>
          <p:nvPr/>
        </p:nvSpPr>
        <p:spPr>
          <a:xfrm>
            <a:off x="11064240" y="6611112"/>
            <a:ext cx="640080" cy="146304"/>
          </a:xfrm>
          <a:prstGeom prst="rect">
            <a:avLst/>
          </a:prstGeom>
          <a:noFill/>
          <a:ln/>
        </p:spPr>
        <p:txBody>
          <a:bodyPr wrap="square" lIns="0" tIns="0" rIns="0" bIns="0" rtlCol="0" anchor="ctr"/>
          <a:lstStyle/>
          <a:p>
            <a:pPr marL="0" indent="0" algn="r">
              <a:buNone/>
            </a:pPr>
            <a:r>
              <a:rPr lang="en-US" sz="750" dirty="0">
                <a:solidFill>
                  <a:srgbClr val="DCE7F2"/>
                </a:solidFill>
              </a:rPr>
              <a:t>6/18</a:t>
            </a:r>
            <a:endParaRPr lang="en-US" sz="750" dirty="0"/>
          </a:p>
        </p:txBody>
      </p:sp>
      <p:sp>
        <p:nvSpPr>
          <p:cNvPr id="8" name="Shape 6"/>
          <p:cNvSpPr/>
          <p:nvPr/>
        </p:nvSpPr>
        <p:spPr>
          <a:xfrm>
            <a:off x="731520" y="1371600"/>
            <a:ext cx="1737360" cy="777240"/>
          </a:xfrm>
          <a:prstGeom prst="roundRect">
            <a:avLst>
              <a:gd name="adj" fmla="val 9412"/>
            </a:avLst>
          </a:prstGeom>
          <a:solidFill>
            <a:srgbClr val="1F5B99"/>
          </a:solidFill>
          <a:ln w="12700">
            <a:solidFill>
              <a:srgbClr val="1F5B99"/>
            </a:solidFill>
            <a:prstDash val="solid"/>
          </a:ln>
        </p:spPr>
        <p:txBody>
          <a:bodyPr/>
          <a:lstStyle/>
          <a:p>
            <a:endParaRPr lang="en-CL"/>
          </a:p>
        </p:txBody>
      </p:sp>
      <p:sp>
        <p:nvSpPr>
          <p:cNvPr id="9" name="Text 7"/>
          <p:cNvSpPr/>
          <p:nvPr/>
        </p:nvSpPr>
        <p:spPr>
          <a:xfrm>
            <a:off x="841248" y="1572768"/>
            <a:ext cx="1517904" cy="228600"/>
          </a:xfrm>
          <a:prstGeom prst="rect">
            <a:avLst/>
          </a:prstGeom>
          <a:noFill/>
          <a:ln/>
        </p:spPr>
        <p:txBody>
          <a:bodyPr wrap="square" lIns="0" tIns="0" rIns="0" bIns="0" rtlCol="0" anchor="ctr">
            <a:normAutofit fontScale="92500"/>
          </a:bodyPr>
          <a:lstStyle/>
          <a:p>
            <a:pPr marL="0" indent="0" algn="ctr">
              <a:buNone/>
            </a:pPr>
            <a:r>
              <a:rPr lang="en-US" sz="1050" b="1" dirty="0">
                <a:solidFill>
                  <a:srgbClr val="FFFFFF"/>
                </a:solidFill>
              </a:rPr>
              <a:t>Formulario estructurado</a:t>
            </a:r>
            <a:endParaRPr lang="en-US" sz="1050" dirty="0"/>
          </a:p>
        </p:txBody>
      </p:sp>
      <p:sp>
        <p:nvSpPr>
          <p:cNvPr id="10" name="Shape 8"/>
          <p:cNvSpPr/>
          <p:nvPr/>
        </p:nvSpPr>
        <p:spPr>
          <a:xfrm>
            <a:off x="2468880" y="1755648"/>
            <a:ext cx="502920" cy="0"/>
          </a:xfrm>
          <a:prstGeom prst="line">
            <a:avLst/>
          </a:prstGeom>
          <a:noFill/>
          <a:ln w="19050">
            <a:solidFill>
              <a:srgbClr val="657182"/>
            </a:solidFill>
            <a:prstDash val="solid"/>
            <a:headEnd type="none"/>
            <a:tailEnd type="triangle"/>
          </a:ln>
        </p:spPr>
        <p:txBody>
          <a:bodyPr/>
          <a:lstStyle/>
          <a:p>
            <a:endParaRPr lang="en-CL"/>
          </a:p>
        </p:txBody>
      </p:sp>
      <p:sp>
        <p:nvSpPr>
          <p:cNvPr id="11" name="Shape 9"/>
          <p:cNvSpPr/>
          <p:nvPr/>
        </p:nvSpPr>
        <p:spPr>
          <a:xfrm>
            <a:off x="3017520" y="1371600"/>
            <a:ext cx="1737360" cy="777240"/>
          </a:xfrm>
          <a:prstGeom prst="roundRect">
            <a:avLst>
              <a:gd name="adj" fmla="val 9412"/>
            </a:avLst>
          </a:prstGeom>
          <a:solidFill>
            <a:srgbClr val="0BBF72"/>
          </a:solidFill>
          <a:ln w="12700">
            <a:solidFill>
              <a:srgbClr val="0BBF72"/>
            </a:solidFill>
            <a:prstDash val="solid"/>
          </a:ln>
        </p:spPr>
        <p:txBody>
          <a:bodyPr/>
          <a:lstStyle/>
          <a:p>
            <a:endParaRPr lang="en-CL"/>
          </a:p>
        </p:txBody>
      </p:sp>
      <p:sp>
        <p:nvSpPr>
          <p:cNvPr id="12" name="Text 10"/>
          <p:cNvSpPr/>
          <p:nvPr/>
        </p:nvSpPr>
        <p:spPr>
          <a:xfrm>
            <a:off x="3127248" y="1572768"/>
            <a:ext cx="1517904" cy="228600"/>
          </a:xfrm>
          <a:prstGeom prst="rect">
            <a:avLst/>
          </a:prstGeom>
          <a:noFill/>
          <a:ln/>
        </p:spPr>
        <p:txBody>
          <a:bodyPr wrap="square" lIns="0" tIns="0" rIns="0" bIns="0" rtlCol="0" anchor="ctr">
            <a:normAutofit/>
          </a:bodyPr>
          <a:lstStyle/>
          <a:p>
            <a:pPr marL="0" indent="0" algn="ctr">
              <a:buNone/>
            </a:pPr>
            <a:r>
              <a:rPr lang="en-US" sz="1050" b="1" dirty="0">
                <a:solidFill>
                  <a:srgbClr val="FFFFFF"/>
                </a:solidFill>
              </a:rPr>
              <a:t>Gestión ciclo de vida</a:t>
            </a:r>
            <a:endParaRPr lang="en-US" sz="1050" dirty="0"/>
          </a:p>
        </p:txBody>
      </p:sp>
      <p:sp>
        <p:nvSpPr>
          <p:cNvPr id="13" name="Shape 11"/>
          <p:cNvSpPr/>
          <p:nvPr/>
        </p:nvSpPr>
        <p:spPr>
          <a:xfrm>
            <a:off x="4754880" y="1755648"/>
            <a:ext cx="502920" cy="0"/>
          </a:xfrm>
          <a:prstGeom prst="line">
            <a:avLst/>
          </a:prstGeom>
          <a:noFill/>
          <a:ln w="19050">
            <a:solidFill>
              <a:srgbClr val="657182"/>
            </a:solidFill>
            <a:prstDash val="solid"/>
            <a:headEnd type="none"/>
            <a:tailEnd type="triangle"/>
          </a:ln>
        </p:spPr>
        <p:txBody>
          <a:bodyPr/>
          <a:lstStyle/>
          <a:p>
            <a:endParaRPr lang="en-CL"/>
          </a:p>
        </p:txBody>
      </p:sp>
      <p:sp>
        <p:nvSpPr>
          <p:cNvPr id="14" name="Shape 12"/>
          <p:cNvSpPr/>
          <p:nvPr/>
        </p:nvSpPr>
        <p:spPr>
          <a:xfrm>
            <a:off x="5303520" y="1371600"/>
            <a:ext cx="1737360" cy="777240"/>
          </a:xfrm>
          <a:prstGeom prst="roundRect">
            <a:avLst>
              <a:gd name="adj" fmla="val 9412"/>
            </a:avLst>
          </a:prstGeom>
          <a:solidFill>
            <a:srgbClr val="2EA7D6"/>
          </a:solidFill>
          <a:ln w="12700">
            <a:solidFill>
              <a:srgbClr val="2EA7D6"/>
            </a:solidFill>
            <a:prstDash val="solid"/>
          </a:ln>
        </p:spPr>
        <p:txBody>
          <a:bodyPr/>
          <a:lstStyle/>
          <a:p>
            <a:endParaRPr lang="en-CL"/>
          </a:p>
        </p:txBody>
      </p:sp>
      <p:sp>
        <p:nvSpPr>
          <p:cNvPr id="15" name="Text 13"/>
          <p:cNvSpPr/>
          <p:nvPr/>
        </p:nvSpPr>
        <p:spPr>
          <a:xfrm>
            <a:off x="5413248" y="1572768"/>
            <a:ext cx="1517904" cy="228600"/>
          </a:xfrm>
          <a:prstGeom prst="rect">
            <a:avLst/>
          </a:prstGeom>
          <a:noFill/>
          <a:ln/>
        </p:spPr>
        <p:txBody>
          <a:bodyPr wrap="square" lIns="0" tIns="0" rIns="0" bIns="0" rtlCol="0" anchor="ctr">
            <a:normAutofit fontScale="85000" lnSpcReduction="10000"/>
          </a:bodyPr>
          <a:lstStyle/>
          <a:p>
            <a:pPr marL="0" indent="0" algn="ctr">
              <a:buNone/>
            </a:pPr>
            <a:r>
              <a:rPr lang="en-US" sz="1050" b="1" dirty="0">
                <a:solidFill>
                  <a:srgbClr val="FFFFFF"/>
                </a:solidFill>
              </a:rPr>
              <a:t>Asignación y trazabilidad</a:t>
            </a:r>
            <a:endParaRPr lang="en-US" sz="1050" dirty="0"/>
          </a:p>
        </p:txBody>
      </p:sp>
      <p:sp>
        <p:nvSpPr>
          <p:cNvPr id="16" name="Shape 14"/>
          <p:cNvSpPr/>
          <p:nvPr/>
        </p:nvSpPr>
        <p:spPr>
          <a:xfrm>
            <a:off x="7040880" y="1755648"/>
            <a:ext cx="502920" cy="0"/>
          </a:xfrm>
          <a:prstGeom prst="line">
            <a:avLst/>
          </a:prstGeom>
          <a:noFill/>
          <a:ln w="19050">
            <a:solidFill>
              <a:srgbClr val="657182"/>
            </a:solidFill>
            <a:prstDash val="solid"/>
            <a:headEnd type="none"/>
            <a:tailEnd type="triangle"/>
          </a:ln>
        </p:spPr>
        <p:txBody>
          <a:bodyPr/>
          <a:lstStyle/>
          <a:p>
            <a:endParaRPr lang="en-CL"/>
          </a:p>
        </p:txBody>
      </p:sp>
      <p:sp>
        <p:nvSpPr>
          <p:cNvPr id="17" name="Shape 15"/>
          <p:cNvSpPr/>
          <p:nvPr/>
        </p:nvSpPr>
        <p:spPr>
          <a:xfrm>
            <a:off x="7589520" y="1371600"/>
            <a:ext cx="1737360" cy="777240"/>
          </a:xfrm>
          <a:prstGeom prst="roundRect">
            <a:avLst>
              <a:gd name="adj" fmla="val 9412"/>
            </a:avLst>
          </a:prstGeom>
          <a:solidFill>
            <a:srgbClr val="F2994A"/>
          </a:solidFill>
          <a:ln w="12700">
            <a:solidFill>
              <a:srgbClr val="F2994A"/>
            </a:solidFill>
            <a:prstDash val="solid"/>
          </a:ln>
        </p:spPr>
        <p:txBody>
          <a:bodyPr/>
          <a:lstStyle/>
          <a:p>
            <a:endParaRPr lang="en-CL"/>
          </a:p>
        </p:txBody>
      </p:sp>
      <p:sp>
        <p:nvSpPr>
          <p:cNvPr id="18" name="Text 16"/>
          <p:cNvSpPr/>
          <p:nvPr/>
        </p:nvSpPr>
        <p:spPr>
          <a:xfrm>
            <a:off x="7699248" y="1572768"/>
            <a:ext cx="1517904" cy="228600"/>
          </a:xfrm>
          <a:prstGeom prst="rect">
            <a:avLst/>
          </a:prstGeom>
          <a:noFill/>
          <a:ln/>
        </p:spPr>
        <p:txBody>
          <a:bodyPr wrap="square" lIns="0" tIns="0" rIns="0" bIns="0" rtlCol="0" anchor="ctr">
            <a:normAutofit/>
          </a:bodyPr>
          <a:lstStyle/>
          <a:p>
            <a:pPr marL="0" indent="0" algn="ctr">
              <a:buNone/>
            </a:pPr>
            <a:r>
              <a:rPr lang="en-US" sz="1050" b="1" dirty="0">
                <a:solidFill>
                  <a:srgbClr val="FFFFFF"/>
                </a:solidFill>
              </a:rPr>
              <a:t>Activos TI</a:t>
            </a:r>
            <a:endParaRPr lang="en-US" sz="1050" dirty="0"/>
          </a:p>
        </p:txBody>
      </p:sp>
      <p:sp>
        <p:nvSpPr>
          <p:cNvPr id="19" name="Shape 17"/>
          <p:cNvSpPr/>
          <p:nvPr/>
        </p:nvSpPr>
        <p:spPr>
          <a:xfrm>
            <a:off x="9326880" y="1755648"/>
            <a:ext cx="502920" cy="0"/>
          </a:xfrm>
          <a:prstGeom prst="line">
            <a:avLst/>
          </a:prstGeom>
          <a:noFill/>
          <a:ln w="19050">
            <a:solidFill>
              <a:srgbClr val="657182"/>
            </a:solidFill>
            <a:prstDash val="solid"/>
            <a:headEnd type="none"/>
            <a:tailEnd type="triangle"/>
          </a:ln>
        </p:spPr>
        <p:txBody>
          <a:bodyPr/>
          <a:lstStyle/>
          <a:p>
            <a:endParaRPr lang="en-CL"/>
          </a:p>
        </p:txBody>
      </p:sp>
      <p:sp>
        <p:nvSpPr>
          <p:cNvPr id="20" name="Shape 18"/>
          <p:cNvSpPr/>
          <p:nvPr/>
        </p:nvSpPr>
        <p:spPr>
          <a:xfrm>
            <a:off x="9875520" y="1371600"/>
            <a:ext cx="1737360" cy="777240"/>
          </a:xfrm>
          <a:prstGeom prst="roundRect">
            <a:avLst>
              <a:gd name="adj" fmla="val 9412"/>
            </a:avLst>
          </a:prstGeom>
          <a:solidFill>
            <a:srgbClr val="0F2742"/>
          </a:solidFill>
          <a:ln w="12700">
            <a:solidFill>
              <a:srgbClr val="0F2742"/>
            </a:solidFill>
            <a:prstDash val="solid"/>
          </a:ln>
        </p:spPr>
        <p:txBody>
          <a:bodyPr/>
          <a:lstStyle/>
          <a:p>
            <a:endParaRPr lang="en-CL"/>
          </a:p>
        </p:txBody>
      </p:sp>
      <p:sp>
        <p:nvSpPr>
          <p:cNvPr id="21" name="Text 19"/>
          <p:cNvSpPr/>
          <p:nvPr/>
        </p:nvSpPr>
        <p:spPr>
          <a:xfrm>
            <a:off x="9985248" y="1572768"/>
            <a:ext cx="1517904" cy="228600"/>
          </a:xfrm>
          <a:prstGeom prst="rect">
            <a:avLst/>
          </a:prstGeom>
          <a:noFill/>
          <a:ln/>
        </p:spPr>
        <p:txBody>
          <a:bodyPr wrap="square" lIns="0" tIns="0" rIns="0" bIns="0" rtlCol="0" anchor="ctr">
            <a:normAutofit/>
          </a:bodyPr>
          <a:lstStyle/>
          <a:p>
            <a:pPr marL="0" indent="0" algn="ctr">
              <a:buNone/>
            </a:pPr>
            <a:r>
              <a:rPr lang="en-US" sz="1050" b="1" dirty="0">
                <a:solidFill>
                  <a:srgbClr val="FFFFFF"/>
                </a:solidFill>
              </a:rPr>
              <a:t>Dashboards / reportes</a:t>
            </a:r>
            <a:endParaRPr lang="en-US" sz="1050" dirty="0"/>
          </a:p>
        </p:txBody>
      </p:sp>
      <p:sp>
        <p:nvSpPr>
          <p:cNvPr id="22" name="Shape 20"/>
          <p:cNvSpPr/>
          <p:nvPr/>
        </p:nvSpPr>
        <p:spPr>
          <a:xfrm>
            <a:off x="914400" y="2834640"/>
            <a:ext cx="10332720" cy="2560320"/>
          </a:xfrm>
          <a:prstGeom prst="roundRect">
            <a:avLst>
              <a:gd name="adj" fmla="val 3571"/>
            </a:avLst>
          </a:prstGeom>
          <a:solidFill>
            <a:srgbClr val="FFFFFF"/>
          </a:solidFill>
          <a:ln w="12700">
            <a:solidFill>
              <a:srgbClr val="CAD6E0"/>
            </a:solidFill>
            <a:prstDash val="solid"/>
          </a:ln>
        </p:spPr>
        <p:txBody>
          <a:bodyPr/>
          <a:lstStyle/>
          <a:p>
            <a:endParaRPr lang="en-CL"/>
          </a:p>
        </p:txBody>
      </p:sp>
      <p:sp>
        <p:nvSpPr>
          <p:cNvPr id="23" name="Text 21"/>
          <p:cNvSpPr/>
          <p:nvPr/>
        </p:nvSpPr>
        <p:spPr>
          <a:xfrm>
            <a:off x="1143000" y="3063240"/>
            <a:ext cx="9875520" cy="274320"/>
          </a:xfrm>
          <a:prstGeom prst="rect">
            <a:avLst/>
          </a:prstGeom>
          <a:noFill/>
          <a:ln/>
        </p:spPr>
        <p:txBody>
          <a:bodyPr wrap="square" lIns="0" tIns="0" rIns="0" bIns="0" rtlCol="0" anchor="ctr"/>
          <a:lstStyle/>
          <a:p>
            <a:pPr marL="0" indent="0">
              <a:buNone/>
            </a:pPr>
            <a:r>
              <a:rPr lang="en-US" sz="1800" b="1" dirty="0">
                <a:solidFill>
                  <a:srgbClr val="0F2742"/>
                </a:solidFill>
              </a:rPr>
              <a:t>Requerimientos funcionales cubiertos</a:t>
            </a:r>
            <a:endParaRPr lang="en-US" sz="1800" dirty="0"/>
          </a:p>
        </p:txBody>
      </p:sp>
      <p:sp>
        <p:nvSpPr>
          <p:cNvPr id="24" name="Shape 22"/>
          <p:cNvSpPr/>
          <p:nvPr/>
        </p:nvSpPr>
        <p:spPr>
          <a:xfrm>
            <a:off x="1143000" y="3566160"/>
            <a:ext cx="2971800" cy="310896"/>
          </a:xfrm>
          <a:prstGeom prst="roundRect">
            <a:avLst>
              <a:gd name="adj" fmla="val 17647"/>
            </a:avLst>
          </a:prstGeom>
          <a:solidFill>
            <a:srgbClr val="E7F2FB"/>
          </a:solidFill>
          <a:ln w="12700">
            <a:solidFill>
              <a:srgbClr val="D9E6EF"/>
            </a:solidFill>
            <a:prstDash val="solid"/>
          </a:ln>
        </p:spPr>
        <p:txBody>
          <a:bodyPr/>
          <a:lstStyle/>
          <a:p>
            <a:endParaRPr lang="en-CL"/>
          </a:p>
        </p:txBody>
      </p:sp>
      <p:sp>
        <p:nvSpPr>
          <p:cNvPr id="25" name="Text 23"/>
          <p:cNvSpPr/>
          <p:nvPr/>
        </p:nvSpPr>
        <p:spPr>
          <a:xfrm>
            <a:off x="1252728" y="3653028"/>
            <a:ext cx="2743200" cy="91440"/>
          </a:xfrm>
          <a:prstGeom prst="rect">
            <a:avLst/>
          </a:prstGeom>
          <a:noFill/>
          <a:ln/>
        </p:spPr>
        <p:txBody>
          <a:bodyPr wrap="square" lIns="0" tIns="0" rIns="0" bIns="0" rtlCol="0" anchor="ctr"/>
          <a:lstStyle/>
          <a:p>
            <a:pPr marL="0" indent="0">
              <a:buNone/>
            </a:pPr>
            <a:r>
              <a:rPr lang="en-US" sz="880" b="1" dirty="0">
                <a:solidFill>
                  <a:srgbClr val="0F2742"/>
                </a:solidFill>
              </a:rPr>
              <a:t>RF-01  Registro estructurado de tickets</a:t>
            </a:r>
            <a:endParaRPr lang="en-US" sz="880" dirty="0"/>
          </a:p>
        </p:txBody>
      </p:sp>
      <p:sp>
        <p:nvSpPr>
          <p:cNvPr id="26" name="Shape 24"/>
          <p:cNvSpPr/>
          <p:nvPr/>
        </p:nvSpPr>
        <p:spPr>
          <a:xfrm>
            <a:off x="4480560" y="3566160"/>
            <a:ext cx="2971800" cy="310896"/>
          </a:xfrm>
          <a:prstGeom prst="roundRect">
            <a:avLst>
              <a:gd name="adj" fmla="val 17647"/>
            </a:avLst>
          </a:prstGeom>
          <a:solidFill>
            <a:srgbClr val="E7F2FB"/>
          </a:solidFill>
          <a:ln w="12700">
            <a:solidFill>
              <a:srgbClr val="D9E6EF"/>
            </a:solidFill>
            <a:prstDash val="solid"/>
          </a:ln>
        </p:spPr>
        <p:txBody>
          <a:bodyPr/>
          <a:lstStyle/>
          <a:p>
            <a:endParaRPr lang="en-CL"/>
          </a:p>
        </p:txBody>
      </p:sp>
      <p:sp>
        <p:nvSpPr>
          <p:cNvPr id="27" name="Text 25"/>
          <p:cNvSpPr/>
          <p:nvPr/>
        </p:nvSpPr>
        <p:spPr>
          <a:xfrm>
            <a:off x="4590288" y="3653028"/>
            <a:ext cx="2743200" cy="91440"/>
          </a:xfrm>
          <a:prstGeom prst="rect">
            <a:avLst/>
          </a:prstGeom>
          <a:noFill/>
          <a:ln/>
        </p:spPr>
        <p:txBody>
          <a:bodyPr wrap="square" lIns="0" tIns="0" rIns="0" bIns="0" rtlCol="0" anchor="ctr"/>
          <a:lstStyle/>
          <a:p>
            <a:pPr marL="0" indent="0">
              <a:buNone/>
            </a:pPr>
            <a:r>
              <a:rPr lang="en-US" sz="880" b="1" dirty="0">
                <a:solidFill>
                  <a:srgbClr val="0F2742"/>
                </a:solidFill>
              </a:rPr>
              <a:t>RF-03  Ciclo de vida del ticket</a:t>
            </a:r>
            <a:endParaRPr lang="en-US" sz="880" dirty="0"/>
          </a:p>
        </p:txBody>
      </p:sp>
      <p:sp>
        <p:nvSpPr>
          <p:cNvPr id="28" name="Shape 26"/>
          <p:cNvSpPr/>
          <p:nvPr/>
        </p:nvSpPr>
        <p:spPr>
          <a:xfrm>
            <a:off x="7818120" y="3566160"/>
            <a:ext cx="2971800" cy="310896"/>
          </a:xfrm>
          <a:prstGeom prst="roundRect">
            <a:avLst>
              <a:gd name="adj" fmla="val 17647"/>
            </a:avLst>
          </a:prstGeom>
          <a:solidFill>
            <a:srgbClr val="E7F2FB"/>
          </a:solidFill>
          <a:ln w="12700">
            <a:solidFill>
              <a:srgbClr val="D9E6EF"/>
            </a:solidFill>
            <a:prstDash val="solid"/>
          </a:ln>
        </p:spPr>
        <p:txBody>
          <a:bodyPr/>
          <a:lstStyle/>
          <a:p>
            <a:endParaRPr lang="en-CL"/>
          </a:p>
        </p:txBody>
      </p:sp>
      <p:sp>
        <p:nvSpPr>
          <p:cNvPr id="29" name="Text 27"/>
          <p:cNvSpPr/>
          <p:nvPr/>
        </p:nvSpPr>
        <p:spPr>
          <a:xfrm>
            <a:off x="7927848" y="3653028"/>
            <a:ext cx="2743200" cy="91440"/>
          </a:xfrm>
          <a:prstGeom prst="rect">
            <a:avLst/>
          </a:prstGeom>
          <a:noFill/>
          <a:ln/>
        </p:spPr>
        <p:txBody>
          <a:bodyPr wrap="square" lIns="0" tIns="0" rIns="0" bIns="0" rtlCol="0" anchor="ctr"/>
          <a:lstStyle/>
          <a:p>
            <a:pPr marL="0" indent="0">
              <a:buNone/>
            </a:pPr>
            <a:r>
              <a:rPr lang="en-US" sz="880" b="1" dirty="0">
                <a:solidFill>
                  <a:srgbClr val="0F2742"/>
                </a:solidFill>
              </a:rPr>
              <a:t>RF-04  Asignación de tickets</a:t>
            </a:r>
            <a:endParaRPr lang="en-US" sz="880" dirty="0"/>
          </a:p>
        </p:txBody>
      </p:sp>
      <p:sp>
        <p:nvSpPr>
          <p:cNvPr id="30" name="Shape 28"/>
          <p:cNvSpPr/>
          <p:nvPr/>
        </p:nvSpPr>
        <p:spPr>
          <a:xfrm>
            <a:off x="1143000" y="4005072"/>
            <a:ext cx="2971800" cy="310896"/>
          </a:xfrm>
          <a:prstGeom prst="roundRect">
            <a:avLst>
              <a:gd name="adj" fmla="val 17647"/>
            </a:avLst>
          </a:prstGeom>
          <a:solidFill>
            <a:srgbClr val="E6F7EF"/>
          </a:solidFill>
          <a:ln w="12700">
            <a:solidFill>
              <a:srgbClr val="D9E6EF"/>
            </a:solidFill>
            <a:prstDash val="solid"/>
          </a:ln>
        </p:spPr>
        <p:txBody>
          <a:bodyPr/>
          <a:lstStyle/>
          <a:p>
            <a:endParaRPr lang="en-CL"/>
          </a:p>
        </p:txBody>
      </p:sp>
      <p:sp>
        <p:nvSpPr>
          <p:cNvPr id="31" name="Text 29"/>
          <p:cNvSpPr/>
          <p:nvPr/>
        </p:nvSpPr>
        <p:spPr>
          <a:xfrm>
            <a:off x="1252728" y="4091940"/>
            <a:ext cx="2743200" cy="91440"/>
          </a:xfrm>
          <a:prstGeom prst="rect">
            <a:avLst/>
          </a:prstGeom>
          <a:noFill/>
          <a:ln/>
        </p:spPr>
        <p:txBody>
          <a:bodyPr wrap="square" lIns="0" tIns="0" rIns="0" bIns="0" rtlCol="0" anchor="ctr"/>
          <a:lstStyle/>
          <a:p>
            <a:pPr marL="0" indent="0">
              <a:buNone/>
            </a:pPr>
            <a:r>
              <a:rPr lang="en-US" sz="880" b="1" dirty="0">
                <a:solidFill>
                  <a:srgbClr val="0F2742"/>
                </a:solidFill>
              </a:rPr>
              <a:t>RF-05  Seguimiento y trazabilidad</a:t>
            </a:r>
            <a:endParaRPr lang="en-US" sz="880" dirty="0"/>
          </a:p>
        </p:txBody>
      </p:sp>
      <p:sp>
        <p:nvSpPr>
          <p:cNvPr id="32" name="Shape 30"/>
          <p:cNvSpPr/>
          <p:nvPr/>
        </p:nvSpPr>
        <p:spPr>
          <a:xfrm>
            <a:off x="4480560" y="4005072"/>
            <a:ext cx="2971800" cy="310896"/>
          </a:xfrm>
          <a:prstGeom prst="roundRect">
            <a:avLst>
              <a:gd name="adj" fmla="val 17647"/>
            </a:avLst>
          </a:prstGeom>
          <a:solidFill>
            <a:srgbClr val="E6F7EF"/>
          </a:solidFill>
          <a:ln w="12700">
            <a:solidFill>
              <a:srgbClr val="D9E6EF"/>
            </a:solidFill>
            <a:prstDash val="solid"/>
          </a:ln>
        </p:spPr>
        <p:txBody>
          <a:bodyPr/>
          <a:lstStyle/>
          <a:p>
            <a:endParaRPr lang="en-CL"/>
          </a:p>
        </p:txBody>
      </p:sp>
      <p:sp>
        <p:nvSpPr>
          <p:cNvPr id="33" name="Text 31"/>
          <p:cNvSpPr/>
          <p:nvPr/>
        </p:nvSpPr>
        <p:spPr>
          <a:xfrm>
            <a:off x="4590288" y="4091940"/>
            <a:ext cx="2743200" cy="91440"/>
          </a:xfrm>
          <a:prstGeom prst="rect">
            <a:avLst/>
          </a:prstGeom>
          <a:noFill/>
          <a:ln/>
        </p:spPr>
        <p:txBody>
          <a:bodyPr wrap="square" lIns="0" tIns="0" rIns="0" bIns="0" rtlCol="0" anchor="ctr"/>
          <a:lstStyle/>
          <a:p>
            <a:pPr marL="0" indent="0">
              <a:buNone/>
            </a:pPr>
            <a:r>
              <a:rPr lang="en-US" sz="880" b="1" dirty="0">
                <a:solidFill>
                  <a:srgbClr val="0F2742"/>
                </a:solidFill>
              </a:rPr>
              <a:t>RF-08  Registro de activos TI</a:t>
            </a:r>
            <a:endParaRPr lang="en-US" sz="880" dirty="0"/>
          </a:p>
        </p:txBody>
      </p:sp>
      <p:sp>
        <p:nvSpPr>
          <p:cNvPr id="34" name="Shape 32"/>
          <p:cNvSpPr/>
          <p:nvPr/>
        </p:nvSpPr>
        <p:spPr>
          <a:xfrm>
            <a:off x="7818120" y="4005072"/>
            <a:ext cx="2971800" cy="310896"/>
          </a:xfrm>
          <a:prstGeom prst="roundRect">
            <a:avLst>
              <a:gd name="adj" fmla="val 17647"/>
            </a:avLst>
          </a:prstGeom>
          <a:solidFill>
            <a:srgbClr val="E6F7EF"/>
          </a:solidFill>
          <a:ln w="12700">
            <a:solidFill>
              <a:srgbClr val="D9E6EF"/>
            </a:solidFill>
            <a:prstDash val="solid"/>
          </a:ln>
        </p:spPr>
        <p:txBody>
          <a:bodyPr/>
          <a:lstStyle/>
          <a:p>
            <a:endParaRPr lang="en-CL"/>
          </a:p>
        </p:txBody>
      </p:sp>
      <p:sp>
        <p:nvSpPr>
          <p:cNvPr id="35" name="Text 33"/>
          <p:cNvSpPr/>
          <p:nvPr/>
        </p:nvSpPr>
        <p:spPr>
          <a:xfrm>
            <a:off x="7927848" y="4091940"/>
            <a:ext cx="2743200" cy="91440"/>
          </a:xfrm>
          <a:prstGeom prst="rect">
            <a:avLst/>
          </a:prstGeom>
          <a:noFill/>
          <a:ln/>
        </p:spPr>
        <p:txBody>
          <a:bodyPr wrap="square" lIns="0" tIns="0" rIns="0" bIns="0" rtlCol="0" anchor="ctr"/>
          <a:lstStyle/>
          <a:p>
            <a:pPr marL="0" indent="0">
              <a:buNone/>
            </a:pPr>
            <a:r>
              <a:rPr lang="en-US" sz="880" b="1" dirty="0">
                <a:solidFill>
                  <a:srgbClr val="0F2742"/>
                </a:solidFill>
              </a:rPr>
              <a:t>RF-09  Ticket ↔ activo</a:t>
            </a:r>
            <a:endParaRPr lang="en-US" sz="880" dirty="0"/>
          </a:p>
        </p:txBody>
      </p:sp>
      <p:sp>
        <p:nvSpPr>
          <p:cNvPr id="36" name="Shape 34"/>
          <p:cNvSpPr/>
          <p:nvPr/>
        </p:nvSpPr>
        <p:spPr>
          <a:xfrm>
            <a:off x="1143000" y="4443984"/>
            <a:ext cx="2971800" cy="310896"/>
          </a:xfrm>
          <a:prstGeom prst="roundRect">
            <a:avLst>
              <a:gd name="adj" fmla="val 17647"/>
            </a:avLst>
          </a:prstGeom>
          <a:solidFill>
            <a:srgbClr val="E7F2FB"/>
          </a:solidFill>
          <a:ln w="12700">
            <a:solidFill>
              <a:srgbClr val="D9E6EF"/>
            </a:solidFill>
            <a:prstDash val="solid"/>
          </a:ln>
        </p:spPr>
        <p:txBody>
          <a:bodyPr/>
          <a:lstStyle/>
          <a:p>
            <a:endParaRPr lang="en-CL"/>
          </a:p>
        </p:txBody>
      </p:sp>
      <p:sp>
        <p:nvSpPr>
          <p:cNvPr id="37" name="Text 35"/>
          <p:cNvSpPr/>
          <p:nvPr/>
        </p:nvSpPr>
        <p:spPr>
          <a:xfrm>
            <a:off x="1252728" y="4530852"/>
            <a:ext cx="2743200" cy="91440"/>
          </a:xfrm>
          <a:prstGeom prst="rect">
            <a:avLst/>
          </a:prstGeom>
          <a:noFill/>
          <a:ln/>
        </p:spPr>
        <p:txBody>
          <a:bodyPr wrap="square" lIns="0" tIns="0" rIns="0" bIns="0" rtlCol="0" anchor="ctr"/>
          <a:lstStyle/>
          <a:p>
            <a:pPr marL="0" indent="0">
              <a:buNone/>
            </a:pPr>
            <a:r>
              <a:rPr lang="en-US" sz="880" b="1" dirty="0">
                <a:solidFill>
                  <a:srgbClr val="0F2742"/>
                </a:solidFill>
              </a:rPr>
              <a:t>RF-10  Inventario por ubicación</a:t>
            </a:r>
            <a:endParaRPr lang="en-US" sz="880" dirty="0"/>
          </a:p>
        </p:txBody>
      </p:sp>
      <p:sp>
        <p:nvSpPr>
          <p:cNvPr id="38" name="Shape 36"/>
          <p:cNvSpPr/>
          <p:nvPr/>
        </p:nvSpPr>
        <p:spPr>
          <a:xfrm>
            <a:off x="4480560" y="4443984"/>
            <a:ext cx="2971800" cy="310896"/>
          </a:xfrm>
          <a:prstGeom prst="roundRect">
            <a:avLst>
              <a:gd name="adj" fmla="val 17647"/>
            </a:avLst>
          </a:prstGeom>
          <a:solidFill>
            <a:srgbClr val="E7F2FB"/>
          </a:solidFill>
          <a:ln w="12700">
            <a:solidFill>
              <a:srgbClr val="D9E6EF"/>
            </a:solidFill>
            <a:prstDash val="solid"/>
          </a:ln>
        </p:spPr>
        <p:txBody>
          <a:bodyPr/>
          <a:lstStyle/>
          <a:p>
            <a:endParaRPr lang="en-CL"/>
          </a:p>
        </p:txBody>
      </p:sp>
      <p:sp>
        <p:nvSpPr>
          <p:cNvPr id="39" name="Text 37"/>
          <p:cNvSpPr/>
          <p:nvPr/>
        </p:nvSpPr>
        <p:spPr>
          <a:xfrm>
            <a:off x="4590288" y="4530852"/>
            <a:ext cx="2743200" cy="91440"/>
          </a:xfrm>
          <a:prstGeom prst="rect">
            <a:avLst/>
          </a:prstGeom>
          <a:noFill/>
          <a:ln/>
        </p:spPr>
        <p:txBody>
          <a:bodyPr wrap="square" lIns="0" tIns="0" rIns="0" bIns="0" rtlCol="0" anchor="ctr"/>
          <a:lstStyle/>
          <a:p>
            <a:pPr marL="0" indent="0">
              <a:buNone/>
            </a:pPr>
            <a:r>
              <a:rPr lang="en-US" sz="880" b="1" dirty="0">
                <a:solidFill>
                  <a:srgbClr val="0F2742"/>
                </a:solidFill>
              </a:rPr>
              <a:t>RF-11  Estados de activos</a:t>
            </a:r>
            <a:endParaRPr lang="en-US" sz="880" dirty="0"/>
          </a:p>
        </p:txBody>
      </p:sp>
      <p:sp>
        <p:nvSpPr>
          <p:cNvPr id="40" name="Shape 38"/>
          <p:cNvSpPr/>
          <p:nvPr/>
        </p:nvSpPr>
        <p:spPr>
          <a:xfrm>
            <a:off x="7818120" y="4443984"/>
            <a:ext cx="2971800" cy="310896"/>
          </a:xfrm>
          <a:prstGeom prst="roundRect">
            <a:avLst>
              <a:gd name="adj" fmla="val 17647"/>
            </a:avLst>
          </a:prstGeom>
          <a:solidFill>
            <a:srgbClr val="E7F2FB"/>
          </a:solidFill>
          <a:ln w="12700">
            <a:solidFill>
              <a:srgbClr val="D9E6EF"/>
            </a:solidFill>
            <a:prstDash val="solid"/>
          </a:ln>
        </p:spPr>
        <p:txBody>
          <a:bodyPr/>
          <a:lstStyle/>
          <a:p>
            <a:endParaRPr lang="en-CL"/>
          </a:p>
        </p:txBody>
      </p:sp>
      <p:sp>
        <p:nvSpPr>
          <p:cNvPr id="41" name="Text 39"/>
          <p:cNvSpPr/>
          <p:nvPr/>
        </p:nvSpPr>
        <p:spPr>
          <a:xfrm>
            <a:off x="7927848" y="4530852"/>
            <a:ext cx="2743200" cy="91440"/>
          </a:xfrm>
          <a:prstGeom prst="rect">
            <a:avLst/>
          </a:prstGeom>
          <a:noFill/>
          <a:ln/>
        </p:spPr>
        <p:txBody>
          <a:bodyPr wrap="square" lIns="0" tIns="0" rIns="0" bIns="0" rtlCol="0" anchor="ctr"/>
          <a:lstStyle/>
          <a:p>
            <a:pPr marL="0" indent="0">
              <a:buNone/>
            </a:pPr>
            <a:r>
              <a:rPr lang="en-US" sz="880" b="1" dirty="0">
                <a:solidFill>
                  <a:srgbClr val="0F2742"/>
                </a:solidFill>
              </a:rPr>
              <a:t>RF-12  Perfiles y permisos</a:t>
            </a:r>
            <a:endParaRPr lang="en-US" sz="880" dirty="0"/>
          </a:p>
        </p:txBody>
      </p:sp>
      <p:sp>
        <p:nvSpPr>
          <p:cNvPr id="42" name="Text 40"/>
          <p:cNvSpPr/>
          <p:nvPr/>
        </p:nvSpPr>
        <p:spPr>
          <a:xfrm>
            <a:off x="1143000" y="5074920"/>
            <a:ext cx="9875520" cy="182880"/>
          </a:xfrm>
          <a:prstGeom prst="rect">
            <a:avLst/>
          </a:prstGeom>
          <a:noFill/>
          <a:ln/>
        </p:spPr>
        <p:txBody>
          <a:bodyPr wrap="square" lIns="0" tIns="0" rIns="0" bIns="0" rtlCol="0" anchor="ctr"/>
          <a:lstStyle/>
          <a:p>
            <a:pPr marL="0" indent="0">
              <a:buNone/>
            </a:pPr>
            <a:r>
              <a:rPr lang="en-US" sz="1050" i="1" dirty="0">
                <a:solidFill>
                  <a:srgbClr val="657182"/>
                </a:solidFill>
              </a:rPr>
              <a:t>Los RF parciales se asocian a profundidad de parametrización avanzada, no a errores bloqueantes del MVP.</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BBF72"/>
          </a:solidFill>
          <a:ln w="12700">
            <a:solidFill>
              <a:srgbClr val="0BBF72"/>
            </a:solidFill>
            <a:prstDash val="solid"/>
          </a:ln>
        </p:spPr>
        <p:txBody>
          <a:bodyPr/>
          <a:lstStyle/>
          <a:p>
            <a:endParaRPr lang="en-CL"/>
          </a:p>
        </p:txBody>
      </p:sp>
      <p:sp>
        <p:nvSpPr>
          <p:cNvPr id="3" name="Shape 1"/>
          <p:cNvSpPr/>
          <p:nvPr/>
        </p:nvSpPr>
        <p:spPr>
          <a:xfrm>
            <a:off x="0" y="6565392"/>
            <a:ext cx="12191695" cy="292608"/>
          </a:xfrm>
          <a:prstGeom prst="rect">
            <a:avLst/>
          </a:prstGeom>
          <a:solidFill>
            <a:srgbClr val="0F2742"/>
          </a:solidFill>
          <a:ln w="12700">
            <a:solidFill>
              <a:srgbClr val="0F2742"/>
            </a:solidFill>
            <a:prstDash val="solid"/>
          </a:ln>
        </p:spPr>
        <p:txBody>
          <a:bodyPr/>
          <a:lstStyle/>
          <a:p>
            <a:endParaRPr lang="en-CL"/>
          </a:p>
        </p:txBody>
      </p:sp>
      <p:sp>
        <p:nvSpPr>
          <p:cNvPr id="4" name="Text 2"/>
          <p:cNvSpPr/>
          <p:nvPr/>
        </p:nvSpPr>
        <p:spPr>
          <a:xfrm>
            <a:off x="502920" y="347472"/>
            <a:ext cx="10515600" cy="384048"/>
          </a:xfrm>
          <a:prstGeom prst="rect">
            <a:avLst/>
          </a:prstGeom>
          <a:noFill/>
          <a:ln/>
        </p:spPr>
        <p:txBody>
          <a:bodyPr wrap="square" lIns="0" tIns="0" rIns="0" bIns="0" rtlCol="0" anchor="ctr"/>
          <a:lstStyle/>
          <a:p>
            <a:pPr marL="0" indent="0">
              <a:buNone/>
            </a:pPr>
            <a:r>
              <a:rPr lang="en-US" sz="2600" b="1" dirty="0">
                <a:solidFill>
                  <a:srgbClr val="0F2742"/>
                </a:solidFill>
                <a:latin typeface="Arial" pitchFamily="34" charset="0"/>
                <a:ea typeface="Arial" pitchFamily="34" charset="-122"/>
                <a:cs typeface="Arial" pitchFamily="34" charset="-120"/>
              </a:rPr>
              <a:t>Metodología y gestión del proyecto</a:t>
            </a:r>
            <a:endParaRPr lang="en-US" sz="2600" dirty="0"/>
          </a:p>
        </p:txBody>
      </p:sp>
      <p:sp>
        <p:nvSpPr>
          <p:cNvPr id="5" name="Text 3"/>
          <p:cNvSpPr/>
          <p:nvPr/>
        </p:nvSpPr>
        <p:spPr>
          <a:xfrm>
            <a:off x="521208" y="768096"/>
            <a:ext cx="10607040" cy="219456"/>
          </a:xfrm>
          <a:prstGeom prst="rect">
            <a:avLst/>
          </a:prstGeom>
          <a:noFill/>
          <a:ln/>
        </p:spPr>
        <p:txBody>
          <a:bodyPr wrap="square" lIns="0" tIns="0" rIns="0" bIns="0" rtlCol="0" anchor="ctr"/>
          <a:lstStyle/>
          <a:p>
            <a:pPr marL="0" indent="0">
              <a:buNone/>
            </a:pPr>
            <a:r>
              <a:rPr lang="en-US" sz="1050" dirty="0">
                <a:solidFill>
                  <a:srgbClr val="657182"/>
                </a:solidFill>
              </a:rPr>
              <a:t>Scrum adaptado con iteraciones semanales, backlog y seguimiento en GitHub.</a:t>
            </a:r>
            <a:endParaRPr lang="en-US" sz="1050" dirty="0"/>
          </a:p>
        </p:txBody>
      </p:sp>
      <p:sp>
        <p:nvSpPr>
          <p:cNvPr id="6" name="Text 4"/>
          <p:cNvSpPr/>
          <p:nvPr/>
        </p:nvSpPr>
        <p:spPr>
          <a:xfrm>
            <a:off x="502920" y="6611112"/>
            <a:ext cx="6583680" cy="146304"/>
          </a:xfrm>
          <a:prstGeom prst="rect">
            <a:avLst/>
          </a:prstGeom>
          <a:noFill/>
          <a:ln/>
        </p:spPr>
        <p:txBody>
          <a:bodyPr wrap="square" lIns="0" tIns="0" rIns="0" bIns="0" rtlCol="0" anchor="ctr"/>
          <a:lstStyle/>
          <a:p>
            <a:pPr marL="0" indent="0">
              <a:buNone/>
            </a:pPr>
            <a:r>
              <a:rPr lang="en-US" sz="750" dirty="0">
                <a:solidFill>
                  <a:srgbClr val="DCE7F2"/>
                </a:solidFill>
              </a:rPr>
              <a:t>TIP-INF-401 | Ingeniería en Informática | IPSS 2026</a:t>
            </a:r>
            <a:endParaRPr lang="en-US" sz="750" dirty="0"/>
          </a:p>
        </p:txBody>
      </p:sp>
      <p:sp>
        <p:nvSpPr>
          <p:cNvPr id="7" name="Text 5"/>
          <p:cNvSpPr/>
          <p:nvPr/>
        </p:nvSpPr>
        <p:spPr>
          <a:xfrm>
            <a:off x="11064240" y="6611112"/>
            <a:ext cx="640080" cy="146304"/>
          </a:xfrm>
          <a:prstGeom prst="rect">
            <a:avLst/>
          </a:prstGeom>
          <a:noFill/>
          <a:ln/>
        </p:spPr>
        <p:txBody>
          <a:bodyPr wrap="square" lIns="0" tIns="0" rIns="0" bIns="0" rtlCol="0" anchor="ctr"/>
          <a:lstStyle/>
          <a:p>
            <a:pPr marL="0" indent="0" algn="r">
              <a:buNone/>
            </a:pPr>
            <a:r>
              <a:rPr lang="en-US" sz="750" dirty="0">
                <a:solidFill>
                  <a:srgbClr val="DCE7F2"/>
                </a:solidFill>
              </a:rPr>
              <a:t>7/18</a:t>
            </a:r>
            <a:endParaRPr lang="en-US" sz="750" dirty="0"/>
          </a:p>
        </p:txBody>
      </p:sp>
      <p:sp>
        <p:nvSpPr>
          <p:cNvPr id="8" name="Shape 6"/>
          <p:cNvSpPr/>
          <p:nvPr/>
        </p:nvSpPr>
        <p:spPr>
          <a:xfrm>
            <a:off x="685800" y="1188720"/>
            <a:ext cx="5303520" cy="2560320"/>
          </a:xfrm>
          <a:prstGeom prst="roundRect">
            <a:avLst>
              <a:gd name="adj" fmla="val 2143"/>
            </a:avLst>
          </a:prstGeom>
          <a:solidFill>
            <a:srgbClr val="FFFFFF"/>
          </a:solidFill>
          <a:ln w="10160">
            <a:solidFill>
              <a:srgbClr val="CAD6E0"/>
            </a:solidFill>
            <a:prstDash val="solid"/>
          </a:ln>
        </p:spPr>
        <p:txBody>
          <a:bodyPr/>
          <a:lstStyle/>
          <a:p>
            <a:endParaRPr lang="en-CL"/>
          </a:p>
        </p:txBody>
      </p:sp>
      <p:pic>
        <p:nvPicPr>
          <p:cNvPr id="9" name="Image 0" descr="/mnt/data/3b66a1b4-2530-4efc-b38c-8aa6253cf473.png"/>
          <p:cNvPicPr>
            <a:picLocks noChangeAspect="1"/>
          </p:cNvPicPr>
          <p:nvPr/>
        </p:nvPicPr>
        <p:blipFill>
          <a:blip r:embed="rId3"/>
          <a:stretch>
            <a:fillRect/>
          </a:stretch>
        </p:blipFill>
        <p:spPr>
          <a:xfrm>
            <a:off x="1331500" y="1234440"/>
            <a:ext cx="4012120" cy="2240280"/>
          </a:xfrm>
          <a:prstGeom prst="rect">
            <a:avLst/>
          </a:prstGeom>
        </p:spPr>
      </p:pic>
      <p:sp>
        <p:nvSpPr>
          <p:cNvPr id="10" name="Shape 7"/>
          <p:cNvSpPr/>
          <p:nvPr/>
        </p:nvSpPr>
        <p:spPr>
          <a:xfrm>
            <a:off x="685800" y="3502152"/>
            <a:ext cx="5303520" cy="246888"/>
          </a:xfrm>
          <a:prstGeom prst="rect">
            <a:avLst/>
          </a:prstGeom>
          <a:solidFill>
            <a:srgbClr val="0F2742">
              <a:alpha val="92000"/>
            </a:srgbClr>
          </a:solidFill>
          <a:ln w="12700">
            <a:solidFill>
              <a:srgbClr val="0F2742"/>
            </a:solidFill>
            <a:prstDash val="solid"/>
          </a:ln>
        </p:spPr>
        <p:txBody>
          <a:bodyPr/>
          <a:lstStyle/>
          <a:p>
            <a:endParaRPr lang="en-CL"/>
          </a:p>
        </p:txBody>
      </p:sp>
      <p:sp>
        <p:nvSpPr>
          <p:cNvPr id="11" name="Text 8"/>
          <p:cNvSpPr/>
          <p:nvPr/>
        </p:nvSpPr>
        <p:spPr>
          <a:xfrm>
            <a:off x="777240" y="3566160"/>
            <a:ext cx="5120640" cy="91440"/>
          </a:xfrm>
          <a:prstGeom prst="rect">
            <a:avLst/>
          </a:prstGeom>
          <a:noFill/>
          <a:ln/>
        </p:spPr>
        <p:txBody>
          <a:bodyPr wrap="square" lIns="0" tIns="0" rIns="0" bIns="0" rtlCol="0" anchor="ctr"/>
          <a:lstStyle/>
          <a:p>
            <a:pPr marL="0" indent="0" algn="ctr">
              <a:buNone/>
            </a:pPr>
            <a:r>
              <a:rPr lang="en-US" sz="750" b="1" dirty="0">
                <a:solidFill>
                  <a:srgbClr val="FFFFFF"/>
                </a:solidFill>
              </a:rPr>
              <a:t>GitHub Roadmap / backlog operativo</a:t>
            </a:r>
            <a:endParaRPr lang="en-US" sz="750" dirty="0"/>
          </a:p>
        </p:txBody>
      </p:sp>
      <p:sp>
        <p:nvSpPr>
          <p:cNvPr id="12" name="Shape 9"/>
          <p:cNvSpPr/>
          <p:nvPr/>
        </p:nvSpPr>
        <p:spPr>
          <a:xfrm>
            <a:off x="685800" y="3931920"/>
            <a:ext cx="5303520" cy="1920240"/>
          </a:xfrm>
          <a:prstGeom prst="roundRect">
            <a:avLst>
              <a:gd name="adj" fmla="val 2857"/>
            </a:avLst>
          </a:prstGeom>
          <a:solidFill>
            <a:srgbClr val="FFFFFF"/>
          </a:solidFill>
          <a:ln w="10160">
            <a:solidFill>
              <a:srgbClr val="CAD6E0"/>
            </a:solidFill>
            <a:prstDash val="solid"/>
          </a:ln>
        </p:spPr>
        <p:txBody>
          <a:bodyPr/>
          <a:lstStyle/>
          <a:p>
            <a:endParaRPr lang="en-CL"/>
          </a:p>
        </p:txBody>
      </p:sp>
      <p:pic>
        <p:nvPicPr>
          <p:cNvPr id="13" name="Image 1" descr="/mnt/data/ced43e68-0b05-4e06-81d3-82609728c1d4.png"/>
          <p:cNvPicPr>
            <a:picLocks noChangeAspect="1"/>
          </p:cNvPicPr>
          <p:nvPr/>
        </p:nvPicPr>
        <p:blipFill>
          <a:blip r:embed="rId4"/>
          <a:stretch>
            <a:fillRect/>
          </a:stretch>
        </p:blipFill>
        <p:spPr>
          <a:xfrm>
            <a:off x="2171059" y="3977640"/>
            <a:ext cx="2333002" cy="1600200"/>
          </a:xfrm>
          <a:prstGeom prst="rect">
            <a:avLst/>
          </a:prstGeom>
        </p:spPr>
      </p:pic>
      <p:sp>
        <p:nvSpPr>
          <p:cNvPr id="14" name="Shape 10"/>
          <p:cNvSpPr/>
          <p:nvPr/>
        </p:nvSpPr>
        <p:spPr>
          <a:xfrm>
            <a:off x="685800" y="5605272"/>
            <a:ext cx="5303520" cy="246888"/>
          </a:xfrm>
          <a:prstGeom prst="rect">
            <a:avLst/>
          </a:prstGeom>
          <a:solidFill>
            <a:srgbClr val="0F2742">
              <a:alpha val="92000"/>
            </a:srgbClr>
          </a:solidFill>
          <a:ln w="12700">
            <a:solidFill>
              <a:srgbClr val="0F2742"/>
            </a:solidFill>
            <a:prstDash val="solid"/>
          </a:ln>
        </p:spPr>
        <p:txBody>
          <a:bodyPr/>
          <a:lstStyle/>
          <a:p>
            <a:endParaRPr lang="en-CL"/>
          </a:p>
        </p:txBody>
      </p:sp>
      <p:sp>
        <p:nvSpPr>
          <p:cNvPr id="15" name="Text 11"/>
          <p:cNvSpPr/>
          <p:nvPr/>
        </p:nvSpPr>
        <p:spPr>
          <a:xfrm>
            <a:off x="777240" y="5669280"/>
            <a:ext cx="5120640" cy="91440"/>
          </a:xfrm>
          <a:prstGeom prst="rect">
            <a:avLst/>
          </a:prstGeom>
          <a:noFill/>
          <a:ln/>
        </p:spPr>
        <p:txBody>
          <a:bodyPr wrap="square" lIns="0" tIns="0" rIns="0" bIns="0" rtlCol="0" anchor="ctr"/>
          <a:lstStyle/>
          <a:p>
            <a:pPr marL="0" indent="0" algn="ctr">
              <a:buNone/>
            </a:pPr>
            <a:r>
              <a:rPr lang="en-US" sz="750" b="1" dirty="0">
                <a:solidFill>
                  <a:srgbClr val="FFFFFF"/>
                </a:solidFill>
              </a:rPr>
              <a:t>Carta Gantt formal S2-S10</a:t>
            </a:r>
            <a:endParaRPr lang="en-US" sz="750" dirty="0"/>
          </a:p>
        </p:txBody>
      </p:sp>
      <p:sp>
        <p:nvSpPr>
          <p:cNvPr id="16" name="Shape 12"/>
          <p:cNvSpPr/>
          <p:nvPr/>
        </p:nvSpPr>
        <p:spPr>
          <a:xfrm>
            <a:off x="6400800" y="1188720"/>
            <a:ext cx="4937760" cy="4663440"/>
          </a:xfrm>
          <a:prstGeom prst="roundRect">
            <a:avLst>
              <a:gd name="adj" fmla="val 1961"/>
            </a:avLst>
          </a:prstGeom>
          <a:solidFill>
            <a:srgbClr val="FFFFFF"/>
          </a:solidFill>
          <a:ln w="12700">
            <a:solidFill>
              <a:srgbClr val="CAD6E0"/>
            </a:solidFill>
            <a:prstDash val="solid"/>
          </a:ln>
        </p:spPr>
        <p:txBody>
          <a:bodyPr/>
          <a:lstStyle/>
          <a:p>
            <a:endParaRPr lang="en-CL"/>
          </a:p>
        </p:txBody>
      </p:sp>
      <p:sp>
        <p:nvSpPr>
          <p:cNvPr id="17" name="Text 13"/>
          <p:cNvSpPr/>
          <p:nvPr/>
        </p:nvSpPr>
        <p:spPr>
          <a:xfrm>
            <a:off x="6675120" y="1463040"/>
            <a:ext cx="4389120" cy="274320"/>
          </a:xfrm>
          <a:prstGeom prst="rect">
            <a:avLst/>
          </a:prstGeom>
          <a:noFill/>
          <a:ln/>
        </p:spPr>
        <p:txBody>
          <a:bodyPr wrap="square" lIns="0" tIns="0" rIns="0" bIns="0" rtlCol="0" anchor="ctr"/>
          <a:lstStyle/>
          <a:p>
            <a:pPr marL="0" indent="0">
              <a:buNone/>
            </a:pPr>
            <a:r>
              <a:rPr lang="en-US" sz="1800" b="1" dirty="0">
                <a:solidFill>
                  <a:srgbClr val="0F2742"/>
                </a:solidFill>
              </a:rPr>
              <a:t>Gestión aplicada</a:t>
            </a:r>
            <a:endParaRPr lang="en-US" sz="1800" dirty="0"/>
          </a:p>
        </p:txBody>
      </p:sp>
      <p:sp>
        <p:nvSpPr>
          <p:cNvPr id="18" name="Text 14"/>
          <p:cNvSpPr/>
          <p:nvPr/>
        </p:nvSpPr>
        <p:spPr>
          <a:xfrm>
            <a:off x="6720840" y="1920240"/>
            <a:ext cx="4251960" cy="2194560"/>
          </a:xfrm>
          <a:prstGeom prst="rect">
            <a:avLst/>
          </a:prstGeom>
          <a:noFill/>
          <a:ln/>
        </p:spPr>
        <p:txBody>
          <a:bodyPr wrap="square" lIns="635" tIns="635" rIns="635" bIns="635" rtlCol="0" anchor="ctr">
            <a:normAutofit/>
          </a:bodyPr>
          <a:lstStyle/>
          <a:p>
            <a:r>
              <a:rPr lang="en-US" sz="1350" dirty="0">
                <a:solidFill>
                  <a:srgbClr val="1B1F23"/>
                </a:solidFill>
              </a:rPr>
              <a:t>Scrum con dinámica semanal</a:t>
            </a:r>
            <a:endParaRPr lang="en-US" sz="1350" dirty="0"/>
          </a:p>
          <a:p>
            <a:r>
              <a:rPr lang="en-US" sz="1350" dirty="0">
                <a:solidFill>
                  <a:srgbClr val="1B1F23"/>
                </a:solidFill>
              </a:rPr>
              <a:t>Backlog priorizado por valor y criticidad</a:t>
            </a:r>
            <a:endParaRPr lang="en-US" sz="1350" dirty="0"/>
          </a:p>
          <a:p>
            <a:r>
              <a:rPr lang="en-US" sz="1350" dirty="0">
                <a:solidFill>
                  <a:srgbClr val="1B1F23"/>
                </a:solidFill>
              </a:rPr>
              <a:t>Planificación formal: S2 a S10</a:t>
            </a:r>
            <a:endParaRPr lang="en-US" sz="1350" dirty="0"/>
          </a:p>
          <a:p>
            <a:r>
              <a:rPr lang="en-US" sz="1350" dirty="0">
                <a:solidFill>
                  <a:srgbClr val="1B1F23"/>
                </a:solidFill>
              </a:rPr>
              <a:t>GitHub para roadmap, issues y evidencia</a:t>
            </a:r>
            <a:endParaRPr lang="en-US" sz="1350" dirty="0"/>
          </a:p>
          <a:p>
            <a:r>
              <a:rPr lang="en-US" sz="1350" dirty="0">
                <a:solidFill>
                  <a:srgbClr val="1B1F23"/>
                </a:solidFill>
              </a:rPr>
              <a:t>Draw.io para diagramas; navegador web para pruebas funcionales</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BBF72"/>
          </a:solidFill>
          <a:ln w="12700">
            <a:solidFill>
              <a:srgbClr val="0BBF72"/>
            </a:solidFill>
            <a:prstDash val="solid"/>
          </a:ln>
        </p:spPr>
        <p:txBody>
          <a:bodyPr/>
          <a:lstStyle/>
          <a:p>
            <a:endParaRPr lang="en-CL"/>
          </a:p>
        </p:txBody>
      </p:sp>
      <p:sp>
        <p:nvSpPr>
          <p:cNvPr id="3" name="Shape 1"/>
          <p:cNvSpPr/>
          <p:nvPr/>
        </p:nvSpPr>
        <p:spPr>
          <a:xfrm>
            <a:off x="0" y="6565392"/>
            <a:ext cx="12191695" cy="292608"/>
          </a:xfrm>
          <a:prstGeom prst="rect">
            <a:avLst/>
          </a:prstGeom>
          <a:solidFill>
            <a:srgbClr val="0F2742"/>
          </a:solidFill>
          <a:ln w="12700">
            <a:solidFill>
              <a:srgbClr val="0F2742"/>
            </a:solidFill>
            <a:prstDash val="solid"/>
          </a:ln>
        </p:spPr>
        <p:txBody>
          <a:bodyPr/>
          <a:lstStyle/>
          <a:p>
            <a:endParaRPr lang="en-CL"/>
          </a:p>
        </p:txBody>
      </p:sp>
      <p:sp>
        <p:nvSpPr>
          <p:cNvPr id="4" name="Text 2"/>
          <p:cNvSpPr/>
          <p:nvPr/>
        </p:nvSpPr>
        <p:spPr>
          <a:xfrm>
            <a:off x="502920" y="347472"/>
            <a:ext cx="10515600" cy="384048"/>
          </a:xfrm>
          <a:prstGeom prst="rect">
            <a:avLst/>
          </a:prstGeom>
          <a:noFill/>
          <a:ln/>
        </p:spPr>
        <p:txBody>
          <a:bodyPr wrap="square" lIns="0" tIns="0" rIns="0" bIns="0" rtlCol="0" anchor="ctr"/>
          <a:lstStyle/>
          <a:p>
            <a:pPr marL="0" indent="0">
              <a:buNone/>
            </a:pPr>
            <a:r>
              <a:rPr lang="en-US" sz="2600" b="1" dirty="0">
                <a:solidFill>
                  <a:srgbClr val="0F2742"/>
                </a:solidFill>
                <a:latin typeface="Arial" pitchFamily="34" charset="0"/>
                <a:ea typeface="Arial" pitchFamily="34" charset="-122"/>
                <a:cs typeface="Arial" pitchFamily="34" charset="-120"/>
              </a:rPr>
              <a:t>Arquitectura: GLPI sobre VM institucional</a:t>
            </a:r>
            <a:endParaRPr lang="en-US" sz="2600" dirty="0"/>
          </a:p>
        </p:txBody>
      </p:sp>
      <p:sp>
        <p:nvSpPr>
          <p:cNvPr id="5" name="Text 3"/>
          <p:cNvSpPr/>
          <p:nvPr/>
        </p:nvSpPr>
        <p:spPr>
          <a:xfrm>
            <a:off x="521208" y="768096"/>
            <a:ext cx="10607040" cy="219456"/>
          </a:xfrm>
          <a:prstGeom prst="rect">
            <a:avLst/>
          </a:prstGeom>
          <a:noFill/>
          <a:ln/>
        </p:spPr>
        <p:txBody>
          <a:bodyPr wrap="square" lIns="0" tIns="0" rIns="0" bIns="0" rtlCol="0" anchor="ctr"/>
          <a:lstStyle/>
          <a:p>
            <a:pPr marL="0" indent="0">
              <a:buNone/>
            </a:pPr>
            <a:r>
              <a:rPr lang="en-US" sz="1050" dirty="0">
                <a:solidFill>
                  <a:srgbClr val="657182"/>
                </a:solidFill>
              </a:rPr>
              <a:t>Monolito web en capas: simple, mantenible y ajustado al contexto del cliente.</a:t>
            </a:r>
            <a:endParaRPr lang="en-US" sz="1050" dirty="0"/>
          </a:p>
        </p:txBody>
      </p:sp>
      <p:sp>
        <p:nvSpPr>
          <p:cNvPr id="6" name="Text 4"/>
          <p:cNvSpPr/>
          <p:nvPr/>
        </p:nvSpPr>
        <p:spPr>
          <a:xfrm>
            <a:off x="502920" y="6611112"/>
            <a:ext cx="6583680" cy="146304"/>
          </a:xfrm>
          <a:prstGeom prst="rect">
            <a:avLst/>
          </a:prstGeom>
          <a:noFill/>
          <a:ln/>
        </p:spPr>
        <p:txBody>
          <a:bodyPr wrap="square" lIns="0" tIns="0" rIns="0" bIns="0" rtlCol="0" anchor="ctr"/>
          <a:lstStyle/>
          <a:p>
            <a:pPr marL="0" indent="0">
              <a:buNone/>
            </a:pPr>
            <a:r>
              <a:rPr lang="en-US" sz="750" dirty="0">
                <a:solidFill>
                  <a:srgbClr val="DCE7F2"/>
                </a:solidFill>
              </a:rPr>
              <a:t>TIP-INF-401 | Ingeniería en Informática | IPSS 2026</a:t>
            </a:r>
            <a:endParaRPr lang="en-US" sz="750" dirty="0"/>
          </a:p>
        </p:txBody>
      </p:sp>
      <p:sp>
        <p:nvSpPr>
          <p:cNvPr id="7" name="Text 5"/>
          <p:cNvSpPr/>
          <p:nvPr/>
        </p:nvSpPr>
        <p:spPr>
          <a:xfrm>
            <a:off x="11064240" y="6611112"/>
            <a:ext cx="640080" cy="146304"/>
          </a:xfrm>
          <a:prstGeom prst="rect">
            <a:avLst/>
          </a:prstGeom>
          <a:noFill/>
          <a:ln/>
        </p:spPr>
        <p:txBody>
          <a:bodyPr wrap="square" lIns="0" tIns="0" rIns="0" bIns="0" rtlCol="0" anchor="ctr"/>
          <a:lstStyle/>
          <a:p>
            <a:pPr marL="0" indent="0" algn="r">
              <a:buNone/>
            </a:pPr>
            <a:r>
              <a:rPr lang="en-US" sz="750" dirty="0">
                <a:solidFill>
                  <a:srgbClr val="DCE7F2"/>
                </a:solidFill>
              </a:rPr>
              <a:t>8/18</a:t>
            </a:r>
            <a:endParaRPr lang="en-US" sz="750" dirty="0"/>
          </a:p>
        </p:txBody>
      </p:sp>
      <p:sp>
        <p:nvSpPr>
          <p:cNvPr id="8" name="Shape 6"/>
          <p:cNvSpPr/>
          <p:nvPr/>
        </p:nvSpPr>
        <p:spPr>
          <a:xfrm>
            <a:off x="1143000" y="1600200"/>
            <a:ext cx="4480560" cy="411480"/>
          </a:xfrm>
          <a:prstGeom prst="roundRect">
            <a:avLst>
              <a:gd name="adj" fmla="val 13333"/>
            </a:avLst>
          </a:prstGeom>
          <a:solidFill>
            <a:srgbClr val="1F5B99"/>
          </a:solidFill>
          <a:ln w="12700">
            <a:solidFill>
              <a:srgbClr val="1F5B99"/>
            </a:solidFill>
            <a:prstDash val="solid"/>
          </a:ln>
        </p:spPr>
        <p:txBody>
          <a:bodyPr/>
          <a:lstStyle/>
          <a:p>
            <a:endParaRPr lang="en-CL"/>
          </a:p>
        </p:txBody>
      </p:sp>
      <p:sp>
        <p:nvSpPr>
          <p:cNvPr id="9" name="Text 7"/>
          <p:cNvSpPr/>
          <p:nvPr/>
        </p:nvSpPr>
        <p:spPr>
          <a:xfrm>
            <a:off x="1325880" y="1728216"/>
            <a:ext cx="1554480" cy="91440"/>
          </a:xfrm>
          <a:prstGeom prst="rect">
            <a:avLst/>
          </a:prstGeom>
          <a:noFill/>
          <a:ln/>
        </p:spPr>
        <p:txBody>
          <a:bodyPr wrap="square" lIns="0" tIns="0" rIns="0" bIns="0" rtlCol="0" anchor="ctr"/>
          <a:lstStyle/>
          <a:p>
            <a:pPr marL="0" indent="0">
              <a:buNone/>
            </a:pPr>
            <a:r>
              <a:rPr lang="en-US" sz="950" b="1" dirty="0">
                <a:solidFill>
                  <a:srgbClr val="FFFFFF"/>
                </a:solidFill>
              </a:rPr>
              <a:t>Navegador web</a:t>
            </a:r>
            <a:endParaRPr lang="en-US" sz="950" dirty="0"/>
          </a:p>
        </p:txBody>
      </p:sp>
      <p:sp>
        <p:nvSpPr>
          <p:cNvPr id="10" name="Text 8"/>
          <p:cNvSpPr/>
          <p:nvPr/>
        </p:nvSpPr>
        <p:spPr>
          <a:xfrm>
            <a:off x="3063240" y="1728216"/>
            <a:ext cx="2331720" cy="91440"/>
          </a:xfrm>
          <a:prstGeom prst="rect">
            <a:avLst/>
          </a:prstGeom>
          <a:noFill/>
          <a:ln/>
        </p:spPr>
        <p:txBody>
          <a:bodyPr wrap="square" lIns="0" tIns="0" rIns="0" bIns="0" rtlCol="0" anchor="ctr"/>
          <a:lstStyle/>
          <a:p>
            <a:pPr marL="0" indent="0">
              <a:buNone/>
            </a:pPr>
            <a:r>
              <a:rPr lang="en-US" sz="950" dirty="0">
                <a:solidFill>
                  <a:srgbClr val="FFFFFF"/>
                </a:solidFill>
              </a:rPr>
              <a:t>Interfaz GLPI</a:t>
            </a:r>
            <a:endParaRPr lang="en-US" sz="950" dirty="0"/>
          </a:p>
        </p:txBody>
      </p:sp>
      <p:sp>
        <p:nvSpPr>
          <p:cNvPr id="11" name="Shape 9"/>
          <p:cNvSpPr/>
          <p:nvPr/>
        </p:nvSpPr>
        <p:spPr>
          <a:xfrm>
            <a:off x="1143000" y="2221992"/>
            <a:ext cx="4480560" cy="411480"/>
          </a:xfrm>
          <a:prstGeom prst="roundRect">
            <a:avLst>
              <a:gd name="adj" fmla="val 13333"/>
            </a:avLst>
          </a:prstGeom>
          <a:solidFill>
            <a:srgbClr val="0BBF72"/>
          </a:solidFill>
          <a:ln w="12700">
            <a:solidFill>
              <a:srgbClr val="0BBF72"/>
            </a:solidFill>
            <a:prstDash val="solid"/>
          </a:ln>
        </p:spPr>
        <p:txBody>
          <a:bodyPr/>
          <a:lstStyle/>
          <a:p>
            <a:endParaRPr lang="en-CL"/>
          </a:p>
        </p:txBody>
      </p:sp>
      <p:sp>
        <p:nvSpPr>
          <p:cNvPr id="12" name="Text 10"/>
          <p:cNvSpPr/>
          <p:nvPr/>
        </p:nvSpPr>
        <p:spPr>
          <a:xfrm>
            <a:off x="1325880" y="2350008"/>
            <a:ext cx="1554480" cy="91440"/>
          </a:xfrm>
          <a:prstGeom prst="rect">
            <a:avLst/>
          </a:prstGeom>
          <a:noFill/>
          <a:ln/>
        </p:spPr>
        <p:txBody>
          <a:bodyPr wrap="square" lIns="0" tIns="0" rIns="0" bIns="0" rtlCol="0" anchor="ctr"/>
          <a:lstStyle/>
          <a:p>
            <a:pPr marL="0" indent="0">
              <a:buNone/>
            </a:pPr>
            <a:r>
              <a:rPr lang="en-US" sz="950" b="1" dirty="0">
                <a:solidFill>
                  <a:srgbClr val="FFFFFF"/>
                </a:solidFill>
              </a:rPr>
              <a:t>Aplicación GLPI</a:t>
            </a:r>
            <a:endParaRPr lang="en-US" sz="950" dirty="0"/>
          </a:p>
        </p:txBody>
      </p:sp>
      <p:sp>
        <p:nvSpPr>
          <p:cNvPr id="13" name="Text 11"/>
          <p:cNvSpPr/>
          <p:nvPr/>
        </p:nvSpPr>
        <p:spPr>
          <a:xfrm>
            <a:off x="3063240" y="2350008"/>
            <a:ext cx="2331720" cy="91440"/>
          </a:xfrm>
          <a:prstGeom prst="rect">
            <a:avLst/>
          </a:prstGeom>
          <a:noFill/>
          <a:ln/>
        </p:spPr>
        <p:txBody>
          <a:bodyPr wrap="square" lIns="0" tIns="0" rIns="0" bIns="0" rtlCol="0" anchor="ctr"/>
          <a:lstStyle/>
          <a:p>
            <a:pPr marL="0" indent="0">
              <a:buNone/>
            </a:pPr>
            <a:r>
              <a:rPr lang="en-US" sz="950" dirty="0">
                <a:solidFill>
                  <a:srgbClr val="FFFFFF"/>
                </a:solidFill>
              </a:rPr>
              <a:t>Tickets · activos · dashboards · perfiles</a:t>
            </a:r>
            <a:endParaRPr lang="en-US" sz="950" dirty="0"/>
          </a:p>
        </p:txBody>
      </p:sp>
      <p:sp>
        <p:nvSpPr>
          <p:cNvPr id="14" name="Shape 12"/>
          <p:cNvSpPr/>
          <p:nvPr/>
        </p:nvSpPr>
        <p:spPr>
          <a:xfrm>
            <a:off x="1143000" y="2843784"/>
            <a:ext cx="4480560" cy="411480"/>
          </a:xfrm>
          <a:prstGeom prst="roundRect">
            <a:avLst>
              <a:gd name="adj" fmla="val 13333"/>
            </a:avLst>
          </a:prstGeom>
          <a:solidFill>
            <a:srgbClr val="2EA7D6"/>
          </a:solidFill>
          <a:ln w="12700">
            <a:solidFill>
              <a:srgbClr val="2EA7D6"/>
            </a:solidFill>
            <a:prstDash val="solid"/>
          </a:ln>
        </p:spPr>
        <p:txBody>
          <a:bodyPr/>
          <a:lstStyle/>
          <a:p>
            <a:endParaRPr lang="en-CL"/>
          </a:p>
        </p:txBody>
      </p:sp>
      <p:sp>
        <p:nvSpPr>
          <p:cNvPr id="15" name="Text 13"/>
          <p:cNvSpPr/>
          <p:nvPr/>
        </p:nvSpPr>
        <p:spPr>
          <a:xfrm>
            <a:off x="1325880" y="2971800"/>
            <a:ext cx="1554480" cy="91440"/>
          </a:xfrm>
          <a:prstGeom prst="rect">
            <a:avLst/>
          </a:prstGeom>
          <a:noFill/>
          <a:ln/>
        </p:spPr>
        <p:txBody>
          <a:bodyPr wrap="square" lIns="0" tIns="0" rIns="0" bIns="0" rtlCol="0" anchor="ctr"/>
          <a:lstStyle/>
          <a:p>
            <a:pPr marL="0" indent="0">
              <a:buNone/>
            </a:pPr>
            <a:r>
              <a:rPr lang="en-US" sz="950" b="1" dirty="0">
                <a:solidFill>
                  <a:srgbClr val="FFFFFF"/>
                </a:solidFill>
              </a:rPr>
              <a:t>Apache + PHP</a:t>
            </a:r>
            <a:endParaRPr lang="en-US" sz="950" dirty="0"/>
          </a:p>
        </p:txBody>
      </p:sp>
      <p:sp>
        <p:nvSpPr>
          <p:cNvPr id="16" name="Text 14"/>
          <p:cNvSpPr/>
          <p:nvPr/>
        </p:nvSpPr>
        <p:spPr>
          <a:xfrm>
            <a:off x="3063240" y="2971800"/>
            <a:ext cx="2331720" cy="91440"/>
          </a:xfrm>
          <a:prstGeom prst="rect">
            <a:avLst/>
          </a:prstGeom>
          <a:noFill/>
          <a:ln/>
        </p:spPr>
        <p:txBody>
          <a:bodyPr wrap="square" lIns="0" tIns="0" rIns="0" bIns="0" rtlCol="0" anchor="ctr"/>
          <a:lstStyle/>
          <a:p>
            <a:pPr marL="0" indent="0">
              <a:buNone/>
            </a:pPr>
            <a:r>
              <a:rPr lang="en-US" sz="950" dirty="0">
                <a:solidFill>
                  <a:srgbClr val="FFFFFF"/>
                </a:solidFill>
              </a:rPr>
              <a:t>Servidor web + runtime</a:t>
            </a:r>
            <a:endParaRPr lang="en-US" sz="950" dirty="0"/>
          </a:p>
        </p:txBody>
      </p:sp>
      <p:sp>
        <p:nvSpPr>
          <p:cNvPr id="17" name="Shape 15"/>
          <p:cNvSpPr/>
          <p:nvPr/>
        </p:nvSpPr>
        <p:spPr>
          <a:xfrm>
            <a:off x="1143000" y="3465576"/>
            <a:ext cx="4480560" cy="411480"/>
          </a:xfrm>
          <a:prstGeom prst="roundRect">
            <a:avLst>
              <a:gd name="adj" fmla="val 13333"/>
            </a:avLst>
          </a:prstGeom>
          <a:solidFill>
            <a:srgbClr val="F2994A"/>
          </a:solidFill>
          <a:ln w="12700">
            <a:solidFill>
              <a:srgbClr val="F2994A"/>
            </a:solidFill>
            <a:prstDash val="solid"/>
          </a:ln>
        </p:spPr>
        <p:txBody>
          <a:bodyPr/>
          <a:lstStyle/>
          <a:p>
            <a:endParaRPr lang="en-CL"/>
          </a:p>
        </p:txBody>
      </p:sp>
      <p:sp>
        <p:nvSpPr>
          <p:cNvPr id="18" name="Text 16"/>
          <p:cNvSpPr/>
          <p:nvPr/>
        </p:nvSpPr>
        <p:spPr>
          <a:xfrm>
            <a:off x="1325880" y="3593592"/>
            <a:ext cx="1554480" cy="91440"/>
          </a:xfrm>
          <a:prstGeom prst="rect">
            <a:avLst/>
          </a:prstGeom>
          <a:noFill/>
          <a:ln/>
        </p:spPr>
        <p:txBody>
          <a:bodyPr wrap="square" lIns="0" tIns="0" rIns="0" bIns="0" rtlCol="0" anchor="ctr"/>
          <a:lstStyle/>
          <a:p>
            <a:pPr marL="0" indent="0">
              <a:buNone/>
            </a:pPr>
            <a:r>
              <a:rPr lang="en-US" sz="950" b="1" dirty="0">
                <a:solidFill>
                  <a:srgbClr val="FFFFFF"/>
                </a:solidFill>
              </a:rPr>
              <a:t>MariaDB</a:t>
            </a:r>
            <a:endParaRPr lang="en-US" sz="950" dirty="0"/>
          </a:p>
        </p:txBody>
      </p:sp>
      <p:sp>
        <p:nvSpPr>
          <p:cNvPr id="19" name="Text 17"/>
          <p:cNvSpPr/>
          <p:nvPr/>
        </p:nvSpPr>
        <p:spPr>
          <a:xfrm>
            <a:off x="3063240" y="3593592"/>
            <a:ext cx="2331720" cy="91440"/>
          </a:xfrm>
          <a:prstGeom prst="rect">
            <a:avLst/>
          </a:prstGeom>
          <a:noFill/>
          <a:ln/>
        </p:spPr>
        <p:txBody>
          <a:bodyPr wrap="square" lIns="0" tIns="0" rIns="0" bIns="0" rtlCol="0" anchor="ctr"/>
          <a:lstStyle/>
          <a:p>
            <a:pPr marL="0" indent="0">
              <a:buNone/>
            </a:pPr>
            <a:r>
              <a:rPr lang="en-US" sz="950" dirty="0">
                <a:solidFill>
                  <a:srgbClr val="FFFFFF"/>
                </a:solidFill>
              </a:rPr>
              <a:t>Persistencia relacional</a:t>
            </a:r>
            <a:endParaRPr lang="en-US" sz="950" dirty="0"/>
          </a:p>
        </p:txBody>
      </p:sp>
      <p:sp>
        <p:nvSpPr>
          <p:cNvPr id="20" name="Shape 18"/>
          <p:cNvSpPr/>
          <p:nvPr/>
        </p:nvSpPr>
        <p:spPr>
          <a:xfrm>
            <a:off x="1143000" y="4087368"/>
            <a:ext cx="4480560" cy="411480"/>
          </a:xfrm>
          <a:prstGeom prst="roundRect">
            <a:avLst>
              <a:gd name="adj" fmla="val 13333"/>
            </a:avLst>
          </a:prstGeom>
          <a:solidFill>
            <a:srgbClr val="0F2742"/>
          </a:solidFill>
          <a:ln w="12700">
            <a:solidFill>
              <a:srgbClr val="0F2742"/>
            </a:solidFill>
            <a:prstDash val="solid"/>
          </a:ln>
        </p:spPr>
        <p:txBody>
          <a:bodyPr/>
          <a:lstStyle/>
          <a:p>
            <a:endParaRPr lang="en-CL"/>
          </a:p>
        </p:txBody>
      </p:sp>
      <p:sp>
        <p:nvSpPr>
          <p:cNvPr id="21" name="Text 19"/>
          <p:cNvSpPr/>
          <p:nvPr/>
        </p:nvSpPr>
        <p:spPr>
          <a:xfrm>
            <a:off x="1325880" y="4215384"/>
            <a:ext cx="1554480" cy="91440"/>
          </a:xfrm>
          <a:prstGeom prst="rect">
            <a:avLst/>
          </a:prstGeom>
          <a:noFill/>
          <a:ln/>
        </p:spPr>
        <p:txBody>
          <a:bodyPr wrap="square" lIns="0" tIns="0" rIns="0" bIns="0" rtlCol="0" anchor="ctr"/>
          <a:lstStyle/>
          <a:p>
            <a:pPr marL="0" indent="0">
              <a:buNone/>
            </a:pPr>
            <a:r>
              <a:rPr lang="en-US" sz="950" b="1" dirty="0">
                <a:solidFill>
                  <a:srgbClr val="FFFFFF"/>
                </a:solidFill>
              </a:rPr>
              <a:t>Máquina virtual institucional</a:t>
            </a:r>
            <a:endParaRPr lang="en-US" sz="950" dirty="0"/>
          </a:p>
        </p:txBody>
      </p:sp>
      <p:sp>
        <p:nvSpPr>
          <p:cNvPr id="22" name="Text 20"/>
          <p:cNvSpPr/>
          <p:nvPr/>
        </p:nvSpPr>
        <p:spPr>
          <a:xfrm>
            <a:off x="3063240" y="4215384"/>
            <a:ext cx="2331720" cy="91440"/>
          </a:xfrm>
          <a:prstGeom prst="rect">
            <a:avLst/>
          </a:prstGeom>
          <a:noFill/>
          <a:ln/>
        </p:spPr>
        <p:txBody>
          <a:bodyPr wrap="square" lIns="0" tIns="0" rIns="0" bIns="0" rtlCol="0" anchor="ctr"/>
          <a:lstStyle/>
          <a:p>
            <a:pPr marL="0" indent="0">
              <a:buNone/>
            </a:pPr>
            <a:r>
              <a:rPr lang="en-US" sz="950" dirty="0">
                <a:solidFill>
                  <a:srgbClr val="FFFFFF"/>
                </a:solidFill>
              </a:rPr>
              <a:t>Infraestructura existente</a:t>
            </a:r>
            <a:endParaRPr lang="en-US" sz="950" dirty="0"/>
          </a:p>
        </p:txBody>
      </p:sp>
      <p:sp>
        <p:nvSpPr>
          <p:cNvPr id="23" name="Shape 21"/>
          <p:cNvSpPr/>
          <p:nvPr/>
        </p:nvSpPr>
        <p:spPr>
          <a:xfrm>
            <a:off x="6172200" y="1600200"/>
            <a:ext cx="4800600" cy="822960"/>
          </a:xfrm>
          <a:prstGeom prst="roundRect">
            <a:avLst>
              <a:gd name="adj" fmla="val 8889"/>
            </a:avLst>
          </a:prstGeom>
          <a:solidFill>
            <a:srgbClr val="FFFFFF"/>
          </a:solidFill>
          <a:ln w="12700">
            <a:solidFill>
              <a:srgbClr val="CAD6E0"/>
            </a:solidFill>
            <a:prstDash val="solid"/>
          </a:ln>
        </p:spPr>
        <p:txBody>
          <a:bodyPr/>
          <a:lstStyle/>
          <a:p>
            <a:endParaRPr lang="en-CL"/>
          </a:p>
        </p:txBody>
      </p:sp>
      <p:sp>
        <p:nvSpPr>
          <p:cNvPr id="24" name="Shape 22"/>
          <p:cNvSpPr/>
          <p:nvPr/>
        </p:nvSpPr>
        <p:spPr>
          <a:xfrm>
            <a:off x="6172200" y="1600200"/>
            <a:ext cx="73152" cy="822960"/>
          </a:xfrm>
          <a:prstGeom prst="rect">
            <a:avLst/>
          </a:prstGeom>
          <a:solidFill>
            <a:srgbClr val="1F5B99"/>
          </a:solidFill>
          <a:ln w="12700">
            <a:solidFill>
              <a:srgbClr val="1F5B99"/>
            </a:solidFill>
            <a:prstDash val="solid"/>
          </a:ln>
        </p:spPr>
        <p:txBody>
          <a:bodyPr/>
          <a:lstStyle/>
          <a:p>
            <a:endParaRPr lang="en-CL"/>
          </a:p>
        </p:txBody>
      </p:sp>
      <p:sp>
        <p:nvSpPr>
          <p:cNvPr id="25" name="Text 23"/>
          <p:cNvSpPr/>
          <p:nvPr/>
        </p:nvSpPr>
        <p:spPr>
          <a:xfrm>
            <a:off x="6373368" y="1746504"/>
            <a:ext cx="4489704" cy="228600"/>
          </a:xfrm>
          <a:prstGeom prst="rect">
            <a:avLst/>
          </a:prstGeom>
          <a:noFill/>
          <a:ln/>
        </p:spPr>
        <p:txBody>
          <a:bodyPr wrap="square" lIns="0" tIns="0" rIns="0" bIns="0" rtlCol="0" anchor="ctr"/>
          <a:lstStyle/>
          <a:p>
            <a:pPr marL="0" indent="0">
              <a:buNone/>
            </a:pPr>
            <a:r>
              <a:rPr lang="en-US" sz="1300" b="1" dirty="0">
                <a:solidFill>
                  <a:srgbClr val="0F2742"/>
                </a:solidFill>
              </a:rPr>
              <a:t>1. Menor complejidad</a:t>
            </a:r>
            <a:endParaRPr lang="en-US" sz="1300" dirty="0"/>
          </a:p>
        </p:txBody>
      </p:sp>
      <p:sp>
        <p:nvSpPr>
          <p:cNvPr id="26" name="Text 24"/>
          <p:cNvSpPr/>
          <p:nvPr/>
        </p:nvSpPr>
        <p:spPr>
          <a:xfrm>
            <a:off x="6373368" y="2057400"/>
            <a:ext cx="4489704" cy="274320"/>
          </a:xfrm>
          <a:prstGeom prst="rect">
            <a:avLst/>
          </a:prstGeom>
          <a:noFill/>
          <a:ln/>
        </p:spPr>
        <p:txBody>
          <a:bodyPr wrap="square" lIns="0" tIns="0" rIns="0" bIns="0" rtlCol="0" anchor="ctr">
            <a:normAutofit/>
          </a:bodyPr>
          <a:lstStyle/>
          <a:p>
            <a:pPr marL="0" indent="0">
              <a:buNone/>
            </a:pPr>
            <a:r>
              <a:rPr lang="en-US" sz="1050" dirty="0">
                <a:solidFill>
                  <a:srgbClr val="1B1F23"/>
                </a:solidFill>
              </a:rPr>
              <a:t>Acelera puesta en marcha y reduce costo técnico.</a:t>
            </a:r>
            <a:endParaRPr lang="en-US" sz="1050" dirty="0"/>
          </a:p>
        </p:txBody>
      </p:sp>
      <p:sp>
        <p:nvSpPr>
          <p:cNvPr id="27" name="Shape 25"/>
          <p:cNvSpPr/>
          <p:nvPr/>
        </p:nvSpPr>
        <p:spPr>
          <a:xfrm>
            <a:off x="6172200" y="2606040"/>
            <a:ext cx="4800600" cy="822960"/>
          </a:xfrm>
          <a:prstGeom prst="roundRect">
            <a:avLst>
              <a:gd name="adj" fmla="val 8889"/>
            </a:avLst>
          </a:prstGeom>
          <a:solidFill>
            <a:srgbClr val="FFFFFF"/>
          </a:solidFill>
          <a:ln w="12700">
            <a:solidFill>
              <a:srgbClr val="CAD6E0"/>
            </a:solidFill>
            <a:prstDash val="solid"/>
          </a:ln>
        </p:spPr>
        <p:txBody>
          <a:bodyPr/>
          <a:lstStyle/>
          <a:p>
            <a:endParaRPr lang="en-CL"/>
          </a:p>
        </p:txBody>
      </p:sp>
      <p:sp>
        <p:nvSpPr>
          <p:cNvPr id="28" name="Shape 26"/>
          <p:cNvSpPr/>
          <p:nvPr/>
        </p:nvSpPr>
        <p:spPr>
          <a:xfrm>
            <a:off x="6172200" y="2606040"/>
            <a:ext cx="73152" cy="822960"/>
          </a:xfrm>
          <a:prstGeom prst="rect">
            <a:avLst/>
          </a:prstGeom>
          <a:solidFill>
            <a:srgbClr val="0BBF72"/>
          </a:solidFill>
          <a:ln w="12700">
            <a:solidFill>
              <a:srgbClr val="0BBF72"/>
            </a:solidFill>
            <a:prstDash val="solid"/>
          </a:ln>
        </p:spPr>
        <p:txBody>
          <a:bodyPr/>
          <a:lstStyle/>
          <a:p>
            <a:endParaRPr lang="en-CL"/>
          </a:p>
        </p:txBody>
      </p:sp>
      <p:sp>
        <p:nvSpPr>
          <p:cNvPr id="29" name="Text 27"/>
          <p:cNvSpPr/>
          <p:nvPr/>
        </p:nvSpPr>
        <p:spPr>
          <a:xfrm>
            <a:off x="6373368" y="2752344"/>
            <a:ext cx="4489704" cy="228600"/>
          </a:xfrm>
          <a:prstGeom prst="rect">
            <a:avLst/>
          </a:prstGeom>
          <a:noFill/>
          <a:ln/>
        </p:spPr>
        <p:txBody>
          <a:bodyPr wrap="square" lIns="0" tIns="0" rIns="0" bIns="0" rtlCol="0" anchor="ctr"/>
          <a:lstStyle/>
          <a:p>
            <a:pPr marL="0" indent="0">
              <a:buNone/>
            </a:pPr>
            <a:r>
              <a:rPr lang="en-US" sz="1300" b="1" dirty="0">
                <a:solidFill>
                  <a:srgbClr val="0F2742"/>
                </a:solidFill>
              </a:rPr>
              <a:t>2. Helpdesk + inventario</a:t>
            </a:r>
            <a:endParaRPr lang="en-US" sz="1300" dirty="0"/>
          </a:p>
        </p:txBody>
      </p:sp>
      <p:sp>
        <p:nvSpPr>
          <p:cNvPr id="30" name="Text 28"/>
          <p:cNvSpPr/>
          <p:nvPr/>
        </p:nvSpPr>
        <p:spPr>
          <a:xfrm>
            <a:off x="6373368" y="3063240"/>
            <a:ext cx="4489704" cy="274320"/>
          </a:xfrm>
          <a:prstGeom prst="rect">
            <a:avLst/>
          </a:prstGeom>
          <a:noFill/>
          <a:ln/>
        </p:spPr>
        <p:txBody>
          <a:bodyPr wrap="square" lIns="0" tIns="0" rIns="0" bIns="0" rtlCol="0" anchor="ctr">
            <a:normAutofit/>
          </a:bodyPr>
          <a:lstStyle/>
          <a:p>
            <a:pPr marL="0" indent="0">
              <a:buNone/>
            </a:pPr>
            <a:r>
              <a:rPr lang="en-US" sz="1050" dirty="0">
                <a:solidFill>
                  <a:srgbClr val="1B1F23"/>
                </a:solidFill>
              </a:rPr>
              <a:t>Centraliza tickets, usuarios, ubicaciones y activos.</a:t>
            </a:r>
            <a:endParaRPr lang="en-US" sz="1050" dirty="0"/>
          </a:p>
        </p:txBody>
      </p:sp>
      <p:sp>
        <p:nvSpPr>
          <p:cNvPr id="31" name="Shape 29"/>
          <p:cNvSpPr/>
          <p:nvPr/>
        </p:nvSpPr>
        <p:spPr>
          <a:xfrm>
            <a:off x="6172200" y="3611880"/>
            <a:ext cx="4800600" cy="822960"/>
          </a:xfrm>
          <a:prstGeom prst="roundRect">
            <a:avLst>
              <a:gd name="adj" fmla="val 8889"/>
            </a:avLst>
          </a:prstGeom>
          <a:solidFill>
            <a:srgbClr val="FFFFFF"/>
          </a:solidFill>
          <a:ln w="12700">
            <a:solidFill>
              <a:srgbClr val="CAD6E0"/>
            </a:solidFill>
            <a:prstDash val="solid"/>
          </a:ln>
        </p:spPr>
        <p:txBody>
          <a:bodyPr/>
          <a:lstStyle/>
          <a:p>
            <a:endParaRPr lang="en-CL"/>
          </a:p>
        </p:txBody>
      </p:sp>
      <p:sp>
        <p:nvSpPr>
          <p:cNvPr id="32" name="Shape 30"/>
          <p:cNvSpPr/>
          <p:nvPr/>
        </p:nvSpPr>
        <p:spPr>
          <a:xfrm>
            <a:off x="6172200" y="3611880"/>
            <a:ext cx="73152" cy="822960"/>
          </a:xfrm>
          <a:prstGeom prst="rect">
            <a:avLst/>
          </a:prstGeom>
          <a:solidFill>
            <a:srgbClr val="2EA7D6"/>
          </a:solidFill>
          <a:ln w="12700">
            <a:solidFill>
              <a:srgbClr val="2EA7D6"/>
            </a:solidFill>
            <a:prstDash val="solid"/>
          </a:ln>
        </p:spPr>
        <p:txBody>
          <a:bodyPr/>
          <a:lstStyle/>
          <a:p>
            <a:endParaRPr lang="en-CL"/>
          </a:p>
        </p:txBody>
      </p:sp>
      <p:sp>
        <p:nvSpPr>
          <p:cNvPr id="33" name="Text 31"/>
          <p:cNvSpPr/>
          <p:nvPr/>
        </p:nvSpPr>
        <p:spPr>
          <a:xfrm>
            <a:off x="6373368" y="3758184"/>
            <a:ext cx="4489704" cy="228600"/>
          </a:xfrm>
          <a:prstGeom prst="rect">
            <a:avLst/>
          </a:prstGeom>
          <a:noFill/>
          <a:ln/>
        </p:spPr>
        <p:txBody>
          <a:bodyPr wrap="square" lIns="0" tIns="0" rIns="0" bIns="0" rtlCol="0" anchor="ctr"/>
          <a:lstStyle/>
          <a:p>
            <a:pPr marL="0" indent="0">
              <a:buNone/>
            </a:pPr>
            <a:r>
              <a:rPr lang="en-US" sz="1300" b="1" dirty="0">
                <a:solidFill>
                  <a:srgbClr val="0F2742"/>
                </a:solidFill>
              </a:rPr>
              <a:t>3. Operación sencilla</a:t>
            </a:r>
            <a:endParaRPr lang="en-US" sz="1300" dirty="0"/>
          </a:p>
        </p:txBody>
      </p:sp>
      <p:sp>
        <p:nvSpPr>
          <p:cNvPr id="34" name="Text 32"/>
          <p:cNvSpPr/>
          <p:nvPr/>
        </p:nvSpPr>
        <p:spPr>
          <a:xfrm>
            <a:off x="6373368" y="4069080"/>
            <a:ext cx="4489704" cy="274320"/>
          </a:xfrm>
          <a:prstGeom prst="rect">
            <a:avLst/>
          </a:prstGeom>
          <a:noFill/>
          <a:ln/>
        </p:spPr>
        <p:txBody>
          <a:bodyPr wrap="square" lIns="0" tIns="0" rIns="0" bIns="0" rtlCol="0" anchor="ctr">
            <a:normAutofit/>
          </a:bodyPr>
          <a:lstStyle/>
          <a:p>
            <a:pPr marL="0" indent="0">
              <a:buNone/>
            </a:pPr>
            <a:r>
              <a:rPr lang="en-US" sz="1050" dirty="0">
                <a:solidFill>
                  <a:srgbClr val="1B1F23"/>
                </a:solidFill>
              </a:rPr>
              <a:t>Una instancia principal sobre VM ya disponible.</a:t>
            </a:r>
            <a:endParaRPr lang="en-US" sz="1050" dirty="0"/>
          </a:p>
        </p:txBody>
      </p:sp>
      <p:sp>
        <p:nvSpPr>
          <p:cNvPr id="35" name="Shape 33"/>
          <p:cNvSpPr/>
          <p:nvPr/>
        </p:nvSpPr>
        <p:spPr>
          <a:xfrm>
            <a:off x="6172200" y="4617720"/>
            <a:ext cx="4800600" cy="822960"/>
          </a:xfrm>
          <a:prstGeom prst="roundRect">
            <a:avLst>
              <a:gd name="adj" fmla="val 8889"/>
            </a:avLst>
          </a:prstGeom>
          <a:solidFill>
            <a:srgbClr val="FFFFFF"/>
          </a:solidFill>
          <a:ln w="12700">
            <a:solidFill>
              <a:srgbClr val="CAD6E0"/>
            </a:solidFill>
            <a:prstDash val="solid"/>
          </a:ln>
        </p:spPr>
        <p:txBody>
          <a:bodyPr/>
          <a:lstStyle/>
          <a:p>
            <a:endParaRPr lang="en-CL"/>
          </a:p>
        </p:txBody>
      </p:sp>
      <p:sp>
        <p:nvSpPr>
          <p:cNvPr id="36" name="Shape 34"/>
          <p:cNvSpPr/>
          <p:nvPr/>
        </p:nvSpPr>
        <p:spPr>
          <a:xfrm>
            <a:off x="6172200" y="4617720"/>
            <a:ext cx="73152" cy="822960"/>
          </a:xfrm>
          <a:prstGeom prst="rect">
            <a:avLst/>
          </a:prstGeom>
          <a:solidFill>
            <a:srgbClr val="F2994A"/>
          </a:solidFill>
          <a:ln w="12700">
            <a:solidFill>
              <a:srgbClr val="F2994A"/>
            </a:solidFill>
            <a:prstDash val="solid"/>
          </a:ln>
        </p:spPr>
        <p:txBody>
          <a:bodyPr/>
          <a:lstStyle/>
          <a:p>
            <a:endParaRPr lang="en-CL"/>
          </a:p>
        </p:txBody>
      </p:sp>
      <p:sp>
        <p:nvSpPr>
          <p:cNvPr id="37" name="Text 35"/>
          <p:cNvSpPr/>
          <p:nvPr/>
        </p:nvSpPr>
        <p:spPr>
          <a:xfrm>
            <a:off x="6373368" y="4764024"/>
            <a:ext cx="4489704" cy="228600"/>
          </a:xfrm>
          <a:prstGeom prst="rect">
            <a:avLst/>
          </a:prstGeom>
          <a:noFill/>
          <a:ln/>
        </p:spPr>
        <p:txBody>
          <a:bodyPr wrap="square" lIns="0" tIns="0" rIns="0" bIns="0" rtlCol="0" anchor="ctr"/>
          <a:lstStyle/>
          <a:p>
            <a:pPr marL="0" indent="0">
              <a:buNone/>
            </a:pPr>
            <a:r>
              <a:rPr lang="en-US" sz="1300" b="1" dirty="0">
                <a:solidFill>
                  <a:srgbClr val="0F2742"/>
                </a:solidFill>
              </a:rPr>
              <a:t>4. Mantenible y replicable</a:t>
            </a:r>
            <a:endParaRPr lang="en-US" sz="1300" dirty="0"/>
          </a:p>
        </p:txBody>
      </p:sp>
      <p:sp>
        <p:nvSpPr>
          <p:cNvPr id="38" name="Text 36"/>
          <p:cNvSpPr/>
          <p:nvPr/>
        </p:nvSpPr>
        <p:spPr>
          <a:xfrm>
            <a:off x="6373368" y="5074920"/>
            <a:ext cx="4489704" cy="274320"/>
          </a:xfrm>
          <a:prstGeom prst="rect">
            <a:avLst/>
          </a:prstGeom>
          <a:noFill/>
          <a:ln/>
        </p:spPr>
        <p:txBody>
          <a:bodyPr wrap="square" lIns="0" tIns="0" rIns="0" bIns="0" rtlCol="0" anchor="ctr">
            <a:normAutofit/>
          </a:bodyPr>
          <a:lstStyle/>
          <a:p>
            <a:pPr marL="0" indent="0">
              <a:buNone/>
            </a:pPr>
            <a:r>
              <a:rPr lang="en-US" sz="1050" dirty="0">
                <a:solidFill>
                  <a:srgbClr val="1B1F23"/>
                </a:solidFill>
              </a:rPr>
              <a:t>Instalación documentada en Anexo A.</a:t>
            </a:r>
            <a:endParaRPr lang="en-US" sz="1050" dirty="0"/>
          </a:p>
        </p:txBody>
      </p:sp>
      <p:sp>
        <p:nvSpPr>
          <p:cNvPr id="39" name="Text 37"/>
          <p:cNvSpPr/>
          <p:nvPr/>
        </p:nvSpPr>
        <p:spPr>
          <a:xfrm>
            <a:off x="1143000" y="5623560"/>
            <a:ext cx="10058400" cy="219456"/>
          </a:xfrm>
          <a:prstGeom prst="rect">
            <a:avLst/>
          </a:prstGeom>
          <a:noFill/>
          <a:ln/>
        </p:spPr>
        <p:txBody>
          <a:bodyPr wrap="square" lIns="0" tIns="0" rIns="0" bIns="0" rtlCol="0" anchor="ctr"/>
          <a:lstStyle/>
          <a:p>
            <a:pPr marL="0" indent="0" algn="ctr">
              <a:buNone/>
            </a:pPr>
            <a:r>
              <a:rPr lang="en-US" sz="1150" i="1" dirty="0">
                <a:solidFill>
                  <a:srgbClr val="657182"/>
                </a:solidFill>
              </a:rPr>
              <a:t>Alternativas descartadas: microservicios + frontend propio y desarrollo a medida, por mayor costo, mayor integración y riesgo técnico.</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BBF72"/>
          </a:solidFill>
          <a:ln w="12700">
            <a:solidFill>
              <a:srgbClr val="0BBF72"/>
            </a:solidFill>
            <a:prstDash val="solid"/>
          </a:ln>
        </p:spPr>
        <p:txBody>
          <a:bodyPr/>
          <a:lstStyle/>
          <a:p>
            <a:endParaRPr lang="en-CL"/>
          </a:p>
        </p:txBody>
      </p:sp>
      <p:sp>
        <p:nvSpPr>
          <p:cNvPr id="3" name="Shape 1"/>
          <p:cNvSpPr/>
          <p:nvPr/>
        </p:nvSpPr>
        <p:spPr>
          <a:xfrm>
            <a:off x="0" y="6565392"/>
            <a:ext cx="12191695" cy="292608"/>
          </a:xfrm>
          <a:prstGeom prst="rect">
            <a:avLst/>
          </a:prstGeom>
          <a:solidFill>
            <a:srgbClr val="0F2742"/>
          </a:solidFill>
          <a:ln w="12700">
            <a:solidFill>
              <a:srgbClr val="0F2742"/>
            </a:solidFill>
            <a:prstDash val="solid"/>
          </a:ln>
        </p:spPr>
        <p:txBody>
          <a:bodyPr/>
          <a:lstStyle/>
          <a:p>
            <a:endParaRPr lang="en-CL"/>
          </a:p>
        </p:txBody>
      </p:sp>
      <p:sp>
        <p:nvSpPr>
          <p:cNvPr id="4" name="Text 2"/>
          <p:cNvSpPr/>
          <p:nvPr/>
        </p:nvSpPr>
        <p:spPr>
          <a:xfrm>
            <a:off x="502920" y="347472"/>
            <a:ext cx="10515600" cy="384048"/>
          </a:xfrm>
          <a:prstGeom prst="rect">
            <a:avLst/>
          </a:prstGeom>
          <a:noFill/>
          <a:ln/>
        </p:spPr>
        <p:txBody>
          <a:bodyPr wrap="square" lIns="0" tIns="0" rIns="0" bIns="0" rtlCol="0" anchor="ctr"/>
          <a:lstStyle/>
          <a:p>
            <a:pPr marL="0" indent="0">
              <a:buNone/>
            </a:pPr>
            <a:r>
              <a:rPr lang="en-US" sz="2600" b="1" dirty="0">
                <a:solidFill>
                  <a:srgbClr val="0F2742"/>
                </a:solidFill>
                <a:latin typeface="Arial" pitchFamily="34" charset="0"/>
                <a:ea typeface="Arial" pitchFamily="34" charset="-122"/>
                <a:cs typeface="Arial" pitchFamily="34" charset="-120"/>
              </a:rPr>
              <a:t>Diagrama C4 simplificado y componentes</a:t>
            </a:r>
            <a:endParaRPr lang="en-US" sz="2600" dirty="0"/>
          </a:p>
        </p:txBody>
      </p:sp>
      <p:sp>
        <p:nvSpPr>
          <p:cNvPr id="5" name="Text 3"/>
          <p:cNvSpPr/>
          <p:nvPr/>
        </p:nvSpPr>
        <p:spPr>
          <a:xfrm>
            <a:off x="521208" y="768096"/>
            <a:ext cx="10607040" cy="219456"/>
          </a:xfrm>
          <a:prstGeom prst="rect">
            <a:avLst/>
          </a:prstGeom>
          <a:noFill/>
          <a:ln/>
        </p:spPr>
        <p:txBody>
          <a:bodyPr wrap="square" lIns="0" tIns="0" rIns="0" bIns="0" rtlCol="0" anchor="ctr"/>
          <a:lstStyle/>
          <a:p>
            <a:pPr marL="0" indent="0">
              <a:buNone/>
            </a:pPr>
            <a:r>
              <a:rPr lang="en-US" sz="1050" dirty="0">
                <a:solidFill>
                  <a:srgbClr val="657182"/>
                </a:solidFill>
              </a:rPr>
              <a:t>Sistema central GLPI conectado con usuarios, servicios y activos TI.</a:t>
            </a:r>
            <a:endParaRPr lang="en-US" sz="1050" dirty="0"/>
          </a:p>
        </p:txBody>
      </p:sp>
      <p:sp>
        <p:nvSpPr>
          <p:cNvPr id="6" name="Text 4"/>
          <p:cNvSpPr/>
          <p:nvPr/>
        </p:nvSpPr>
        <p:spPr>
          <a:xfrm>
            <a:off x="502920" y="6611112"/>
            <a:ext cx="6583680" cy="146304"/>
          </a:xfrm>
          <a:prstGeom prst="rect">
            <a:avLst/>
          </a:prstGeom>
          <a:noFill/>
          <a:ln/>
        </p:spPr>
        <p:txBody>
          <a:bodyPr wrap="square" lIns="0" tIns="0" rIns="0" bIns="0" rtlCol="0" anchor="ctr"/>
          <a:lstStyle/>
          <a:p>
            <a:pPr marL="0" indent="0">
              <a:buNone/>
            </a:pPr>
            <a:r>
              <a:rPr lang="en-US" sz="750" dirty="0">
                <a:solidFill>
                  <a:srgbClr val="DCE7F2"/>
                </a:solidFill>
              </a:rPr>
              <a:t>TIP-INF-401 | Ingeniería en Informática | IPSS 2026</a:t>
            </a:r>
            <a:endParaRPr lang="en-US" sz="750" dirty="0"/>
          </a:p>
        </p:txBody>
      </p:sp>
      <p:sp>
        <p:nvSpPr>
          <p:cNvPr id="7" name="Text 5"/>
          <p:cNvSpPr/>
          <p:nvPr/>
        </p:nvSpPr>
        <p:spPr>
          <a:xfrm>
            <a:off x="11064240" y="6611112"/>
            <a:ext cx="640080" cy="146304"/>
          </a:xfrm>
          <a:prstGeom prst="rect">
            <a:avLst/>
          </a:prstGeom>
          <a:noFill/>
          <a:ln/>
        </p:spPr>
        <p:txBody>
          <a:bodyPr wrap="square" lIns="0" tIns="0" rIns="0" bIns="0" rtlCol="0" anchor="ctr"/>
          <a:lstStyle/>
          <a:p>
            <a:pPr marL="0" indent="0" algn="r">
              <a:buNone/>
            </a:pPr>
            <a:r>
              <a:rPr lang="en-US" sz="750" dirty="0">
                <a:solidFill>
                  <a:srgbClr val="DCE7F2"/>
                </a:solidFill>
              </a:rPr>
              <a:t>9/18</a:t>
            </a:r>
            <a:endParaRPr lang="en-US" sz="750" dirty="0"/>
          </a:p>
        </p:txBody>
      </p:sp>
      <p:sp>
        <p:nvSpPr>
          <p:cNvPr id="8" name="Shape 6"/>
          <p:cNvSpPr/>
          <p:nvPr/>
        </p:nvSpPr>
        <p:spPr>
          <a:xfrm>
            <a:off x="2377440" y="1920240"/>
            <a:ext cx="1463040" cy="0"/>
          </a:xfrm>
          <a:prstGeom prst="line">
            <a:avLst/>
          </a:prstGeom>
          <a:noFill/>
          <a:ln w="19050">
            <a:solidFill>
              <a:srgbClr val="657182"/>
            </a:solidFill>
            <a:prstDash val="solid"/>
            <a:headEnd type="none"/>
            <a:tailEnd type="triangle"/>
          </a:ln>
        </p:spPr>
        <p:txBody>
          <a:bodyPr/>
          <a:lstStyle/>
          <a:p>
            <a:endParaRPr lang="en-CL"/>
          </a:p>
        </p:txBody>
      </p:sp>
      <p:sp>
        <p:nvSpPr>
          <p:cNvPr id="9" name="Shape 7"/>
          <p:cNvSpPr/>
          <p:nvPr/>
        </p:nvSpPr>
        <p:spPr>
          <a:xfrm>
            <a:off x="2377440" y="3154680"/>
            <a:ext cx="1463040" cy="0"/>
          </a:xfrm>
          <a:prstGeom prst="line">
            <a:avLst/>
          </a:prstGeom>
          <a:noFill/>
          <a:ln w="19050">
            <a:solidFill>
              <a:srgbClr val="657182"/>
            </a:solidFill>
            <a:prstDash val="solid"/>
            <a:headEnd type="none"/>
            <a:tailEnd type="triangle"/>
          </a:ln>
        </p:spPr>
        <p:txBody>
          <a:bodyPr/>
          <a:lstStyle/>
          <a:p>
            <a:endParaRPr lang="en-CL"/>
          </a:p>
        </p:txBody>
      </p:sp>
      <p:sp>
        <p:nvSpPr>
          <p:cNvPr id="10" name="Shape 8"/>
          <p:cNvSpPr/>
          <p:nvPr/>
        </p:nvSpPr>
        <p:spPr>
          <a:xfrm>
            <a:off x="2377440" y="4389120"/>
            <a:ext cx="1463040" cy="0"/>
          </a:xfrm>
          <a:prstGeom prst="line">
            <a:avLst/>
          </a:prstGeom>
          <a:noFill/>
          <a:ln w="19050">
            <a:solidFill>
              <a:srgbClr val="657182"/>
            </a:solidFill>
            <a:prstDash val="solid"/>
            <a:headEnd type="none"/>
            <a:tailEnd type="triangle"/>
          </a:ln>
        </p:spPr>
        <p:txBody>
          <a:bodyPr/>
          <a:lstStyle/>
          <a:p>
            <a:endParaRPr lang="en-CL"/>
          </a:p>
        </p:txBody>
      </p:sp>
      <p:sp>
        <p:nvSpPr>
          <p:cNvPr id="11" name="Shape 9"/>
          <p:cNvSpPr/>
          <p:nvPr/>
        </p:nvSpPr>
        <p:spPr>
          <a:xfrm>
            <a:off x="8503920" y="1965960"/>
            <a:ext cx="1280160" cy="0"/>
          </a:xfrm>
          <a:prstGeom prst="line">
            <a:avLst/>
          </a:prstGeom>
          <a:noFill/>
          <a:ln w="19050">
            <a:solidFill>
              <a:srgbClr val="657182"/>
            </a:solidFill>
            <a:prstDash val="solid"/>
            <a:headEnd type="none"/>
            <a:tailEnd type="triangle"/>
          </a:ln>
        </p:spPr>
        <p:txBody>
          <a:bodyPr/>
          <a:lstStyle/>
          <a:p>
            <a:endParaRPr lang="en-CL"/>
          </a:p>
        </p:txBody>
      </p:sp>
      <p:sp>
        <p:nvSpPr>
          <p:cNvPr id="12" name="Shape 10"/>
          <p:cNvSpPr/>
          <p:nvPr/>
        </p:nvSpPr>
        <p:spPr>
          <a:xfrm>
            <a:off x="8503920" y="3154680"/>
            <a:ext cx="1280160" cy="0"/>
          </a:xfrm>
          <a:prstGeom prst="line">
            <a:avLst/>
          </a:prstGeom>
          <a:noFill/>
          <a:ln w="19050">
            <a:solidFill>
              <a:srgbClr val="657182"/>
            </a:solidFill>
            <a:prstDash val="solid"/>
            <a:headEnd type="none"/>
            <a:tailEnd type="triangle"/>
          </a:ln>
        </p:spPr>
        <p:txBody>
          <a:bodyPr/>
          <a:lstStyle/>
          <a:p>
            <a:endParaRPr lang="en-CL"/>
          </a:p>
        </p:txBody>
      </p:sp>
      <p:sp>
        <p:nvSpPr>
          <p:cNvPr id="13" name="Shape 11"/>
          <p:cNvSpPr/>
          <p:nvPr/>
        </p:nvSpPr>
        <p:spPr>
          <a:xfrm>
            <a:off x="8503920" y="4343400"/>
            <a:ext cx="1280160" cy="0"/>
          </a:xfrm>
          <a:prstGeom prst="line">
            <a:avLst/>
          </a:prstGeom>
          <a:noFill/>
          <a:ln w="19050">
            <a:solidFill>
              <a:srgbClr val="657182"/>
            </a:solidFill>
            <a:prstDash val="solid"/>
            <a:headEnd type="none"/>
            <a:tailEnd type="triangle"/>
          </a:ln>
        </p:spPr>
        <p:txBody>
          <a:bodyPr/>
          <a:lstStyle/>
          <a:p>
            <a:endParaRPr lang="en-CL"/>
          </a:p>
        </p:txBody>
      </p:sp>
      <p:sp>
        <p:nvSpPr>
          <p:cNvPr id="14" name="Shape 12"/>
          <p:cNvSpPr/>
          <p:nvPr/>
        </p:nvSpPr>
        <p:spPr>
          <a:xfrm>
            <a:off x="731520" y="1554480"/>
            <a:ext cx="1645920" cy="640080"/>
          </a:xfrm>
          <a:prstGeom prst="roundRect">
            <a:avLst>
              <a:gd name="adj" fmla="val 11429"/>
            </a:avLst>
          </a:prstGeom>
          <a:solidFill>
            <a:srgbClr val="E7F2FB"/>
          </a:solidFill>
          <a:ln w="12700">
            <a:solidFill>
              <a:srgbClr val="CAD6E0"/>
            </a:solidFill>
            <a:prstDash val="solid"/>
          </a:ln>
        </p:spPr>
        <p:txBody>
          <a:bodyPr/>
          <a:lstStyle/>
          <a:p>
            <a:endParaRPr lang="en-CL"/>
          </a:p>
        </p:txBody>
      </p:sp>
      <p:sp>
        <p:nvSpPr>
          <p:cNvPr id="15" name="Text 13"/>
          <p:cNvSpPr/>
          <p:nvPr/>
        </p:nvSpPr>
        <p:spPr>
          <a:xfrm>
            <a:off x="868680" y="1792224"/>
            <a:ext cx="1371600" cy="137160"/>
          </a:xfrm>
          <a:prstGeom prst="rect">
            <a:avLst/>
          </a:prstGeom>
          <a:noFill/>
          <a:ln/>
        </p:spPr>
        <p:txBody>
          <a:bodyPr wrap="square" lIns="0" tIns="0" rIns="0" bIns="0" rtlCol="0" anchor="ctr"/>
          <a:lstStyle/>
          <a:p>
            <a:pPr marL="0" indent="0" algn="ctr">
              <a:buNone/>
            </a:pPr>
            <a:r>
              <a:rPr lang="en-US" sz="1050" b="1" dirty="0">
                <a:solidFill>
                  <a:srgbClr val="0F2742"/>
                </a:solidFill>
              </a:rPr>
              <a:t>Solicitantes</a:t>
            </a:r>
            <a:endParaRPr lang="en-US" sz="1050" dirty="0"/>
          </a:p>
        </p:txBody>
      </p:sp>
      <p:sp>
        <p:nvSpPr>
          <p:cNvPr id="16" name="Shape 14"/>
          <p:cNvSpPr/>
          <p:nvPr/>
        </p:nvSpPr>
        <p:spPr>
          <a:xfrm>
            <a:off x="731520" y="2788920"/>
            <a:ext cx="1645920" cy="640080"/>
          </a:xfrm>
          <a:prstGeom prst="roundRect">
            <a:avLst>
              <a:gd name="adj" fmla="val 11429"/>
            </a:avLst>
          </a:prstGeom>
          <a:solidFill>
            <a:srgbClr val="E7F2FB"/>
          </a:solidFill>
          <a:ln w="12700">
            <a:solidFill>
              <a:srgbClr val="CAD6E0"/>
            </a:solidFill>
            <a:prstDash val="solid"/>
          </a:ln>
        </p:spPr>
        <p:txBody>
          <a:bodyPr/>
          <a:lstStyle/>
          <a:p>
            <a:endParaRPr lang="en-CL"/>
          </a:p>
        </p:txBody>
      </p:sp>
      <p:sp>
        <p:nvSpPr>
          <p:cNvPr id="17" name="Text 15"/>
          <p:cNvSpPr/>
          <p:nvPr/>
        </p:nvSpPr>
        <p:spPr>
          <a:xfrm>
            <a:off x="868680" y="3026664"/>
            <a:ext cx="1371600" cy="137160"/>
          </a:xfrm>
          <a:prstGeom prst="rect">
            <a:avLst/>
          </a:prstGeom>
          <a:noFill/>
          <a:ln/>
        </p:spPr>
        <p:txBody>
          <a:bodyPr wrap="square" lIns="0" tIns="0" rIns="0" bIns="0" rtlCol="0" anchor="ctr"/>
          <a:lstStyle/>
          <a:p>
            <a:pPr marL="0" indent="0" algn="ctr">
              <a:buNone/>
            </a:pPr>
            <a:r>
              <a:rPr lang="en-US" sz="1050" b="1" dirty="0">
                <a:solidFill>
                  <a:srgbClr val="0F2742"/>
                </a:solidFill>
              </a:rPr>
              <a:t>Agentes TI</a:t>
            </a:r>
            <a:endParaRPr lang="en-US" sz="1050" dirty="0"/>
          </a:p>
        </p:txBody>
      </p:sp>
      <p:sp>
        <p:nvSpPr>
          <p:cNvPr id="18" name="Shape 16"/>
          <p:cNvSpPr/>
          <p:nvPr/>
        </p:nvSpPr>
        <p:spPr>
          <a:xfrm>
            <a:off x="731520" y="4023360"/>
            <a:ext cx="1645920" cy="640080"/>
          </a:xfrm>
          <a:prstGeom prst="roundRect">
            <a:avLst>
              <a:gd name="adj" fmla="val 11429"/>
            </a:avLst>
          </a:prstGeom>
          <a:solidFill>
            <a:srgbClr val="E7F2FB"/>
          </a:solidFill>
          <a:ln w="12700">
            <a:solidFill>
              <a:srgbClr val="CAD6E0"/>
            </a:solidFill>
            <a:prstDash val="solid"/>
          </a:ln>
        </p:spPr>
        <p:txBody>
          <a:bodyPr/>
          <a:lstStyle/>
          <a:p>
            <a:endParaRPr lang="en-CL"/>
          </a:p>
        </p:txBody>
      </p:sp>
      <p:sp>
        <p:nvSpPr>
          <p:cNvPr id="19" name="Text 17"/>
          <p:cNvSpPr/>
          <p:nvPr/>
        </p:nvSpPr>
        <p:spPr>
          <a:xfrm>
            <a:off x="868680" y="4261104"/>
            <a:ext cx="1371600" cy="137160"/>
          </a:xfrm>
          <a:prstGeom prst="rect">
            <a:avLst/>
          </a:prstGeom>
          <a:noFill/>
          <a:ln/>
        </p:spPr>
        <p:txBody>
          <a:bodyPr wrap="square" lIns="0" tIns="0" rIns="0" bIns="0" rtlCol="0" anchor="ctr"/>
          <a:lstStyle/>
          <a:p>
            <a:pPr marL="0" indent="0" algn="ctr">
              <a:buNone/>
            </a:pPr>
            <a:r>
              <a:rPr lang="en-US" sz="1050" b="1" dirty="0">
                <a:solidFill>
                  <a:srgbClr val="0F2742"/>
                </a:solidFill>
              </a:rPr>
              <a:t>Jefaturas</a:t>
            </a:r>
            <a:endParaRPr lang="en-US" sz="1050" dirty="0"/>
          </a:p>
        </p:txBody>
      </p:sp>
      <p:sp>
        <p:nvSpPr>
          <p:cNvPr id="20" name="Shape 18"/>
          <p:cNvSpPr/>
          <p:nvPr/>
        </p:nvSpPr>
        <p:spPr>
          <a:xfrm>
            <a:off x="3840480" y="1325880"/>
            <a:ext cx="4663440" cy="3840480"/>
          </a:xfrm>
          <a:prstGeom prst="roundRect">
            <a:avLst>
              <a:gd name="adj" fmla="val 2857"/>
            </a:avLst>
          </a:prstGeom>
          <a:solidFill>
            <a:srgbClr val="0F2742"/>
          </a:solidFill>
          <a:ln w="12700">
            <a:solidFill>
              <a:srgbClr val="0F2742"/>
            </a:solidFill>
            <a:prstDash val="solid"/>
          </a:ln>
        </p:spPr>
        <p:txBody>
          <a:bodyPr/>
          <a:lstStyle/>
          <a:p>
            <a:endParaRPr lang="en-CL"/>
          </a:p>
        </p:txBody>
      </p:sp>
      <p:sp>
        <p:nvSpPr>
          <p:cNvPr id="21" name="Text 19"/>
          <p:cNvSpPr/>
          <p:nvPr/>
        </p:nvSpPr>
        <p:spPr>
          <a:xfrm>
            <a:off x="4114800" y="1645920"/>
            <a:ext cx="4114800" cy="365760"/>
          </a:xfrm>
          <a:prstGeom prst="rect">
            <a:avLst/>
          </a:prstGeom>
          <a:noFill/>
          <a:ln/>
        </p:spPr>
        <p:txBody>
          <a:bodyPr wrap="square" lIns="0" tIns="0" rIns="0" bIns="0" rtlCol="0" anchor="ctr"/>
          <a:lstStyle/>
          <a:p>
            <a:pPr marL="0" indent="0" algn="ctr">
              <a:buNone/>
            </a:pPr>
            <a:r>
              <a:rPr lang="en-US" sz="2400" b="1" dirty="0">
                <a:solidFill>
                  <a:srgbClr val="FFFFFF"/>
                </a:solidFill>
              </a:rPr>
              <a:t>GLPI</a:t>
            </a:r>
            <a:endParaRPr lang="en-US" sz="2400" dirty="0"/>
          </a:p>
        </p:txBody>
      </p:sp>
      <p:sp>
        <p:nvSpPr>
          <p:cNvPr id="22" name="Shape 20"/>
          <p:cNvSpPr/>
          <p:nvPr/>
        </p:nvSpPr>
        <p:spPr>
          <a:xfrm>
            <a:off x="4160520" y="2377440"/>
            <a:ext cx="1097280" cy="411480"/>
          </a:xfrm>
          <a:prstGeom prst="roundRect">
            <a:avLst>
              <a:gd name="adj" fmla="val 11111"/>
            </a:avLst>
          </a:prstGeom>
          <a:solidFill>
            <a:srgbClr val="FFFFFF">
              <a:alpha val="92000"/>
            </a:srgbClr>
          </a:solidFill>
          <a:ln w="12700">
            <a:solidFill>
              <a:srgbClr val="DCE7F2"/>
            </a:solidFill>
            <a:prstDash val="solid"/>
          </a:ln>
        </p:spPr>
        <p:txBody>
          <a:bodyPr/>
          <a:lstStyle/>
          <a:p>
            <a:endParaRPr lang="en-CL"/>
          </a:p>
        </p:txBody>
      </p:sp>
      <p:sp>
        <p:nvSpPr>
          <p:cNvPr id="23" name="Text 21"/>
          <p:cNvSpPr/>
          <p:nvPr/>
        </p:nvSpPr>
        <p:spPr>
          <a:xfrm>
            <a:off x="4233672" y="2523744"/>
            <a:ext cx="950976" cy="91440"/>
          </a:xfrm>
          <a:prstGeom prst="rect">
            <a:avLst/>
          </a:prstGeom>
          <a:noFill/>
          <a:ln/>
        </p:spPr>
        <p:txBody>
          <a:bodyPr wrap="square" lIns="0" tIns="0" rIns="0" bIns="0" rtlCol="0" anchor="ctr"/>
          <a:lstStyle/>
          <a:p>
            <a:pPr marL="0" indent="0" algn="ctr">
              <a:buNone/>
            </a:pPr>
            <a:r>
              <a:rPr lang="en-US" sz="850" b="1" dirty="0"/>
              <a:t>Tickets</a:t>
            </a:r>
            <a:endParaRPr lang="en-US" sz="850" dirty="0"/>
          </a:p>
        </p:txBody>
      </p:sp>
      <p:sp>
        <p:nvSpPr>
          <p:cNvPr id="24" name="Shape 22"/>
          <p:cNvSpPr/>
          <p:nvPr/>
        </p:nvSpPr>
        <p:spPr>
          <a:xfrm>
            <a:off x="5486400" y="2377440"/>
            <a:ext cx="1097280" cy="411480"/>
          </a:xfrm>
          <a:prstGeom prst="roundRect">
            <a:avLst>
              <a:gd name="adj" fmla="val 11111"/>
            </a:avLst>
          </a:prstGeom>
          <a:solidFill>
            <a:srgbClr val="FFFFFF">
              <a:alpha val="92000"/>
            </a:srgbClr>
          </a:solidFill>
          <a:ln w="12700">
            <a:solidFill>
              <a:srgbClr val="DCE7F2"/>
            </a:solidFill>
            <a:prstDash val="solid"/>
          </a:ln>
        </p:spPr>
        <p:txBody>
          <a:bodyPr/>
          <a:lstStyle/>
          <a:p>
            <a:endParaRPr lang="en-CL"/>
          </a:p>
        </p:txBody>
      </p:sp>
      <p:sp>
        <p:nvSpPr>
          <p:cNvPr id="25" name="Text 23"/>
          <p:cNvSpPr/>
          <p:nvPr/>
        </p:nvSpPr>
        <p:spPr>
          <a:xfrm>
            <a:off x="5559552" y="2523744"/>
            <a:ext cx="950976" cy="91440"/>
          </a:xfrm>
          <a:prstGeom prst="rect">
            <a:avLst/>
          </a:prstGeom>
          <a:noFill/>
          <a:ln/>
        </p:spPr>
        <p:txBody>
          <a:bodyPr wrap="square" lIns="0" tIns="0" rIns="0" bIns="0" rtlCol="0" anchor="ctr"/>
          <a:lstStyle/>
          <a:p>
            <a:pPr marL="0" indent="0" algn="ctr">
              <a:buNone/>
            </a:pPr>
            <a:r>
              <a:rPr lang="en-US" sz="850" b="1" dirty="0"/>
              <a:t>Formularios</a:t>
            </a:r>
            <a:endParaRPr lang="en-US" sz="850" dirty="0"/>
          </a:p>
        </p:txBody>
      </p:sp>
      <p:sp>
        <p:nvSpPr>
          <p:cNvPr id="26" name="Shape 24"/>
          <p:cNvSpPr/>
          <p:nvPr/>
        </p:nvSpPr>
        <p:spPr>
          <a:xfrm>
            <a:off x="6812280" y="2377440"/>
            <a:ext cx="1097280" cy="411480"/>
          </a:xfrm>
          <a:prstGeom prst="roundRect">
            <a:avLst>
              <a:gd name="adj" fmla="val 11111"/>
            </a:avLst>
          </a:prstGeom>
          <a:solidFill>
            <a:srgbClr val="FFFFFF">
              <a:alpha val="92000"/>
            </a:srgbClr>
          </a:solidFill>
          <a:ln w="12700">
            <a:solidFill>
              <a:srgbClr val="DCE7F2"/>
            </a:solidFill>
            <a:prstDash val="solid"/>
          </a:ln>
        </p:spPr>
        <p:txBody>
          <a:bodyPr/>
          <a:lstStyle/>
          <a:p>
            <a:endParaRPr lang="en-CL"/>
          </a:p>
        </p:txBody>
      </p:sp>
      <p:sp>
        <p:nvSpPr>
          <p:cNvPr id="27" name="Text 25"/>
          <p:cNvSpPr/>
          <p:nvPr/>
        </p:nvSpPr>
        <p:spPr>
          <a:xfrm>
            <a:off x="6885432" y="2523744"/>
            <a:ext cx="950976" cy="91440"/>
          </a:xfrm>
          <a:prstGeom prst="rect">
            <a:avLst/>
          </a:prstGeom>
          <a:noFill/>
          <a:ln/>
        </p:spPr>
        <p:txBody>
          <a:bodyPr wrap="square" lIns="0" tIns="0" rIns="0" bIns="0" rtlCol="0" anchor="ctr"/>
          <a:lstStyle/>
          <a:p>
            <a:pPr marL="0" indent="0" algn="ctr">
              <a:buNone/>
            </a:pPr>
            <a:r>
              <a:rPr lang="en-US" sz="850" b="1" dirty="0"/>
              <a:t>Activos TI</a:t>
            </a:r>
            <a:endParaRPr lang="en-US" sz="850" dirty="0"/>
          </a:p>
        </p:txBody>
      </p:sp>
      <p:sp>
        <p:nvSpPr>
          <p:cNvPr id="28" name="Shape 26"/>
          <p:cNvSpPr/>
          <p:nvPr/>
        </p:nvSpPr>
        <p:spPr>
          <a:xfrm>
            <a:off x="4160520" y="3108960"/>
            <a:ext cx="1097280" cy="411480"/>
          </a:xfrm>
          <a:prstGeom prst="roundRect">
            <a:avLst>
              <a:gd name="adj" fmla="val 11111"/>
            </a:avLst>
          </a:prstGeom>
          <a:solidFill>
            <a:srgbClr val="FFFFFF">
              <a:alpha val="92000"/>
            </a:srgbClr>
          </a:solidFill>
          <a:ln w="12700">
            <a:solidFill>
              <a:srgbClr val="DCE7F2"/>
            </a:solidFill>
            <a:prstDash val="solid"/>
          </a:ln>
        </p:spPr>
        <p:txBody>
          <a:bodyPr/>
          <a:lstStyle/>
          <a:p>
            <a:endParaRPr lang="en-CL"/>
          </a:p>
        </p:txBody>
      </p:sp>
      <p:sp>
        <p:nvSpPr>
          <p:cNvPr id="29" name="Text 27"/>
          <p:cNvSpPr/>
          <p:nvPr/>
        </p:nvSpPr>
        <p:spPr>
          <a:xfrm>
            <a:off x="4233672" y="3255264"/>
            <a:ext cx="950976" cy="91440"/>
          </a:xfrm>
          <a:prstGeom prst="rect">
            <a:avLst/>
          </a:prstGeom>
          <a:noFill/>
          <a:ln/>
        </p:spPr>
        <p:txBody>
          <a:bodyPr wrap="square" lIns="0" tIns="0" rIns="0" bIns="0" rtlCol="0" anchor="ctr"/>
          <a:lstStyle/>
          <a:p>
            <a:pPr marL="0" indent="0" algn="ctr">
              <a:buNone/>
            </a:pPr>
            <a:r>
              <a:rPr lang="en-US" sz="850" b="1" dirty="0"/>
              <a:t>Perfiles</a:t>
            </a:r>
            <a:endParaRPr lang="en-US" sz="850" dirty="0"/>
          </a:p>
        </p:txBody>
      </p:sp>
      <p:sp>
        <p:nvSpPr>
          <p:cNvPr id="30" name="Shape 28"/>
          <p:cNvSpPr/>
          <p:nvPr/>
        </p:nvSpPr>
        <p:spPr>
          <a:xfrm>
            <a:off x="5486400" y="3108960"/>
            <a:ext cx="1097280" cy="411480"/>
          </a:xfrm>
          <a:prstGeom prst="roundRect">
            <a:avLst>
              <a:gd name="adj" fmla="val 11111"/>
            </a:avLst>
          </a:prstGeom>
          <a:solidFill>
            <a:srgbClr val="FFFFFF">
              <a:alpha val="92000"/>
            </a:srgbClr>
          </a:solidFill>
          <a:ln w="12700">
            <a:solidFill>
              <a:srgbClr val="DCE7F2"/>
            </a:solidFill>
            <a:prstDash val="solid"/>
          </a:ln>
        </p:spPr>
        <p:txBody>
          <a:bodyPr/>
          <a:lstStyle/>
          <a:p>
            <a:endParaRPr lang="en-CL"/>
          </a:p>
        </p:txBody>
      </p:sp>
      <p:sp>
        <p:nvSpPr>
          <p:cNvPr id="31" name="Text 29"/>
          <p:cNvSpPr/>
          <p:nvPr/>
        </p:nvSpPr>
        <p:spPr>
          <a:xfrm>
            <a:off x="5559552" y="3255264"/>
            <a:ext cx="950976" cy="91440"/>
          </a:xfrm>
          <a:prstGeom prst="rect">
            <a:avLst/>
          </a:prstGeom>
          <a:noFill/>
          <a:ln/>
        </p:spPr>
        <p:txBody>
          <a:bodyPr wrap="square" lIns="0" tIns="0" rIns="0" bIns="0" rtlCol="0" anchor="ctr"/>
          <a:lstStyle/>
          <a:p>
            <a:pPr marL="0" indent="0" algn="ctr">
              <a:buNone/>
            </a:pPr>
            <a:r>
              <a:rPr lang="en-US" sz="850" b="1" dirty="0"/>
              <a:t>Dashboards</a:t>
            </a:r>
            <a:endParaRPr lang="en-US" sz="850" dirty="0"/>
          </a:p>
        </p:txBody>
      </p:sp>
      <p:sp>
        <p:nvSpPr>
          <p:cNvPr id="32" name="Shape 30"/>
          <p:cNvSpPr/>
          <p:nvPr/>
        </p:nvSpPr>
        <p:spPr>
          <a:xfrm>
            <a:off x="6812280" y="3108960"/>
            <a:ext cx="1097280" cy="411480"/>
          </a:xfrm>
          <a:prstGeom prst="roundRect">
            <a:avLst>
              <a:gd name="adj" fmla="val 11111"/>
            </a:avLst>
          </a:prstGeom>
          <a:solidFill>
            <a:srgbClr val="FFFFFF">
              <a:alpha val="92000"/>
            </a:srgbClr>
          </a:solidFill>
          <a:ln w="12700">
            <a:solidFill>
              <a:srgbClr val="DCE7F2"/>
            </a:solidFill>
            <a:prstDash val="solid"/>
          </a:ln>
        </p:spPr>
        <p:txBody>
          <a:bodyPr/>
          <a:lstStyle/>
          <a:p>
            <a:endParaRPr lang="en-CL"/>
          </a:p>
        </p:txBody>
      </p:sp>
      <p:sp>
        <p:nvSpPr>
          <p:cNvPr id="33" name="Text 31"/>
          <p:cNvSpPr/>
          <p:nvPr/>
        </p:nvSpPr>
        <p:spPr>
          <a:xfrm>
            <a:off x="6885432" y="3255264"/>
            <a:ext cx="950976" cy="91440"/>
          </a:xfrm>
          <a:prstGeom prst="rect">
            <a:avLst/>
          </a:prstGeom>
          <a:noFill/>
          <a:ln/>
        </p:spPr>
        <p:txBody>
          <a:bodyPr wrap="square" lIns="0" tIns="0" rIns="0" bIns="0" rtlCol="0" anchor="ctr"/>
          <a:lstStyle/>
          <a:p>
            <a:pPr marL="0" indent="0" algn="ctr">
              <a:buNone/>
            </a:pPr>
            <a:r>
              <a:rPr lang="en-US" sz="850" b="1" dirty="0"/>
              <a:t>Reportes</a:t>
            </a:r>
            <a:endParaRPr lang="en-US" sz="850" dirty="0"/>
          </a:p>
        </p:txBody>
      </p:sp>
      <p:sp>
        <p:nvSpPr>
          <p:cNvPr id="34" name="Text 32"/>
          <p:cNvSpPr/>
          <p:nvPr/>
        </p:nvSpPr>
        <p:spPr>
          <a:xfrm>
            <a:off x="4206240" y="4434840"/>
            <a:ext cx="3931920" cy="182880"/>
          </a:xfrm>
          <a:prstGeom prst="rect">
            <a:avLst/>
          </a:prstGeom>
          <a:noFill/>
          <a:ln/>
        </p:spPr>
        <p:txBody>
          <a:bodyPr wrap="square" lIns="0" tIns="0" rIns="0" bIns="0" rtlCol="0" anchor="ctr"/>
          <a:lstStyle/>
          <a:p>
            <a:pPr marL="0" indent="0" algn="ctr">
              <a:buNone/>
            </a:pPr>
            <a:r>
              <a:rPr lang="en-US" sz="1050" dirty="0">
                <a:solidFill>
                  <a:srgbClr val="DCE7F2"/>
                </a:solidFill>
              </a:rPr>
              <a:t>Arquitectura en capas sobre Apache + PHP + MariaDB</a:t>
            </a:r>
            <a:endParaRPr lang="en-US" sz="1050" dirty="0"/>
          </a:p>
        </p:txBody>
      </p:sp>
      <p:sp>
        <p:nvSpPr>
          <p:cNvPr id="35" name="Shape 33"/>
          <p:cNvSpPr/>
          <p:nvPr/>
        </p:nvSpPr>
        <p:spPr>
          <a:xfrm>
            <a:off x="9784080" y="1554480"/>
            <a:ext cx="1645920" cy="658368"/>
          </a:xfrm>
          <a:prstGeom prst="roundRect">
            <a:avLst>
              <a:gd name="adj" fmla="val 11111"/>
            </a:avLst>
          </a:prstGeom>
          <a:solidFill>
            <a:srgbClr val="E6F7EF"/>
          </a:solidFill>
          <a:ln w="12700">
            <a:solidFill>
              <a:srgbClr val="CAD6E0"/>
            </a:solidFill>
            <a:prstDash val="solid"/>
          </a:ln>
        </p:spPr>
        <p:txBody>
          <a:bodyPr/>
          <a:lstStyle/>
          <a:p>
            <a:endParaRPr lang="en-CL"/>
          </a:p>
        </p:txBody>
      </p:sp>
      <p:sp>
        <p:nvSpPr>
          <p:cNvPr id="36" name="Text 34"/>
          <p:cNvSpPr/>
          <p:nvPr/>
        </p:nvSpPr>
        <p:spPr>
          <a:xfrm>
            <a:off x="9966960" y="1709928"/>
            <a:ext cx="1280160" cy="137160"/>
          </a:xfrm>
          <a:prstGeom prst="rect">
            <a:avLst/>
          </a:prstGeom>
          <a:noFill/>
          <a:ln/>
        </p:spPr>
        <p:txBody>
          <a:bodyPr wrap="square" lIns="0" tIns="0" rIns="0" bIns="0" rtlCol="0" anchor="ctr"/>
          <a:lstStyle/>
          <a:p>
            <a:pPr marL="0" indent="0" algn="ctr">
              <a:buNone/>
            </a:pPr>
            <a:r>
              <a:rPr lang="en-US" sz="1000" b="1" dirty="0">
                <a:solidFill>
                  <a:srgbClr val="0F2742"/>
                </a:solidFill>
              </a:rPr>
              <a:t>MariaDB</a:t>
            </a:r>
            <a:endParaRPr lang="en-US" sz="1000" dirty="0"/>
          </a:p>
        </p:txBody>
      </p:sp>
      <p:sp>
        <p:nvSpPr>
          <p:cNvPr id="37" name="Text 35"/>
          <p:cNvSpPr/>
          <p:nvPr/>
        </p:nvSpPr>
        <p:spPr>
          <a:xfrm>
            <a:off x="9930384" y="1901952"/>
            <a:ext cx="1353312" cy="109728"/>
          </a:xfrm>
          <a:prstGeom prst="rect">
            <a:avLst/>
          </a:prstGeom>
          <a:noFill/>
          <a:ln/>
        </p:spPr>
        <p:txBody>
          <a:bodyPr wrap="square" lIns="0" tIns="0" rIns="0" bIns="0" rtlCol="0" anchor="ctr"/>
          <a:lstStyle/>
          <a:p>
            <a:pPr marL="0" indent="0" algn="ctr">
              <a:buNone/>
            </a:pPr>
            <a:r>
              <a:rPr lang="en-US" sz="750" dirty="0">
                <a:solidFill>
                  <a:srgbClr val="657182"/>
                </a:solidFill>
              </a:rPr>
              <a:t>Base de datos</a:t>
            </a:r>
            <a:endParaRPr lang="en-US" sz="750" dirty="0"/>
          </a:p>
        </p:txBody>
      </p:sp>
      <p:sp>
        <p:nvSpPr>
          <p:cNvPr id="38" name="Shape 36"/>
          <p:cNvSpPr/>
          <p:nvPr/>
        </p:nvSpPr>
        <p:spPr>
          <a:xfrm>
            <a:off x="9784080" y="2743200"/>
            <a:ext cx="1645920" cy="658368"/>
          </a:xfrm>
          <a:prstGeom prst="roundRect">
            <a:avLst>
              <a:gd name="adj" fmla="val 11111"/>
            </a:avLst>
          </a:prstGeom>
          <a:solidFill>
            <a:srgbClr val="FFF6D8"/>
          </a:solidFill>
          <a:ln w="12700">
            <a:solidFill>
              <a:srgbClr val="CAD6E0"/>
            </a:solidFill>
            <a:prstDash val="solid"/>
          </a:ln>
        </p:spPr>
        <p:txBody>
          <a:bodyPr/>
          <a:lstStyle/>
          <a:p>
            <a:endParaRPr lang="en-CL"/>
          </a:p>
        </p:txBody>
      </p:sp>
      <p:sp>
        <p:nvSpPr>
          <p:cNvPr id="39" name="Text 37"/>
          <p:cNvSpPr/>
          <p:nvPr/>
        </p:nvSpPr>
        <p:spPr>
          <a:xfrm>
            <a:off x="9966960" y="2898648"/>
            <a:ext cx="1280160" cy="137160"/>
          </a:xfrm>
          <a:prstGeom prst="rect">
            <a:avLst/>
          </a:prstGeom>
          <a:noFill/>
          <a:ln/>
        </p:spPr>
        <p:txBody>
          <a:bodyPr wrap="square" lIns="0" tIns="0" rIns="0" bIns="0" rtlCol="0" anchor="ctr"/>
          <a:lstStyle/>
          <a:p>
            <a:pPr marL="0" indent="0" algn="ctr">
              <a:buNone/>
            </a:pPr>
            <a:r>
              <a:rPr lang="en-US" sz="1000" b="1" dirty="0">
                <a:solidFill>
                  <a:srgbClr val="0F2742"/>
                </a:solidFill>
              </a:rPr>
              <a:t>Correo</a:t>
            </a:r>
            <a:endParaRPr lang="en-US" sz="1000" dirty="0"/>
          </a:p>
        </p:txBody>
      </p:sp>
      <p:sp>
        <p:nvSpPr>
          <p:cNvPr id="40" name="Text 38"/>
          <p:cNvSpPr/>
          <p:nvPr/>
        </p:nvSpPr>
        <p:spPr>
          <a:xfrm>
            <a:off x="9930384" y="3090672"/>
            <a:ext cx="1353312" cy="109728"/>
          </a:xfrm>
          <a:prstGeom prst="rect">
            <a:avLst/>
          </a:prstGeom>
          <a:noFill/>
          <a:ln/>
        </p:spPr>
        <p:txBody>
          <a:bodyPr wrap="square" lIns="0" tIns="0" rIns="0" bIns="0" rtlCol="0" anchor="ctr"/>
          <a:lstStyle/>
          <a:p>
            <a:pPr marL="0" indent="0" algn="ctr">
              <a:buNone/>
            </a:pPr>
            <a:r>
              <a:rPr lang="en-US" sz="750" dirty="0">
                <a:solidFill>
                  <a:srgbClr val="657182"/>
                </a:solidFill>
              </a:rPr>
              <a:t>Notificaciones</a:t>
            </a:r>
            <a:endParaRPr lang="en-US" sz="750" dirty="0"/>
          </a:p>
        </p:txBody>
      </p:sp>
      <p:sp>
        <p:nvSpPr>
          <p:cNvPr id="41" name="Shape 39"/>
          <p:cNvSpPr/>
          <p:nvPr/>
        </p:nvSpPr>
        <p:spPr>
          <a:xfrm>
            <a:off x="9784080" y="3931920"/>
            <a:ext cx="1645920" cy="658368"/>
          </a:xfrm>
          <a:prstGeom prst="roundRect">
            <a:avLst>
              <a:gd name="adj" fmla="val 11111"/>
            </a:avLst>
          </a:prstGeom>
          <a:solidFill>
            <a:srgbClr val="E7F2FB"/>
          </a:solidFill>
          <a:ln w="12700">
            <a:solidFill>
              <a:srgbClr val="CAD6E0"/>
            </a:solidFill>
            <a:prstDash val="solid"/>
          </a:ln>
        </p:spPr>
        <p:txBody>
          <a:bodyPr/>
          <a:lstStyle/>
          <a:p>
            <a:endParaRPr lang="en-CL"/>
          </a:p>
        </p:txBody>
      </p:sp>
      <p:sp>
        <p:nvSpPr>
          <p:cNvPr id="42" name="Text 40"/>
          <p:cNvSpPr/>
          <p:nvPr/>
        </p:nvSpPr>
        <p:spPr>
          <a:xfrm>
            <a:off x="9966960" y="4087368"/>
            <a:ext cx="1280160" cy="137160"/>
          </a:xfrm>
          <a:prstGeom prst="rect">
            <a:avLst/>
          </a:prstGeom>
          <a:noFill/>
          <a:ln/>
        </p:spPr>
        <p:txBody>
          <a:bodyPr wrap="square" lIns="0" tIns="0" rIns="0" bIns="0" rtlCol="0" anchor="ctr"/>
          <a:lstStyle/>
          <a:p>
            <a:pPr marL="0" indent="0" algn="ctr">
              <a:buNone/>
            </a:pPr>
            <a:r>
              <a:rPr lang="en-US" sz="1000" b="1" dirty="0">
                <a:solidFill>
                  <a:srgbClr val="0F2742"/>
                </a:solidFill>
              </a:rPr>
              <a:t>GLPI Agent</a:t>
            </a:r>
            <a:endParaRPr lang="en-US" sz="1000" dirty="0"/>
          </a:p>
        </p:txBody>
      </p:sp>
      <p:sp>
        <p:nvSpPr>
          <p:cNvPr id="43" name="Text 41"/>
          <p:cNvSpPr/>
          <p:nvPr/>
        </p:nvSpPr>
        <p:spPr>
          <a:xfrm>
            <a:off x="9930384" y="4279392"/>
            <a:ext cx="1353312" cy="109728"/>
          </a:xfrm>
          <a:prstGeom prst="rect">
            <a:avLst/>
          </a:prstGeom>
          <a:noFill/>
          <a:ln/>
        </p:spPr>
        <p:txBody>
          <a:bodyPr wrap="square" lIns="0" tIns="0" rIns="0" bIns="0" rtlCol="0" anchor="ctr"/>
          <a:lstStyle/>
          <a:p>
            <a:pPr marL="0" indent="0" algn="ctr">
              <a:buNone/>
            </a:pPr>
            <a:r>
              <a:rPr lang="en-US" sz="750" dirty="0">
                <a:solidFill>
                  <a:srgbClr val="657182"/>
                </a:solidFill>
              </a:rPr>
              <a:t>Inventario</a:t>
            </a:r>
            <a:endParaRPr lang="en-US" sz="750" dirty="0"/>
          </a:p>
        </p:txBody>
      </p:sp>
      <p:sp>
        <p:nvSpPr>
          <p:cNvPr id="44" name="Text 42"/>
          <p:cNvSpPr/>
          <p:nvPr/>
        </p:nvSpPr>
        <p:spPr>
          <a:xfrm>
            <a:off x="914400" y="5623560"/>
            <a:ext cx="10332720" cy="201168"/>
          </a:xfrm>
          <a:prstGeom prst="rect">
            <a:avLst/>
          </a:prstGeom>
          <a:noFill/>
          <a:ln/>
        </p:spPr>
        <p:txBody>
          <a:bodyPr wrap="square" lIns="0" tIns="0" rIns="0" bIns="0" rtlCol="0" anchor="ctr"/>
          <a:lstStyle/>
          <a:p>
            <a:pPr marL="0" indent="0" algn="ctr">
              <a:buNone/>
            </a:pPr>
            <a:r>
              <a:rPr lang="en-US" sz="1130" dirty="0">
                <a:solidFill>
                  <a:srgbClr val="657182"/>
                </a:solidFill>
              </a:rPr>
              <a:t>Principios aplicados: separación de responsabilidades, bajo acoplamiento documental, reutilización de capacidades nativas de GLPI.</a:t>
            </a:r>
            <a:endParaRPr lang="en-US" sz="113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BBF72"/>
          </a:solidFill>
          <a:ln w="12700">
            <a:solidFill>
              <a:srgbClr val="0BBF72"/>
            </a:solidFill>
            <a:prstDash val="solid"/>
          </a:ln>
        </p:spPr>
        <p:txBody>
          <a:bodyPr/>
          <a:lstStyle/>
          <a:p>
            <a:endParaRPr lang="en-CL"/>
          </a:p>
        </p:txBody>
      </p:sp>
      <p:sp>
        <p:nvSpPr>
          <p:cNvPr id="3" name="Shape 1"/>
          <p:cNvSpPr/>
          <p:nvPr/>
        </p:nvSpPr>
        <p:spPr>
          <a:xfrm>
            <a:off x="0" y="6565392"/>
            <a:ext cx="12191695" cy="292608"/>
          </a:xfrm>
          <a:prstGeom prst="rect">
            <a:avLst/>
          </a:prstGeom>
          <a:solidFill>
            <a:srgbClr val="0F2742"/>
          </a:solidFill>
          <a:ln w="12700">
            <a:solidFill>
              <a:srgbClr val="0F2742"/>
            </a:solidFill>
            <a:prstDash val="solid"/>
          </a:ln>
        </p:spPr>
        <p:txBody>
          <a:bodyPr/>
          <a:lstStyle/>
          <a:p>
            <a:endParaRPr lang="en-CL"/>
          </a:p>
        </p:txBody>
      </p:sp>
      <p:sp>
        <p:nvSpPr>
          <p:cNvPr id="4" name="Text 2"/>
          <p:cNvSpPr/>
          <p:nvPr/>
        </p:nvSpPr>
        <p:spPr>
          <a:xfrm>
            <a:off x="502920" y="347472"/>
            <a:ext cx="10515600" cy="384048"/>
          </a:xfrm>
          <a:prstGeom prst="rect">
            <a:avLst/>
          </a:prstGeom>
          <a:noFill/>
          <a:ln/>
        </p:spPr>
        <p:txBody>
          <a:bodyPr wrap="square" lIns="0" tIns="0" rIns="0" bIns="0" rtlCol="0" anchor="ctr"/>
          <a:lstStyle/>
          <a:p>
            <a:pPr marL="0" indent="0">
              <a:buNone/>
            </a:pPr>
            <a:r>
              <a:rPr lang="en-US" sz="2600" b="1" dirty="0">
                <a:solidFill>
                  <a:srgbClr val="0F2742"/>
                </a:solidFill>
                <a:latin typeface="Arial" pitchFamily="34" charset="0"/>
                <a:ea typeface="Arial" pitchFamily="34" charset="-122"/>
                <a:cs typeface="Arial" pitchFamily="34" charset="-120"/>
              </a:rPr>
              <a:t>Modelo de datos: trazabilidad entre tickets y activos</a:t>
            </a:r>
            <a:endParaRPr lang="en-US" sz="2600" dirty="0"/>
          </a:p>
        </p:txBody>
      </p:sp>
      <p:sp>
        <p:nvSpPr>
          <p:cNvPr id="5" name="Text 3"/>
          <p:cNvSpPr/>
          <p:nvPr/>
        </p:nvSpPr>
        <p:spPr>
          <a:xfrm>
            <a:off x="521208" y="768096"/>
            <a:ext cx="10607040" cy="219456"/>
          </a:xfrm>
          <a:prstGeom prst="rect">
            <a:avLst/>
          </a:prstGeom>
          <a:noFill/>
          <a:ln/>
        </p:spPr>
        <p:txBody>
          <a:bodyPr wrap="square" lIns="0" tIns="0" rIns="0" bIns="0" rtlCol="0" anchor="ctr"/>
          <a:lstStyle/>
          <a:p>
            <a:pPr marL="0" indent="0">
              <a:buNone/>
            </a:pPr>
            <a:r>
              <a:rPr lang="en-US" sz="1050" dirty="0">
                <a:solidFill>
                  <a:srgbClr val="657182"/>
                </a:solidFill>
              </a:rPr>
              <a:t>El dato se normaliza para relacionar usuario, ubicación, categoría, ticket y activo.</a:t>
            </a:r>
            <a:endParaRPr lang="en-US" sz="1050" dirty="0"/>
          </a:p>
        </p:txBody>
      </p:sp>
      <p:sp>
        <p:nvSpPr>
          <p:cNvPr id="6" name="Text 4"/>
          <p:cNvSpPr/>
          <p:nvPr/>
        </p:nvSpPr>
        <p:spPr>
          <a:xfrm>
            <a:off x="502920" y="6611112"/>
            <a:ext cx="6583680" cy="146304"/>
          </a:xfrm>
          <a:prstGeom prst="rect">
            <a:avLst/>
          </a:prstGeom>
          <a:noFill/>
          <a:ln/>
        </p:spPr>
        <p:txBody>
          <a:bodyPr wrap="square" lIns="0" tIns="0" rIns="0" bIns="0" rtlCol="0" anchor="ctr"/>
          <a:lstStyle/>
          <a:p>
            <a:pPr marL="0" indent="0">
              <a:buNone/>
            </a:pPr>
            <a:r>
              <a:rPr lang="en-US" sz="750" dirty="0">
                <a:solidFill>
                  <a:srgbClr val="DCE7F2"/>
                </a:solidFill>
              </a:rPr>
              <a:t>TIP-INF-401 | Ingeniería en Informática | IPSS 2026</a:t>
            </a:r>
            <a:endParaRPr lang="en-US" sz="750" dirty="0"/>
          </a:p>
        </p:txBody>
      </p:sp>
      <p:sp>
        <p:nvSpPr>
          <p:cNvPr id="7" name="Text 5"/>
          <p:cNvSpPr/>
          <p:nvPr/>
        </p:nvSpPr>
        <p:spPr>
          <a:xfrm>
            <a:off x="11064240" y="6611112"/>
            <a:ext cx="640080" cy="146304"/>
          </a:xfrm>
          <a:prstGeom prst="rect">
            <a:avLst/>
          </a:prstGeom>
          <a:noFill/>
          <a:ln/>
        </p:spPr>
        <p:txBody>
          <a:bodyPr wrap="square" lIns="0" tIns="0" rIns="0" bIns="0" rtlCol="0" anchor="ctr"/>
          <a:lstStyle/>
          <a:p>
            <a:pPr marL="0" indent="0" algn="r">
              <a:buNone/>
            </a:pPr>
            <a:r>
              <a:rPr lang="en-US" sz="750" dirty="0">
                <a:solidFill>
                  <a:srgbClr val="DCE7F2"/>
                </a:solidFill>
              </a:rPr>
              <a:t>10/18</a:t>
            </a:r>
            <a:endParaRPr lang="en-US" sz="750" dirty="0"/>
          </a:p>
        </p:txBody>
      </p:sp>
      <p:sp>
        <p:nvSpPr>
          <p:cNvPr id="8" name="Shape 6"/>
          <p:cNvSpPr/>
          <p:nvPr/>
        </p:nvSpPr>
        <p:spPr>
          <a:xfrm>
            <a:off x="2103120" y="2743200"/>
            <a:ext cx="1554480" cy="0"/>
          </a:xfrm>
          <a:prstGeom prst="line">
            <a:avLst/>
          </a:prstGeom>
          <a:noFill/>
          <a:ln w="19050">
            <a:solidFill>
              <a:srgbClr val="657182"/>
            </a:solidFill>
            <a:prstDash val="solid"/>
            <a:headEnd type="none"/>
            <a:tailEnd type="triangle"/>
          </a:ln>
        </p:spPr>
        <p:txBody>
          <a:bodyPr/>
          <a:lstStyle/>
          <a:p>
            <a:endParaRPr lang="en-CL"/>
          </a:p>
        </p:txBody>
      </p:sp>
      <p:sp>
        <p:nvSpPr>
          <p:cNvPr id="9" name="Shape 7"/>
          <p:cNvSpPr/>
          <p:nvPr/>
        </p:nvSpPr>
        <p:spPr>
          <a:xfrm>
            <a:off x="5212080" y="2743200"/>
            <a:ext cx="1417320" cy="0"/>
          </a:xfrm>
          <a:prstGeom prst="line">
            <a:avLst/>
          </a:prstGeom>
          <a:noFill/>
          <a:ln w="19050">
            <a:solidFill>
              <a:srgbClr val="657182"/>
            </a:solidFill>
            <a:prstDash val="solid"/>
            <a:headEnd type="none"/>
            <a:tailEnd type="triangle"/>
          </a:ln>
        </p:spPr>
        <p:txBody>
          <a:bodyPr/>
          <a:lstStyle/>
          <a:p>
            <a:endParaRPr lang="en-CL"/>
          </a:p>
        </p:txBody>
      </p:sp>
      <p:sp>
        <p:nvSpPr>
          <p:cNvPr id="10" name="Shape 8"/>
          <p:cNvSpPr/>
          <p:nvPr/>
        </p:nvSpPr>
        <p:spPr>
          <a:xfrm>
            <a:off x="5212080" y="2743200"/>
            <a:ext cx="1417320" cy="0"/>
          </a:xfrm>
          <a:prstGeom prst="line">
            <a:avLst/>
          </a:prstGeom>
          <a:noFill/>
          <a:ln w="19050">
            <a:solidFill>
              <a:srgbClr val="657182"/>
            </a:solidFill>
            <a:prstDash val="solid"/>
            <a:headEnd type="none"/>
            <a:tailEnd type="triangle"/>
          </a:ln>
        </p:spPr>
        <p:txBody>
          <a:bodyPr/>
          <a:lstStyle/>
          <a:p>
            <a:endParaRPr lang="en-CL"/>
          </a:p>
        </p:txBody>
      </p:sp>
      <p:sp>
        <p:nvSpPr>
          <p:cNvPr id="11" name="Shape 9"/>
          <p:cNvSpPr/>
          <p:nvPr/>
        </p:nvSpPr>
        <p:spPr>
          <a:xfrm>
            <a:off x="5212080" y="2743200"/>
            <a:ext cx="1417320" cy="822960"/>
          </a:xfrm>
          <a:prstGeom prst="line">
            <a:avLst/>
          </a:prstGeom>
          <a:noFill/>
          <a:ln w="19050">
            <a:solidFill>
              <a:srgbClr val="657182"/>
            </a:solidFill>
            <a:prstDash val="solid"/>
            <a:headEnd type="none"/>
            <a:tailEnd type="triangle"/>
          </a:ln>
        </p:spPr>
        <p:txBody>
          <a:bodyPr/>
          <a:lstStyle/>
          <a:p>
            <a:endParaRPr lang="en-CL"/>
          </a:p>
        </p:txBody>
      </p:sp>
      <p:sp>
        <p:nvSpPr>
          <p:cNvPr id="12" name="Shape 10"/>
          <p:cNvSpPr/>
          <p:nvPr/>
        </p:nvSpPr>
        <p:spPr>
          <a:xfrm>
            <a:off x="8229600" y="2743200"/>
            <a:ext cx="1371600" cy="0"/>
          </a:xfrm>
          <a:prstGeom prst="line">
            <a:avLst/>
          </a:prstGeom>
          <a:noFill/>
          <a:ln w="19050">
            <a:solidFill>
              <a:srgbClr val="657182"/>
            </a:solidFill>
            <a:prstDash val="solid"/>
            <a:headEnd type="none"/>
            <a:tailEnd type="triangle"/>
          </a:ln>
        </p:spPr>
        <p:txBody>
          <a:bodyPr/>
          <a:lstStyle/>
          <a:p>
            <a:endParaRPr lang="en-CL"/>
          </a:p>
        </p:txBody>
      </p:sp>
      <p:sp>
        <p:nvSpPr>
          <p:cNvPr id="13" name="Shape 11"/>
          <p:cNvSpPr/>
          <p:nvPr/>
        </p:nvSpPr>
        <p:spPr>
          <a:xfrm>
            <a:off x="822960" y="2331720"/>
            <a:ext cx="1554480" cy="713232"/>
          </a:xfrm>
          <a:prstGeom prst="roundRect">
            <a:avLst>
              <a:gd name="adj" fmla="val 7692"/>
            </a:avLst>
          </a:prstGeom>
          <a:solidFill>
            <a:srgbClr val="E7F2FB"/>
          </a:solidFill>
          <a:ln w="12700">
            <a:solidFill>
              <a:srgbClr val="CAD6E0"/>
            </a:solidFill>
            <a:prstDash val="solid"/>
          </a:ln>
        </p:spPr>
        <p:txBody>
          <a:bodyPr/>
          <a:lstStyle/>
          <a:p>
            <a:endParaRPr lang="en-CL"/>
          </a:p>
        </p:txBody>
      </p:sp>
      <p:sp>
        <p:nvSpPr>
          <p:cNvPr id="14" name="Text 12"/>
          <p:cNvSpPr/>
          <p:nvPr/>
        </p:nvSpPr>
        <p:spPr>
          <a:xfrm>
            <a:off x="932688" y="2606040"/>
            <a:ext cx="1335024" cy="109728"/>
          </a:xfrm>
          <a:prstGeom prst="rect">
            <a:avLst/>
          </a:prstGeom>
          <a:noFill/>
          <a:ln/>
        </p:spPr>
        <p:txBody>
          <a:bodyPr wrap="square" lIns="0" tIns="0" rIns="0" bIns="0" rtlCol="0" anchor="ctr"/>
          <a:lstStyle/>
          <a:p>
            <a:pPr marL="0" indent="0" algn="ctr">
              <a:buNone/>
            </a:pPr>
            <a:r>
              <a:rPr lang="en-US" sz="1050" b="1" dirty="0">
                <a:solidFill>
                  <a:srgbClr val="0F2742"/>
                </a:solidFill>
              </a:rPr>
              <a:t>Usuario</a:t>
            </a:r>
            <a:endParaRPr lang="en-US" sz="1050" dirty="0"/>
          </a:p>
        </p:txBody>
      </p:sp>
      <p:sp>
        <p:nvSpPr>
          <p:cNvPr id="15" name="Shape 13"/>
          <p:cNvSpPr/>
          <p:nvPr/>
        </p:nvSpPr>
        <p:spPr>
          <a:xfrm>
            <a:off x="3657600" y="2331720"/>
            <a:ext cx="1554480" cy="713232"/>
          </a:xfrm>
          <a:prstGeom prst="roundRect">
            <a:avLst>
              <a:gd name="adj" fmla="val 7692"/>
            </a:avLst>
          </a:prstGeom>
          <a:solidFill>
            <a:srgbClr val="E6F7EF"/>
          </a:solidFill>
          <a:ln w="12700">
            <a:solidFill>
              <a:srgbClr val="CAD6E0"/>
            </a:solidFill>
            <a:prstDash val="solid"/>
          </a:ln>
        </p:spPr>
        <p:txBody>
          <a:bodyPr/>
          <a:lstStyle/>
          <a:p>
            <a:endParaRPr lang="en-CL"/>
          </a:p>
        </p:txBody>
      </p:sp>
      <p:sp>
        <p:nvSpPr>
          <p:cNvPr id="16" name="Text 14"/>
          <p:cNvSpPr/>
          <p:nvPr/>
        </p:nvSpPr>
        <p:spPr>
          <a:xfrm>
            <a:off x="3767328" y="2606040"/>
            <a:ext cx="1335024" cy="109728"/>
          </a:xfrm>
          <a:prstGeom prst="rect">
            <a:avLst/>
          </a:prstGeom>
          <a:noFill/>
          <a:ln/>
        </p:spPr>
        <p:txBody>
          <a:bodyPr wrap="square" lIns="0" tIns="0" rIns="0" bIns="0" rtlCol="0" anchor="ctr"/>
          <a:lstStyle/>
          <a:p>
            <a:pPr marL="0" indent="0" algn="ctr">
              <a:buNone/>
            </a:pPr>
            <a:r>
              <a:rPr lang="en-US" sz="1050" b="1" dirty="0">
                <a:solidFill>
                  <a:srgbClr val="0F2742"/>
                </a:solidFill>
              </a:rPr>
              <a:t>Ticket</a:t>
            </a:r>
            <a:endParaRPr lang="en-US" sz="1050" dirty="0"/>
          </a:p>
        </p:txBody>
      </p:sp>
      <p:sp>
        <p:nvSpPr>
          <p:cNvPr id="17" name="Shape 15"/>
          <p:cNvSpPr/>
          <p:nvPr/>
        </p:nvSpPr>
        <p:spPr>
          <a:xfrm>
            <a:off x="6629400" y="1508760"/>
            <a:ext cx="1554480" cy="713232"/>
          </a:xfrm>
          <a:prstGeom prst="roundRect">
            <a:avLst>
              <a:gd name="adj" fmla="val 7692"/>
            </a:avLst>
          </a:prstGeom>
          <a:solidFill>
            <a:srgbClr val="FFF6D8"/>
          </a:solidFill>
          <a:ln w="12700">
            <a:solidFill>
              <a:srgbClr val="CAD6E0"/>
            </a:solidFill>
            <a:prstDash val="solid"/>
          </a:ln>
        </p:spPr>
        <p:txBody>
          <a:bodyPr/>
          <a:lstStyle/>
          <a:p>
            <a:endParaRPr lang="en-CL"/>
          </a:p>
        </p:txBody>
      </p:sp>
      <p:sp>
        <p:nvSpPr>
          <p:cNvPr id="18" name="Text 16"/>
          <p:cNvSpPr/>
          <p:nvPr/>
        </p:nvSpPr>
        <p:spPr>
          <a:xfrm>
            <a:off x="6739128" y="1783080"/>
            <a:ext cx="1335024" cy="109728"/>
          </a:xfrm>
          <a:prstGeom prst="rect">
            <a:avLst/>
          </a:prstGeom>
          <a:noFill/>
          <a:ln/>
        </p:spPr>
        <p:txBody>
          <a:bodyPr wrap="square" lIns="0" tIns="0" rIns="0" bIns="0" rtlCol="0" anchor="ctr"/>
          <a:lstStyle/>
          <a:p>
            <a:pPr marL="0" indent="0" algn="ctr">
              <a:buNone/>
            </a:pPr>
            <a:r>
              <a:rPr lang="en-US" sz="1050" b="1" dirty="0">
                <a:solidFill>
                  <a:srgbClr val="0F2742"/>
                </a:solidFill>
              </a:rPr>
              <a:t>Categoría</a:t>
            </a:r>
            <a:endParaRPr lang="en-US" sz="1050" dirty="0"/>
          </a:p>
        </p:txBody>
      </p:sp>
      <p:sp>
        <p:nvSpPr>
          <p:cNvPr id="19" name="Shape 17"/>
          <p:cNvSpPr/>
          <p:nvPr/>
        </p:nvSpPr>
        <p:spPr>
          <a:xfrm>
            <a:off x="6629400" y="2331720"/>
            <a:ext cx="1554480" cy="713232"/>
          </a:xfrm>
          <a:prstGeom prst="roundRect">
            <a:avLst>
              <a:gd name="adj" fmla="val 7692"/>
            </a:avLst>
          </a:prstGeom>
          <a:solidFill>
            <a:srgbClr val="FFF6D8"/>
          </a:solidFill>
          <a:ln w="12700">
            <a:solidFill>
              <a:srgbClr val="CAD6E0"/>
            </a:solidFill>
            <a:prstDash val="solid"/>
          </a:ln>
        </p:spPr>
        <p:txBody>
          <a:bodyPr/>
          <a:lstStyle/>
          <a:p>
            <a:endParaRPr lang="en-CL"/>
          </a:p>
        </p:txBody>
      </p:sp>
      <p:sp>
        <p:nvSpPr>
          <p:cNvPr id="20" name="Text 18"/>
          <p:cNvSpPr/>
          <p:nvPr/>
        </p:nvSpPr>
        <p:spPr>
          <a:xfrm>
            <a:off x="6739128" y="2606040"/>
            <a:ext cx="1335024" cy="109728"/>
          </a:xfrm>
          <a:prstGeom prst="rect">
            <a:avLst/>
          </a:prstGeom>
          <a:noFill/>
          <a:ln/>
        </p:spPr>
        <p:txBody>
          <a:bodyPr wrap="square" lIns="0" tIns="0" rIns="0" bIns="0" rtlCol="0" anchor="ctr"/>
          <a:lstStyle/>
          <a:p>
            <a:pPr marL="0" indent="0" algn="ctr">
              <a:buNone/>
            </a:pPr>
            <a:r>
              <a:rPr lang="en-US" sz="1050" b="1" dirty="0">
                <a:solidFill>
                  <a:srgbClr val="0F2742"/>
                </a:solidFill>
              </a:rPr>
              <a:t>Ubicación</a:t>
            </a:r>
            <a:endParaRPr lang="en-US" sz="1050" dirty="0"/>
          </a:p>
        </p:txBody>
      </p:sp>
      <p:sp>
        <p:nvSpPr>
          <p:cNvPr id="21" name="Shape 19"/>
          <p:cNvSpPr/>
          <p:nvPr/>
        </p:nvSpPr>
        <p:spPr>
          <a:xfrm>
            <a:off x="6629400" y="3154680"/>
            <a:ext cx="1554480" cy="713232"/>
          </a:xfrm>
          <a:prstGeom prst="roundRect">
            <a:avLst>
              <a:gd name="adj" fmla="val 7692"/>
            </a:avLst>
          </a:prstGeom>
          <a:solidFill>
            <a:srgbClr val="FFF6D8"/>
          </a:solidFill>
          <a:ln w="12700">
            <a:solidFill>
              <a:srgbClr val="CAD6E0"/>
            </a:solidFill>
            <a:prstDash val="solid"/>
          </a:ln>
        </p:spPr>
        <p:txBody>
          <a:bodyPr/>
          <a:lstStyle/>
          <a:p>
            <a:endParaRPr lang="en-CL"/>
          </a:p>
        </p:txBody>
      </p:sp>
      <p:sp>
        <p:nvSpPr>
          <p:cNvPr id="22" name="Text 20"/>
          <p:cNvSpPr/>
          <p:nvPr/>
        </p:nvSpPr>
        <p:spPr>
          <a:xfrm>
            <a:off x="6739128" y="3429000"/>
            <a:ext cx="1335024" cy="109728"/>
          </a:xfrm>
          <a:prstGeom prst="rect">
            <a:avLst/>
          </a:prstGeom>
          <a:noFill/>
          <a:ln/>
        </p:spPr>
        <p:txBody>
          <a:bodyPr wrap="square" lIns="0" tIns="0" rIns="0" bIns="0" rtlCol="0" anchor="ctr"/>
          <a:lstStyle/>
          <a:p>
            <a:pPr marL="0" indent="0" algn="ctr">
              <a:buNone/>
            </a:pPr>
            <a:r>
              <a:rPr lang="en-US" sz="1050" b="1" dirty="0">
                <a:solidFill>
                  <a:srgbClr val="0F2742"/>
                </a:solidFill>
              </a:rPr>
              <a:t>Estado</a:t>
            </a:r>
            <a:endParaRPr lang="en-US" sz="1050" dirty="0"/>
          </a:p>
        </p:txBody>
      </p:sp>
      <p:sp>
        <p:nvSpPr>
          <p:cNvPr id="23" name="Shape 21"/>
          <p:cNvSpPr/>
          <p:nvPr/>
        </p:nvSpPr>
        <p:spPr>
          <a:xfrm>
            <a:off x="9601200" y="2331720"/>
            <a:ext cx="1554480" cy="713232"/>
          </a:xfrm>
          <a:prstGeom prst="roundRect">
            <a:avLst>
              <a:gd name="adj" fmla="val 7692"/>
            </a:avLst>
          </a:prstGeom>
          <a:solidFill>
            <a:srgbClr val="E7F2FB"/>
          </a:solidFill>
          <a:ln w="12700">
            <a:solidFill>
              <a:srgbClr val="CAD6E0"/>
            </a:solidFill>
            <a:prstDash val="solid"/>
          </a:ln>
        </p:spPr>
        <p:txBody>
          <a:bodyPr/>
          <a:lstStyle/>
          <a:p>
            <a:endParaRPr lang="en-CL"/>
          </a:p>
        </p:txBody>
      </p:sp>
      <p:sp>
        <p:nvSpPr>
          <p:cNvPr id="24" name="Text 22"/>
          <p:cNvSpPr/>
          <p:nvPr/>
        </p:nvSpPr>
        <p:spPr>
          <a:xfrm>
            <a:off x="9710928" y="2606040"/>
            <a:ext cx="1335024" cy="109728"/>
          </a:xfrm>
          <a:prstGeom prst="rect">
            <a:avLst/>
          </a:prstGeom>
          <a:noFill/>
          <a:ln/>
        </p:spPr>
        <p:txBody>
          <a:bodyPr wrap="square" lIns="0" tIns="0" rIns="0" bIns="0" rtlCol="0" anchor="ctr"/>
          <a:lstStyle/>
          <a:p>
            <a:pPr marL="0" indent="0" algn="ctr">
              <a:buNone/>
            </a:pPr>
            <a:r>
              <a:rPr lang="en-US" sz="1050" b="1" dirty="0">
                <a:solidFill>
                  <a:srgbClr val="0F2742"/>
                </a:solidFill>
              </a:rPr>
              <a:t>Activo TI</a:t>
            </a:r>
            <a:endParaRPr lang="en-US" sz="1050" dirty="0"/>
          </a:p>
        </p:txBody>
      </p:sp>
      <p:sp>
        <p:nvSpPr>
          <p:cNvPr id="25" name="Text 23"/>
          <p:cNvSpPr/>
          <p:nvPr/>
        </p:nvSpPr>
        <p:spPr>
          <a:xfrm>
            <a:off x="822960" y="4069080"/>
            <a:ext cx="1828800" cy="228600"/>
          </a:xfrm>
          <a:prstGeom prst="rect">
            <a:avLst/>
          </a:prstGeom>
          <a:noFill/>
          <a:ln/>
        </p:spPr>
        <p:txBody>
          <a:bodyPr wrap="square" lIns="0" tIns="0" rIns="0" bIns="0" rtlCol="0" anchor="ctr"/>
          <a:lstStyle/>
          <a:p>
            <a:pPr marL="0" indent="0">
              <a:buNone/>
            </a:pPr>
            <a:r>
              <a:rPr lang="en-US" sz="1500" b="1" dirty="0">
                <a:solidFill>
                  <a:srgbClr val="0F2742"/>
                </a:solidFill>
              </a:rPr>
              <a:t>Tablas clave</a:t>
            </a:r>
            <a:endParaRPr lang="en-US" sz="1500" dirty="0"/>
          </a:p>
        </p:txBody>
      </p:sp>
      <p:sp>
        <p:nvSpPr>
          <p:cNvPr id="26" name="Shape 24"/>
          <p:cNvSpPr/>
          <p:nvPr/>
        </p:nvSpPr>
        <p:spPr>
          <a:xfrm>
            <a:off x="2743200" y="4389120"/>
            <a:ext cx="2743200" cy="320040"/>
          </a:xfrm>
          <a:prstGeom prst="roundRect">
            <a:avLst>
              <a:gd name="adj" fmla="val 14286"/>
            </a:avLst>
          </a:prstGeom>
          <a:solidFill>
            <a:srgbClr val="E7F2FB"/>
          </a:solidFill>
          <a:ln w="12700">
            <a:solidFill>
              <a:srgbClr val="CAD6E0"/>
            </a:solidFill>
            <a:prstDash val="solid"/>
          </a:ln>
        </p:spPr>
        <p:txBody>
          <a:bodyPr/>
          <a:lstStyle/>
          <a:p>
            <a:endParaRPr lang="en-CL"/>
          </a:p>
        </p:txBody>
      </p:sp>
      <p:sp>
        <p:nvSpPr>
          <p:cNvPr id="27" name="Text 25"/>
          <p:cNvSpPr/>
          <p:nvPr/>
        </p:nvSpPr>
        <p:spPr>
          <a:xfrm>
            <a:off x="2880360" y="4489704"/>
            <a:ext cx="2468880" cy="91440"/>
          </a:xfrm>
          <a:prstGeom prst="rect">
            <a:avLst/>
          </a:prstGeom>
          <a:noFill/>
          <a:ln/>
        </p:spPr>
        <p:txBody>
          <a:bodyPr wrap="square" lIns="0" tIns="0" rIns="0" bIns="0" rtlCol="0" anchor="ctr"/>
          <a:lstStyle/>
          <a:p>
            <a:pPr marL="0" indent="0" algn="ctr">
              <a:buNone/>
            </a:pPr>
            <a:r>
              <a:rPr lang="en-US" sz="880" b="1" dirty="0">
                <a:solidFill>
                  <a:srgbClr val="0F2742"/>
                </a:solidFill>
              </a:rPr>
              <a:t>glpi_tickets</a:t>
            </a:r>
            <a:endParaRPr lang="en-US" sz="880" dirty="0"/>
          </a:p>
        </p:txBody>
      </p:sp>
      <p:sp>
        <p:nvSpPr>
          <p:cNvPr id="28" name="Shape 26"/>
          <p:cNvSpPr/>
          <p:nvPr/>
        </p:nvSpPr>
        <p:spPr>
          <a:xfrm>
            <a:off x="5577840" y="4389120"/>
            <a:ext cx="2743200" cy="320040"/>
          </a:xfrm>
          <a:prstGeom prst="roundRect">
            <a:avLst>
              <a:gd name="adj" fmla="val 14286"/>
            </a:avLst>
          </a:prstGeom>
          <a:solidFill>
            <a:srgbClr val="E6F7EF"/>
          </a:solidFill>
          <a:ln w="12700">
            <a:solidFill>
              <a:srgbClr val="CAD6E0"/>
            </a:solidFill>
            <a:prstDash val="solid"/>
          </a:ln>
        </p:spPr>
        <p:txBody>
          <a:bodyPr/>
          <a:lstStyle/>
          <a:p>
            <a:endParaRPr lang="en-CL"/>
          </a:p>
        </p:txBody>
      </p:sp>
      <p:sp>
        <p:nvSpPr>
          <p:cNvPr id="29" name="Text 27"/>
          <p:cNvSpPr/>
          <p:nvPr/>
        </p:nvSpPr>
        <p:spPr>
          <a:xfrm>
            <a:off x="5715000" y="4489704"/>
            <a:ext cx="2468880" cy="91440"/>
          </a:xfrm>
          <a:prstGeom prst="rect">
            <a:avLst/>
          </a:prstGeom>
          <a:noFill/>
          <a:ln/>
        </p:spPr>
        <p:txBody>
          <a:bodyPr wrap="square" lIns="0" tIns="0" rIns="0" bIns="0" rtlCol="0" anchor="ctr"/>
          <a:lstStyle/>
          <a:p>
            <a:pPr marL="0" indent="0" algn="ctr">
              <a:buNone/>
            </a:pPr>
            <a:r>
              <a:rPr lang="en-US" sz="880" b="1" dirty="0">
                <a:solidFill>
                  <a:srgbClr val="0F2742"/>
                </a:solidFill>
              </a:rPr>
              <a:t>glpi_users</a:t>
            </a:r>
            <a:endParaRPr lang="en-US" sz="880" dirty="0"/>
          </a:p>
        </p:txBody>
      </p:sp>
      <p:sp>
        <p:nvSpPr>
          <p:cNvPr id="30" name="Shape 28"/>
          <p:cNvSpPr/>
          <p:nvPr/>
        </p:nvSpPr>
        <p:spPr>
          <a:xfrm>
            <a:off x="8412480" y="4389120"/>
            <a:ext cx="2743200" cy="320040"/>
          </a:xfrm>
          <a:prstGeom prst="roundRect">
            <a:avLst>
              <a:gd name="adj" fmla="val 14286"/>
            </a:avLst>
          </a:prstGeom>
          <a:solidFill>
            <a:srgbClr val="E7F2FB"/>
          </a:solidFill>
          <a:ln w="12700">
            <a:solidFill>
              <a:srgbClr val="CAD6E0"/>
            </a:solidFill>
            <a:prstDash val="solid"/>
          </a:ln>
        </p:spPr>
        <p:txBody>
          <a:bodyPr/>
          <a:lstStyle/>
          <a:p>
            <a:endParaRPr lang="en-CL"/>
          </a:p>
        </p:txBody>
      </p:sp>
      <p:sp>
        <p:nvSpPr>
          <p:cNvPr id="31" name="Text 29"/>
          <p:cNvSpPr/>
          <p:nvPr/>
        </p:nvSpPr>
        <p:spPr>
          <a:xfrm>
            <a:off x="8549640" y="4489704"/>
            <a:ext cx="2468880" cy="91440"/>
          </a:xfrm>
          <a:prstGeom prst="rect">
            <a:avLst/>
          </a:prstGeom>
          <a:noFill/>
          <a:ln/>
        </p:spPr>
        <p:txBody>
          <a:bodyPr wrap="square" lIns="0" tIns="0" rIns="0" bIns="0" rtlCol="0" anchor="ctr"/>
          <a:lstStyle/>
          <a:p>
            <a:pPr marL="0" indent="0" algn="ctr">
              <a:buNone/>
            </a:pPr>
            <a:r>
              <a:rPr lang="en-US" sz="880" b="1" dirty="0">
                <a:solidFill>
                  <a:srgbClr val="0F2742"/>
                </a:solidFill>
              </a:rPr>
              <a:t>glpi_locations</a:t>
            </a:r>
            <a:endParaRPr lang="en-US" sz="880" dirty="0"/>
          </a:p>
        </p:txBody>
      </p:sp>
      <p:sp>
        <p:nvSpPr>
          <p:cNvPr id="32" name="Shape 30"/>
          <p:cNvSpPr/>
          <p:nvPr/>
        </p:nvSpPr>
        <p:spPr>
          <a:xfrm>
            <a:off x="2743200" y="4846320"/>
            <a:ext cx="2743200" cy="320040"/>
          </a:xfrm>
          <a:prstGeom prst="roundRect">
            <a:avLst>
              <a:gd name="adj" fmla="val 14286"/>
            </a:avLst>
          </a:prstGeom>
          <a:solidFill>
            <a:srgbClr val="E6F7EF"/>
          </a:solidFill>
          <a:ln w="12700">
            <a:solidFill>
              <a:srgbClr val="CAD6E0"/>
            </a:solidFill>
            <a:prstDash val="solid"/>
          </a:ln>
        </p:spPr>
        <p:txBody>
          <a:bodyPr/>
          <a:lstStyle/>
          <a:p>
            <a:endParaRPr lang="en-CL"/>
          </a:p>
        </p:txBody>
      </p:sp>
      <p:sp>
        <p:nvSpPr>
          <p:cNvPr id="33" name="Text 31"/>
          <p:cNvSpPr/>
          <p:nvPr/>
        </p:nvSpPr>
        <p:spPr>
          <a:xfrm>
            <a:off x="2880360" y="4946904"/>
            <a:ext cx="2468880" cy="91440"/>
          </a:xfrm>
          <a:prstGeom prst="rect">
            <a:avLst/>
          </a:prstGeom>
          <a:noFill/>
          <a:ln/>
        </p:spPr>
        <p:txBody>
          <a:bodyPr wrap="square" lIns="0" tIns="0" rIns="0" bIns="0" rtlCol="0" anchor="ctr"/>
          <a:lstStyle/>
          <a:p>
            <a:pPr marL="0" indent="0" algn="ctr">
              <a:buNone/>
            </a:pPr>
            <a:r>
              <a:rPr lang="en-US" sz="880" b="1" dirty="0">
                <a:solidFill>
                  <a:srgbClr val="0F2742"/>
                </a:solidFill>
              </a:rPr>
              <a:t>glpi_itilcategories</a:t>
            </a:r>
            <a:endParaRPr lang="en-US" sz="880" dirty="0"/>
          </a:p>
        </p:txBody>
      </p:sp>
      <p:sp>
        <p:nvSpPr>
          <p:cNvPr id="34" name="Shape 32"/>
          <p:cNvSpPr/>
          <p:nvPr/>
        </p:nvSpPr>
        <p:spPr>
          <a:xfrm>
            <a:off x="5577840" y="4846320"/>
            <a:ext cx="2743200" cy="320040"/>
          </a:xfrm>
          <a:prstGeom prst="roundRect">
            <a:avLst>
              <a:gd name="adj" fmla="val 14286"/>
            </a:avLst>
          </a:prstGeom>
          <a:solidFill>
            <a:srgbClr val="E7F2FB"/>
          </a:solidFill>
          <a:ln w="12700">
            <a:solidFill>
              <a:srgbClr val="CAD6E0"/>
            </a:solidFill>
            <a:prstDash val="solid"/>
          </a:ln>
        </p:spPr>
        <p:txBody>
          <a:bodyPr/>
          <a:lstStyle/>
          <a:p>
            <a:endParaRPr lang="en-CL"/>
          </a:p>
        </p:txBody>
      </p:sp>
      <p:sp>
        <p:nvSpPr>
          <p:cNvPr id="35" name="Text 33"/>
          <p:cNvSpPr/>
          <p:nvPr/>
        </p:nvSpPr>
        <p:spPr>
          <a:xfrm>
            <a:off x="5715000" y="4946904"/>
            <a:ext cx="2468880" cy="91440"/>
          </a:xfrm>
          <a:prstGeom prst="rect">
            <a:avLst/>
          </a:prstGeom>
          <a:noFill/>
          <a:ln/>
        </p:spPr>
        <p:txBody>
          <a:bodyPr wrap="square" lIns="0" tIns="0" rIns="0" bIns="0" rtlCol="0" anchor="ctr"/>
          <a:lstStyle/>
          <a:p>
            <a:pPr marL="0" indent="0" algn="ctr">
              <a:buNone/>
            </a:pPr>
            <a:r>
              <a:rPr lang="en-US" sz="880" b="1" dirty="0">
                <a:solidFill>
                  <a:srgbClr val="0F2742"/>
                </a:solidFill>
              </a:rPr>
              <a:t>glpi_items_tickets</a:t>
            </a:r>
            <a:endParaRPr lang="en-US" sz="880" dirty="0"/>
          </a:p>
        </p:txBody>
      </p:sp>
      <p:sp>
        <p:nvSpPr>
          <p:cNvPr id="36" name="Shape 34"/>
          <p:cNvSpPr/>
          <p:nvPr/>
        </p:nvSpPr>
        <p:spPr>
          <a:xfrm>
            <a:off x="8412480" y="4846320"/>
            <a:ext cx="2743200" cy="320040"/>
          </a:xfrm>
          <a:prstGeom prst="roundRect">
            <a:avLst>
              <a:gd name="adj" fmla="val 14286"/>
            </a:avLst>
          </a:prstGeom>
          <a:solidFill>
            <a:srgbClr val="E6F7EF"/>
          </a:solidFill>
          <a:ln w="12700">
            <a:solidFill>
              <a:srgbClr val="CAD6E0"/>
            </a:solidFill>
            <a:prstDash val="solid"/>
          </a:ln>
        </p:spPr>
        <p:txBody>
          <a:bodyPr/>
          <a:lstStyle/>
          <a:p>
            <a:endParaRPr lang="en-CL"/>
          </a:p>
        </p:txBody>
      </p:sp>
      <p:sp>
        <p:nvSpPr>
          <p:cNvPr id="37" name="Text 35"/>
          <p:cNvSpPr/>
          <p:nvPr/>
        </p:nvSpPr>
        <p:spPr>
          <a:xfrm>
            <a:off x="8549640" y="4946904"/>
            <a:ext cx="2468880" cy="91440"/>
          </a:xfrm>
          <a:prstGeom prst="rect">
            <a:avLst/>
          </a:prstGeom>
          <a:noFill/>
          <a:ln/>
        </p:spPr>
        <p:txBody>
          <a:bodyPr wrap="square" lIns="0" tIns="0" rIns="0" bIns="0" rtlCol="0" anchor="ctr"/>
          <a:lstStyle/>
          <a:p>
            <a:pPr marL="0" indent="0" algn="ctr">
              <a:buNone/>
            </a:pPr>
            <a:r>
              <a:rPr lang="en-US" sz="880" b="1" dirty="0">
                <a:solidFill>
                  <a:srgbClr val="0F2742"/>
                </a:solidFill>
              </a:rPr>
              <a:t>glpi_computers / monitors / peripherals</a:t>
            </a:r>
            <a:endParaRPr lang="en-US" sz="880" dirty="0"/>
          </a:p>
        </p:txBody>
      </p:sp>
      <p:sp>
        <p:nvSpPr>
          <p:cNvPr id="38" name="Shape 36"/>
          <p:cNvSpPr/>
          <p:nvPr/>
        </p:nvSpPr>
        <p:spPr>
          <a:xfrm>
            <a:off x="822960" y="5394959"/>
            <a:ext cx="10515600" cy="640075"/>
          </a:xfrm>
          <a:prstGeom prst="roundRect">
            <a:avLst>
              <a:gd name="adj" fmla="val 14545"/>
            </a:avLst>
          </a:prstGeom>
          <a:solidFill>
            <a:srgbClr val="FFFFFF"/>
          </a:solidFill>
          <a:ln w="12700">
            <a:solidFill>
              <a:srgbClr val="CAD6E0"/>
            </a:solidFill>
            <a:prstDash val="solid"/>
          </a:ln>
        </p:spPr>
        <p:txBody>
          <a:bodyPr/>
          <a:lstStyle/>
          <a:p>
            <a:endParaRPr lang="en-CL"/>
          </a:p>
        </p:txBody>
      </p:sp>
      <p:sp>
        <p:nvSpPr>
          <p:cNvPr id="39" name="Shape 37"/>
          <p:cNvSpPr/>
          <p:nvPr/>
        </p:nvSpPr>
        <p:spPr>
          <a:xfrm>
            <a:off x="822960" y="5394959"/>
            <a:ext cx="91440" cy="640073"/>
          </a:xfrm>
          <a:prstGeom prst="rect">
            <a:avLst/>
          </a:prstGeom>
          <a:solidFill>
            <a:srgbClr val="0BBF72"/>
          </a:solidFill>
          <a:ln w="12700">
            <a:solidFill>
              <a:srgbClr val="0BBF72"/>
            </a:solidFill>
            <a:prstDash val="solid"/>
          </a:ln>
        </p:spPr>
        <p:txBody>
          <a:bodyPr/>
          <a:lstStyle/>
          <a:p>
            <a:endParaRPr lang="en-CL"/>
          </a:p>
        </p:txBody>
      </p:sp>
      <p:sp>
        <p:nvSpPr>
          <p:cNvPr id="40" name="Text 38"/>
          <p:cNvSpPr/>
          <p:nvPr/>
        </p:nvSpPr>
        <p:spPr>
          <a:xfrm>
            <a:off x="1024128" y="5541264"/>
            <a:ext cx="10204704" cy="228600"/>
          </a:xfrm>
          <a:prstGeom prst="rect">
            <a:avLst/>
          </a:prstGeom>
          <a:noFill/>
          <a:ln/>
        </p:spPr>
        <p:txBody>
          <a:bodyPr wrap="square" lIns="0" tIns="0" rIns="0" bIns="0" rtlCol="0" anchor="ctr"/>
          <a:lstStyle/>
          <a:p>
            <a:pPr marL="0" indent="0">
              <a:buNone/>
            </a:pPr>
            <a:r>
              <a:rPr lang="en-US" sz="1300" b="1" dirty="0">
                <a:solidFill>
                  <a:srgbClr val="0F2742"/>
                </a:solidFill>
              </a:rPr>
              <a:t>Normalización 3FN</a:t>
            </a:r>
            <a:endParaRPr lang="en-US" sz="1300" dirty="0"/>
          </a:p>
        </p:txBody>
      </p:sp>
      <p:sp>
        <p:nvSpPr>
          <p:cNvPr id="41" name="Text 39"/>
          <p:cNvSpPr/>
          <p:nvPr/>
        </p:nvSpPr>
        <p:spPr>
          <a:xfrm>
            <a:off x="1024128" y="5852160"/>
            <a:ext cx="10204704" cy="0"/>
          </a:xfrm>
          <a:prstGeom prst="rect">
            <a:avLst/>
          </a:prstGeom>
          <a:noFill/>
          <a:ln/>
        </p:spPr>
        <p:txBody>
          <a:bodyPr wrap="square" lIns="0" tIns="0" rIns="0" bIns="0" rtlCol="0" anchor="ctr">
            <a:noAutofit/>
          </a:bodyPr>
          <a:lstStyle/>
          <a:p>
            <a:pPr marL="0" indent="0">
              <a:buNone/>
            </a:pPr>
            <a:r>
              <a:rPr lang="en-US" sz="1000" dirty="0">
                <a:solidFill>
                  <a:srgbClr val="1B1F23"/>
                </a:solidFill>
              </a:rPr>
              <a:t>Se separan entidades maestras, relaciones puente y objetos operacionales para reducir duplicidad y mejorar consistencia.</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BBF72"/>
          </a:solidFill>
          <a:ln w="12700">
            <a:solidFill>
              <a:srgbClr val="0BBF72"/>
            </a:solidFill>
            <a:prstDash val="solid"/>
          </a:ln>
        </p:spPr>
        <p:txBody>
          <a:bodyPr/>
          <a:lstStyle/>
          <a:p>
            <a:endParaRPr lang="en-CL"/>
          </a:p>
        </p:txBody>
      </p:sp>
      <p:sp>
        <p:nvSpPr>
          <p:cNvPr id="3" name="Shape 1"/>
          <p:cNvSpPr/>
          <p:nvPr/>
        </p:nvSpPr>
        <p:spPr>
          <a:xfrm>
            <a:off x="0" y="6565392"/>
            <a:ext cx="12191695" cy="292608"/>
          </a:xfrm>
          <a:prstGeom prst="rect">
            <a:avLst/>
          </a:prstGeom>
          <a:solidFill>
            <a:srgbClr val="0F2742"/>
          </a:solidFill>
          <a:ln w="12700">
            <a:solidFill>
              <a:srgbClr val="0F2742"/>
            </a:solidFill>
            <a:prstDash val="solid"/>
          </a:ln>
        </p:spPr>
        <p:txBody>
          <a:bodyPr/>
          <a:lstStyle/>
          <a:p>
            <a:endParaRPr lang="en-CL"/>
          </a:p>
        </p:txBody>
      </p:sp>
      <p:sp>
        <p:nvSpPr>
          <p:cNvPr id="4" name="Text 2"/>
          <p:cNvSpPr/>
          <p:nvPr/>
        </p:nvSpPr>
        <p:spPr>
          <a:xfrm>
            <a:off x="502920" y="347472"/>
            <a:ext cx="10515600" cy="384048"/>
          </a:xfrm>
          <a:prstGeom prst="rect">
            <a:avLst/>
          </a:prstGeom>
          <a:noFill/>
          <a:ln/>
        </p:spPr>
        <p:txBody>
          <a:bodyPr wrap="square" lIns="0" tIns="0" rIns="0" bIns="0" rtlCol="0" anchor="ctr"/>
          <a:lstStyle/>
          <a:p>
            <a:pPr marL="0" indent="0">
              <a:buNone/>
            </a:pPr>
            <a:r>
              <a:rPr lang="en-US" sz="2600" b="1" dirty="0">
                <a:solidFill>
                  <a:srgbClr val="0F2742"/>
                </a:solidFill>
                <a:latin typeface="Arial" pitchFamily="34" charset="0"/>
                <a:ea typeface="Arial" pitchFamily="34" charset="-122"/>
                <a:cs typeface="Arial" pitchFamily="34" charset="-120"/>
              </a:rPr>
              <a:t>Implementación y demo funcional</a:t>
            </a:r>
            <a:endParaRPr lang="en-US" sz="2600" dirty="0"/>
          </a:p>
        </p:txBody>
      </p:sp>
      <p:sp>
        <p:nvSpPr>
          <p:cNvPr id="6" name="Text 4"/>
          <p:cNvSpPr/>
          <p:nvPr/>
        </p:nvSpPr>
        <p:spPr>
          <a:xfrm>
            <a:off x="502920" y="6611112"/>
            <a:ext cx="6583680" cy="146304"/>
          </a:xfrm>
          <a:prstGeom prst="rect">
            <a:avLst/>
          </a:prstGeom>
          <a:noFill/>
          <a:ln/>
        </p:spPr>
        <p:txBody>
          <a:bodyPr wrap="square" lIns="0" tIns="0" rIns="0" bIns="0" rtlCol="0" anchor="ctr"/>
          <a:lstStyle/>
          <a:p>
            <a:pPr marL="0" indent="0">
              <a:buNone/>
            </a:pPr>
            <a:r>
              <a:rPr lang="en-US" sz="750" dirty="0">
                <a:solidFill>
                  <a:srgbClr val="DCE7F2"/>
                </a:solidFill>
              </a:rPr>
              <a:t>TIP-INF-401 | Ingeniería en Informática | IPSS 2026</a:t>
            </a:r>
            <a:endParaRPr lang="en-US" sz="750" dirty="0"/>
          </a:p>
        </p:txBody>
      </p:sp>
      <p:sp>
        <p:nvSpPr>
          <p:cNvPr id="7" name="Text 5"/>
          <p:cNvSpPr/>
          <p:nvPr/>
        </p:nvSpPr>
        <p:spPr>
          <a:xfrm>
            <a:off x="11064240" y="6611112"/>
            <a:ext cx="640080" cy="146304"/>
          </a:xfrm>
          <a:prstGeom prst="rect">
            <a:avLst/>
          </a:prstGeom>
          <a:noFill/>
          <a:ln/>
        </p:spPr>
        <p:txBody>
          <a:bodyPr wrap="square" lIns="0" tIns="0" rIns="0" bIns="0" rtlCol="0" anchor="ctr"/>
          <a:lstStyle/>
          <a:p>
            <a:pPr marL="0" indent="0" algn="r">
              <a:buNone/>
            </a:pPr>
            <a:r>
              <a:rPr lang="en-US" sz="750" dirty="0">
                <a:solidFill>
                  <a:srgbClr val="DCE7F2"/>
                </a:solidFill>
              </a:rPr>
              <a:t>11/18</a:t>
            </a:r>
            <a:endParaRPr lang="en-US" sz="750" dirty="0"/>
          </a:p>
        </p:txBody>
      </p:sp>
      <p:sp>
        <p:nvSpPr>
          <p:cNvPr id="8" name="Shape 6"/>
          <p:cNvSpPr/>
          <p:nvPr/>
        </p:nvSpPr>
        <p:spPr>
          <a:xfrm>
            <a:off x="822960" y="1188720"/>
            <a:ext cx="10561320" cy="548640"/>
          </a:xfrm>
          <a:prstGeom prst="roundRect">
            <a:avLst>
              <a:gd name="adj" fmla="val 13333"/>
            </a:avLst>
          </a:prstGeom>
          <a:solidFill>
            <a:srgbClr val="FFFFFF"/>
          </a:solidFill>
          <a:ln w="12700">
            <a:solidFill>
              <a:srgbClr val="CAD6E0"/>
            </a:solidFill>
            <a:prstDash val="solid"/>
          </a:ln>
        </p:spPr>
        <p:txBody>
          <a:bodyPr/>
          <a:lstStyle/>
          <a:p>
            <a:endParaRPr lang="en-CL"/>
          </a:p>
        </p:txBody>
      </p:sp>
      <p:sp>
        <p:nvSpPr>
          <p:cNvPr id="9" name="Shape 7"/>
          <p:cNvSpPr/>
          <p:nvPr/>
        </p:nvSpPr>
        <p:spPr>
          <a:xfrm>
            <a:off x="1005840" y="1307592"/>
            <a:ext cx="320040" cy="320040"/>
          </a:xfrm>
          <a:prstGeom prst="ellipse">
            <a:avLst/>
          </a:prstGeom>
          <a:solidFill>
            <a:srgbClr val="1F5B99"/>
          </a:solidFill>
          <a:ln w="12700">
            <a:solidFill>
              <a:srgbClr val="1F5B99"/>
            </a:solidFill>
            <a:prstDash val="solid"/>
          </a:ln>
        </p:spPr>
        <p:txBody>
          <a:bodyPr/>
          <a:lstStyle/>
          <a:p>
            <a:endParaRPr lang="en-CL"/>
          </a:p>
        </p:txBody>
      </p:sp>
      <p:sp>
        <p:nvSpPr>
          <p:cNvPr id="10" name="Text 8"/>
          <p:cNvSpPr/>
          <p:nvPr/>
        </p:nvSpPr>
        <p:spPr>
          <a:xfrm>
            <a:off x="1005840" y="1408176"/>
            <a:ext cx="320040" cy="73152"/>
          </a:xfrm>
          <a:prstGeom prst="rect">
            <a:avLst/>
          </a:prstGeom>
          <a:noFill/>
          <a:ln/>
        </p:spPr>
        <p:txBody>
          <a:bodyPr wrap="square" lIns="0" tIns="0" rIns="0" bIns="0" rtlCol="0" anchor="ctr"/>
          <a:lstStyle/>
          <a:p>
            <a:pPr marL="0" indent="0" algn="ctr">
              <a:buNone/>
            </a:pPr>
            <a:r>
              <a:rPr lang="en-US" sz="800" b="1" dirty="0">
                <a:solidFill>
                  <a:srgbClr val="FFFFFF"/>
                </a:solidFill>
              </a:rPr>
              <a:t>1</a:t>
            </a:r>
            <a:endParaRPr lang="en-US" sz="800" dirty="0"/>
          </a:p>
        </p:txBody>
      </p:sp>
      <p:sp>
        <p:nvSpPr>
          <p:cNvPr id="11" name="Text 9"/>
          <p:cNvSpPr/>
          <p:nvPr/>
        </p:nvSpPr>
        <p:spPr>
          <a:xfrm>
            <a:off x="1508760" y="1353312"/>
            <a:ext cx="2194560" cy="137160"/>
          </a:xfrm>
          <a:prstGeom prst="rect">
            <a:avLst/>
          </a:prstGeom>
          <a:noFill/>
          <a:ln/>
        </p:spPr>
        <p:txBody>
          <a:bodyPr wrap="square" lIns="0" tIns="0" rIns="0" bIns="0" rtlCol="0" anchor="ctr"/>
          <a:lstStyle/>
          <a:p>
            <a:pPr marL="0" indent="0">
              <a:buNone/>
            </a:pPr>
            <a:r>
              <a:rPr lang="en-US" sz="1200" b="1" dirty="0">
                <a:solidFill>
                  <a:srgbClr val="0F2742"/>
                </a:solidFill>
              </a:rPr>
              <a:t>Login y perfiles</a:t>
            </a:r>
            <a:endParaRPr lang="en-US" sz="1200" dirty="0"/>
          </a:p>
        </p:txBody>
      </p:sp>
      <p:sp>
        <p:nvSpPr>
          <p:cNvPr id="12" name="Text 10"/>
          <p:cNvSpPr/>
          <p:nvPr/>
        </p:nvSpPr>
        <p:spPr>
          <a:xfrm>
            <a:off x="3931920" y="1353312"/>
            <a:ext cx="6858000" cy="137160"/>
          </a:xfrm>
          <a:prstGeom prst="rect">
            <a:avLst/>
          </a:prstGeom>
          <a:noFill/>
          <a:ln/>
        </p:spPr>
        <p:txBody>
          <a:bodyPr wrap="square" lIns="0" tIns="0" rIns="0" bIns="0" rtlCol="0" anchor="ctr"/>
          <a:lstStyle/>
          <a:p>
            <a:pPr marL="0" indent="0">
              <a:buNone/>
            </a:pPr>
            <a:r>
              <a:rPr lang="en-US" sz="1150" dirty="0">
                <a:solidFill>
                  <a:srgbClr val="1B1F23"/>
                </a:solidFill>
              </a:rPr>
              <a:t>Validar acceso y rol del usuario</a:t>
            </a:r>
            <a:endParaRPr lang="en-US" sz="1150" dirty="0"/>
          </a:p>
        </p:txBody>
      </p:sp>
      <p:sp>
        <p:nvSpPr>
          <p:cNvPr id="13" name="Shape 11"/>
          <p:cNvSpPr/>
          <p:nvPr/>
        </p:nvSpPr>
        <p:spPr>
          <a:xfrm>
            <a:off x="822960" y="1965960"/>
            <a:ext cx="10561320" cy="548640"/>
          </a:xfrm>
          <a:prstGeom prst="roundRect">
            <a:avLst>
              <a:gd name="adj" fmla="val 13333"/>
            </a:avLst>
          </a:prstGeom>
          <a:solidFill>
            <a:srgbClr val="EEF3F8"/>
          </a:solidFill>
          <a:ln w="12700">
            <a:solidFill>
              <a:srgbClr val="CAD6E0"/>
            </a:solidFill>
            <a:prstDash val="solid"/>
          </a:ln>
        </p:spPr>
        <p:txBody>
          <a:bodyPr/>
          <a:lstStyle/>
          <a:p>
            <a:endParaRPr lang="en-CL"/>
          </a:p>
        </p:txBody>
      </p:sp>
      <p:sp>
        <p:nvSpPr>
          <p:cNvPr id="14" name="Shape 12"/>
          <p:cNvSpPr/>
          <p:nvPr/>
        </p:nvSpPr>
        <p:spPr>
          <a:xfrm>
            <a:off x="1005840" y="2084832"/>
            <a:ext cx="320040" cy="320040"/>
          </a:xfrm>
          <a:prstGeom prst="ellipse">
            <a:avLst/>
          </a:prstGeom>
          <a:solidFill>
            <a:srgbClr val="1F5B99"/>
          </a:solidFill>
          <a:ln w="12700">
            <a:solidFill>
              <a:srgbClr val="1F5B99"/>
            </a:solidFill>
            <a:prstDash val="solid"/>
          </a:ln>
        </p:spPr>
        <p:txBody>
          <a:bodyPr/>
          <a:lstStyle/>
          <a:p>
            <a:endParaRPr lang="en-CL"/>
          </a:p>
        </p:txBody>
      </p:sp>
      <p:sp>
        <p:nvSpPr>
          <p:cNvPr id="15" name="Text 13"/>
          <p:cNvSpPr/>
          <p:nvPr/>
        </p:nvSpPr>
        <p:spPr>
          <a:xfrm>
            <a:off x="1005840" y="2185416"/>
            <a:ext cx="320040" cy="73152"/>
          </a:xfrm>
          <a:prstGeom prst="rect">
            <a:avLst/>
          </a:prstGeom>
          <a:noFill/>
          <a:ln/>
        </p:spPr>
        <p:txBody>
          <a:bodyPr wrap="square" lIns="0" tIns="0" rIns="0" bIns="0" rtlCol="0" anchor="ctr"/>
          <a:lstStyle/>
          <a:p>
            <a:pPr marL="0" indent="0" algn="ctr">
              <a:buNone/>
            </a:pPr>
            <a:r>
              <a:rPr lang="en-US" sz="800" b="1" dirty="0">
                <a:solidFill>
                  <a:srgbClr val="FFFFFF"/>
                </a:solidFill>
              </a:rPr>
              <a:t>2</a:t>
            </a:r>
            <a:endParaRPr lang="en-US" sz="800" dirty="0"/>
          </a:p>
        </p:txBody>
      </p:sp>
      <p:sp>
        <p:nvSpPr>
          <p:cNvPr id="16" name="Text 14"/>
          <p:cNvSpPr/>
          <p:nvPr/>
        </p:nvSpPr>
        <p:spPr>
          <a:xfrm>
            <a:off x="1508760" y="2130552"/>
            <a:ext cx="2194560" cy="137160"/>
          </a:xfrm>
          <a:prstGeom prst="rect">
            <a:avLst/>
          </a:prstGeom>
          <a:noFill/>
          <a:ln/>
        </p:spPr>
        <p:txBody>
          <a:bodyPr wrap="square" lIns="0" tIns="0" rIns="0" bIns="0" rtlCol="0" anchor="ctr"/>
          <a:lstStyle/>
          <a:p>
            <a:pPr marL="0" indent="0">
              <a:buNone/>
            </a:pPr>
            <a:r>
              <a:rPr lang="en-US" sz="1200" b="1" dirty="0">
                <a:solidFill>
                  <a:srgbClr val="0F2742"/>
                </a:solidFill>
              </a:rPr>
              <a:t>Crear ticket</a:t>
            </a:r>
            <a:endParaRPr lang="en-US" sz="1200" dirty="0"/>
          </a:p>
        </p:txBody>
      </p:sp>
      <p:sp>
        <p:nvSpPr>
          <p:cNvPr id="17" name="Text 15"/>
          <p:cNvSpPr/>
          <p:nvPr/>
        </p:nvSpPr>
        <p:spPr>
          <a:xfrm>
            <a:off x="3931920" y="2130552"/>
            <a:ext cx="6858000" cy="137160"/>
          </a:xfrm>
          <a:prstGeom prst="rect">
            <a:avLst/>
          </a:prstGeom>
          <a:noFill/>
          <a:ln/>
        </p:spPr>
        <p:txBody>
          <a:bodyPr wrap="square" lIns="0" tIns="0" rIns="0" bIns="0" rtlCol="0" anchor="ctr"/>
          <a:lstStyle/>
          <a:p>
            <a:pPr marL="0" indent="0">
              <a:buNone/>
            </a:pPr>
            <a:r>
              <a:rPr lang="en-US" sz="1150" dirty="0">
                <a:solidFill>
                  <a:srgbClr val="1B1F23"/>
                </a:solidFill>
              </a:rPr>
              <a:t>Formulario estructurado y campos obligatorios</a:t>
            </a:r>
            <a:endParaRPr lang="en-US" sz="1150" dirty="0"/>
          </a:p>
        </p:txBody>
      </p:sp>
      <p:sp>
        <p:nvSpPr>
          <p:cNvPr id="18" name="Shape 16"/>
          <p:cNvSpPr/>
          <p:nvPr/>
        </p:nvSpPr>
        <p:spPr>
          <a:xfrm>
            <a:off x="822960" y="2743200"/>
            <a:ext cx="10561320" cy="548640"/>
          </a:xfrm>
          <a:prstGeom prst="roundRect">
            <a:avLst>
              <a:gd name="adj" fmla="val 13333"/>
            </a:avLst>
          </a:prstGeom>
          <a:solidFill>
            <a:srgbClr val="FFFFFF"/>
          </a:solidFill>
          <a:ln w="12700">
            <a:solidFill>
              <a:srgbClr val="CAD6E0"/>
            </a:solidFill>
            <a:prstDash val="solid"/>
          </a:ln>
        </p:spPr>
        <p:txBody>
          <a:bodyPr/>
          <a:lstStyle/>
          <a:p>
            <a:endParaRPr lang="en-CL"/>
          </a:p>
        </p:txBody>
      </p:sp>
      <p:sp>
        <p:nvSpPr>
          <p:cNvPr id="19" name="Shape 17"/>
          <p:cNvSpPr/>
          <p:nvPr/>
        </p:nvSpPr>
        <p:spPr>
          <a:xfrm>
            <a:off x="1005840" y="2862072"/>
            <a:ext cx="320040" cy="320040"/>
          </a:xfrm>
          <a:prstGeom prst="ellipse">
            <a:avLst/>
          </a:prstGeom>
          <a:solidFill>
            <a:srgbClr val="1F5B99"/>
          </a:solidFill>
          <a:ln w="12700">
            <a:solidFill>
              <a:srgbClr val="1F5B99"/>
            </a:solidFill>
            <a:prstDash val="solid"/>
          </a:ln>
        </p:spPr>
        <p:txBody>
          <a:bodyPr/>
          <a:lstStyle/>
          <a:p>
            <a:endParaRPr lang="en-CL"/>
          </a:p>
        </p:txBody>
      </p:sp>
      <p:sp>
        <p:nvSpPr>
          <p:cNvPr id="20" name="Text 18"/>
          <p:cNvSpPr/>
          <p:nvPr/>
        </p:nvSpPr>
        <p:spPr>
          <a:xfrm>
            <a:off x="1005840" y="2962656"/>
            <a:ext cx="320040" cy="73152"/>
          </a:xfrm>
          <a:prstGeom prst="rect">
            <a:avLst/>
          </a:prstGeom>
          <a:noFill/>
          <a:ln/>
        </p:spPr>
        <p:txBody>
          <a:bodyPr wrap="square" lIns="0" tIns="0" rIns="0" bIns="0" rtlCol="0" anchor="ctr"/>
          <a:lstStyle/>
          <a:p>
            <a:pPr marL="0" indent="0" algn="ctr">
              <a:buNone/>
            </a:pPr>
            <a:r>
              <a:rPr lang="en-US" sz="800" b="1" dirty="0">
                <a:solidFill>
                  <a:srgbClr val="FFFFFF"/>
                </a:solidFill>
              </a:rPr>
              <a:t>3</a:t>
            </a:r>
            <a:endParaRPr lang="en-US" sz="800" dirty="0"/>
          </a:p>
        </p:txBody>
      </p:sp>
      <p:sp>
        <p:nvSpPr>
          <p:cNvPr id="21" name="Text 19"/>
          <p:cNvSpPr/>
          <p:nvPr/>
        </p:nvSpPr>
        <p:spPr>
          <a:xfrm>
            <a:off x="1508760" y="2907792"/>
            <a:ext cx="2194560" cy="137160"/>
          </a:xfrm>
          <a:prstGeom prst="rect">
            <a:avLst/>
          </a:prstGeom>
          <a:noFill/>
          <a:ln/>
        </p:spPr>
        <p:txBody>
          <a:bodyPr wrap="square" lIns="0" tIns="0" rIns="0" bIns="0" rtlCol="0" anchor="ctr"/>
          <a:lstStyle/>
          <a:p>
            <a:pPr marL="0" indent="0">
              <a:buNone/>
            </a:pPr>
            <a:r>
              <a:rPr lang="en-US" sz="1200" b="1" dirty="0">
                <a:solidFill>
                  <a:srgbClr val="0F2742"/>
                </a:solidFill>
              </a:rPr>
              <a:t>Gestionar ticket</a:t>
            </a:r>
            <a:endParaRPr lang="en-US" sz="1200" dirty="0"/>
          </a:p>
        </p:txBody>
      </p:sp>
      <p:sp>
        <p:nvSpPr>
          <p:cNvPr id="22" name="Text 20"/>
          <p:cNvSpPr/>
          <p:nvPr/>
        </p:nvSpPr>
        <p:spPr>
          <a:xfrm>
            <a:off x="3931920" y="2907792"/>
            <a:ext cx="6858000" cy="137160"/>
          </a:xfrm>
          <a:prstGeom prst="rect">
            <a:avLst/>
          </a:prstGeom>
          <a:noFill/>
          <a:ln/>
        </p:spPr>
        <p:txBody>
          <a:bodyPr wrap="square" lIns="0" tIns="0" rIns="0" bIns="0" rtlCol="0" anchor="ctr"/>
          <a:lstStyle/>
          <a:p>
            <a:pPr marL="0" indent="0">
              <a:buNone/>
            </a:pPr>
            <a:r>
              <a:rPr lang="en-US" sz="1150" dirty="0">
                <a:solidFill>
                  <a:srgbClr val="1B1F23"/>
                </a:solidFill>
              </a:rPr>
              <a:t>Asignación, estado, comentarios y cierre</a:t>
            </a:r>
            <a:endParaRPr lang="en-US" sz="1150" dirty="0"/>
          </a:p>
        </p:txBody>
      </p:sp>
      <p:sp>
        <p:nvSpPr>
          <p:cNvPr id="23" name="Shape 21"/>
          <p:cNvSpPr/>
          <p:nvPr/>
        </p:nvSpPr>
        <p:spPr>
          <a:xfrm>
            <a:off x="822960" y="3520440"/>
            <a:ext cx="10561320" cy="548640"/>
          </a:xfrm>
          <a:prstGeom prst="roundRect">
            <a:avLst>
              <a:gd name="adj" fmla="val 13333"/>
            </a:avLst>
          </a:prstGeom>
          <a:solidFill>
            <a:srgbClr val="EEF3F8"/>
          </a:solidFill>
          <a:ln w="12700">
            <a:solidFill>
              <a:srgbClr val="CAD6E0"/>
            </a:solidFill>
            <a:prstDash val="solid"/>
          </a:ln>
        </p:spPr>
        <p:txBody>
          <a:bodyPr/>
          <a:lstStyle/>
          <a:p>
            <a:endParaRPr lang="en-CL"/>
          </a:p>
        </p:txBody>
      </p:sp>
      <p:sp>
        <p:nvSpPr>
          <p:cNvPr id="24" name="Shape 22"/>
          <p:cNvSpPr/>
          <p:nvPr/>
        </p:nvSpPr>
        <p:spPr>
          <a:xfrm>
            <a:off x="1005840" y="3639312"/>
            <a:ext cx="320040" cy="320040"/>
          </a:xfrm>
          <a:prstGeom prst="ellipse">
            <a:avLst/>
          </a:prstGeom>
          <a:solidFill>
            <a:srgbClr val="1F5B99"/>
          </a:solidFill>
          <a:ln w="12700">
            <a:solidFill>
              <a:srgbClr val="1F5B99"/>
            </a:solidFill>
            <a:prstDash val="solid"/>
          </a:ln>
        </p:spPr>
        <p:txBody>
          <a:bodyPr/>
          <a:lstStyle/>
          <a:p>
            <a:endParaRPr lang="en-CL"/>
          </a:p>
        </p:txBody>
      </p:sp>
      <p:sp>
        <p:nvSpPr>
          <p:cNvPr id="25" name="Text 23"/>
          <p:cNvSpPr/>
          <p:nvPr/>
        </p:nvSpPr>
        <p:spPr>
          <a:xfrm>
            <a:off x="1005840" y="3739896"/>
            <a:ext cx="320040" cy="73152"/>
          </a:xfrm>
          <a:prstGeom prst="rect">
            <a:avLst/>
          </a:prstGeom>
          <a:noFill/>
          <a:ln/>
        </p:spPr>
        <p:txBody>
          <a:bodyPr wrap="square" lIns="0" tIns="0" rIns="0" bIns="0" rtlCol="0" anchor="ctr"/>
          <a:lstStyle/>
          <a:p>
            <a:pPr marL="0" indent="0" algn="ctr">
              <a:buNone/>
            </a:pPr>
            <a:r>
              <a:rPr lang="en-US" sz="800" b="1" dirty="0">
                <a:solidFill>
                  <a:srgbClr val="FFFFFF"/>
                </a:solidFill>
              </a:rPr>
              <a:t>4</a:t>
            </a:r>
            <a:endParaRPr lang="en-US" sz="800" dirty="0"/>
          </a:p>
        </p:txBody>
      </p:sp>
      <p:sp>
        <p:nvSpPr>
          <p:cNvPr id="26" name="Text 24"/>
          <p:cNvSpPr/>
          <p:nvPr/>
        </p:nvSpPr>
        <p:spPr>
          <a:xfrm>
            <a:off x="1508760" y="3685032"/>
            <a:ext cx="2194560" cy="137160"/>
          </a:xfrm>
          <a:prstGeom prst="rect">
            <a:avLst/>
          </a:prstGeom>
          <a:noFill/>
          <a:ln/>
        </p:spPr>
        <p:txBody>
          <a:bodyPr wrap="square" lIns="0" tIns="0" rIns="0" bIns="0" rtlCol="0" anchor="ctr"/>
          <a:lstStyle/>
          <a:p>
            <a:pPr marL="0" indent="0">
              <a:buNone/>
            </a:pPr>
            <a:r>
              <a:rPr lang="en-US" sz="1200" b="1" dirty="0">
                <a:solidFill>
                  <a:srgbClr val="0F2742"/>
                </a:solidFill>
              </a:rPr>
              <a:t>Asociar activo</a:t>
            </a:r>
            <a:endParaRPr lang="en-US" sz="1200" dirty="0"/>
          </a:p>
        </p:txBody>
      </p:sp>
      <p:sp>
        <p:nvSpPr>
          <p:cNvPr id="27" name="Text 25"/>
          <p:cNvSpPr/>
          <p:nvPr/>
        </p:nvSpPr>
        <p:spPr>
          <a:xfrm>
            <a:off x="3931920" y="3685032"/>
            <a:ext cx="6858000" cy="137160"/>
          </a:xfrm>
          <a:prstGeom prst="rect">
            <a:avLst/>
          </a:prstGeom>
          <a:noFill/>
          <a:ln/>
        </p:spPr>
        <p:txBody>
          <a:bodyPr wrap="square" lIns="0" tIns="0" rIns="0" bIns="0" rtlCol="0" anchor="ctr"/>
          <a:lstStyle/>
          <a:p>
            <a:pPr marL="0" indent="0">
              <a:buNone/>
            </a:pPr>
            <a:r>
              <a:rPr lang="en-US" sz="1150" dirty="0">
                <a:solidFill>
                  <a:srgbClr val="1B1F23"/>
                </a:solidFill>
              </a:rPr>
              <a:t>Vincular ticket con equipo registrado</a:t>
            </a:r>
            <a:endParaRPr lang="en-US" sz="1150" dirty="0"/>
          </a:p>
        </p:txBody>
      </p:sp>
      <p:sp>
        <p:nvSpPr>
          <p:cNvPr id="28" name="Shape 26"/>
          <p:cNvSpPr/>
          <p:nvPr/>
        </p:nvSpPr>
        <p:spPr>
          <a:xfrm>
            <a:off x="822960" y="4297680"/>
            <a:ext cx="10561320" cy="548640"/>
          </a:xfrm>
          <a:prstGeom prst="roundRect">
            <a:avLst>
              <a:gd name="adj" fmla="val 13333"/>
            </a:avLst>
          </a:prstGeom>
          <a:solidFill>
            <a:srgbClr val="FFFFFF"/>
          </a:solidFill>
          <a:ln w="12700">
            <a:solidFill>
              <a:srgbClr val="CAD6E0"/>
            </a:solidFill>
            <a:prstDash val="solid"/>
          </a:ln>
        </p:spPr>
        <p:txBody>
          <a:bodyPr/>
          <a:lstStyle/>
          <a:p>
            <a:endParaRPr lang="en-CL"/>
          </a:p>
        </p:txBody>
      </p:sp>
      <p:sp>
        <p:nvSpPr>
          <p:cNvPr id="29" name="Shape 27"/>
          <p:cNvSpPr/>
          <p:nvPr/>
        </p:nvSpPr>
        <p:spPr>
          <a:xfrm>
            <a:off x="1005840" y="4416552"/>
            <a:ext cx="320040" cy="320040"/>
          </a:xfrm>
          <a:prstGeom prst="ellipse">
            <a:avLst/>
          </a:prstGeom>
          <a:solidFill>
            <a:srgbClr val="1F5B99"/>
          </a:solidFill>
          <a:ln w="12700">
            <a:solidFill>
              <a:srgbClr val="1F5B99"/>
            </a:solidFill>
            <a:prstDash val="solid"/>
          </a:ln>
        </p:spPr>
        <p:txBody>
          <a:bodyPr/>
          <a:lstStyle/>
          <a:p>
            <a:endParaRPr lang="en-CL"/>
          </a:p>
        </p:txBody>
      </p:sp>
      <p:sp>
        <p:nvSpPr>
          <p:cNvPr id="30" name="Text 28"/>
          <p:cNvSpPr/>
          <p:nvPr/>
        </p:nvSpPr>
        <p:spPr>
          <a:xfrm>
            <a:off x="1005840" y="4517136"/>
            <a:ext cx="320040" cy="73152"/>
          </a:xfrm>
          <a:prstGeom prst="rect">
            <a:avLst/>
          </a:prstGeom>
          <a:noFill/>
          <a:ln/>
        </p:spPr>
        <p:txBody>
          <a:bodyPr wrap="square" lIns="0" tIns="0" rIns="0" bIns="0" rtlCol="0" anchor="ctr"/>
          <a:lstStyle/>
          <a:p>
            <a:pPr marL="0" indent="0" algn="ctr">
              <a:buNone/>
            </a:pPr>
            <a:r>
              <a:rPr lang="en-US" sz="800" b="1" dirty="0">
                <a:solidFill>
                  <a:srgbClr val="FFFFFF"/>
                </a:solidFill>
              </a:rPr>
              <a:t>5</a:t>
            </a:r>
            <a:endParaRPr lang="en-US" sz="800" dirty="0"/>
          </a:p>
        </p:txBody>
      </p:sp>
      <p:sp>
        <p:nvSpPr>
          <p:cNvPr id="31" name="Text 29"/>
          <p:cNvSpPr/>
          <p:nvPr/>
        </p:nvSpPr>
        <p:spPr>
          <a:xfrm>
            <a:off x="1508760" y="4462272"/>
            <a:ext cx="2194560" cy="137160"/>
          </a:xfrm>
          <a:prstGeom prst="rect">
            <a:avLst/>
          </a:prstGeom>
          <a:noFill/>
          <a:ln/>
        </p:spPr>
        <p:txBody>
          <a:bodyPr wrap="square" lIns="0" tIns="0" rIns="0" bIns="0" rtlCol="0" anchor="ctr"/>
          <a:lstStyle/>
          <a:p>
            <a:pPr marL="0" indent="0">
              <a:buNone/>
            </a:pPr>
            <a:r>
              <a:rPr lang="en-US" sz="1200" b="1" dirty="0">
                <a:solidFill>
                  <a:srgbClr val="0F2742"/>
                </a:solidFill>
              </a:rPr>
              <a:t>Dashboard / reporte</a:t>
            </a:r>
            <a:endParaRPr lang="en-US" sz="1200" dirty="0"/>
          </a:p>
        </p:txBody>
      </p:sp>
      <p:sp>
        <p:nvSpPr>
          <p:cNvPr id="32" name="Text 30"/>
          <p:cNvSpPr/>
          <p:nvPr/>
        </p:nvSpPr>
        <p:spPr>
          <a:xfrm>
            <a:off x="3931920" y="4462272"/>
            <a:ext cx="6858000" cy="137160"/>
          </a:xfrm>
          <a:prstGeom prst="rect">
            <a:avLst/>
          </a:prstGeom>
          <a:noFill/>
          <a:ln/>
        </p:spPr>
        <p:txBody>
          <a:bodyPr wrap="square" lIns="0" tIns="0" rIns="0" bIns="0" rtlCol="0" anchor="ctr"/>
          <a:lstStyle/>
          <a:p>
            <a:pPr marL="0" indent="0">
              <a:buNone/>
            </a:pPr>
            <a:r>
              <a:rPr lang="en-US" sz="1150" dirty="0">
                <a:solidFill>
                  <a:srgbClr val="1B1F23"/>
                </a:solidFill>
              </a:rPr>
              <a:t>Indicadores y exportación básica</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BBF72"/>
          </a:solidFill>
          <a:ln w="12700">
            <a:solidFill>
              <a:srgbClr val="0BBF72"/>
            </a:solidFill>
            <a:prstDash val="solid"/>
          </a:ln>
        </p:spPr>
        <p:txBody>
          <a:bodyPr/>
          <a:lstStyle/>
          <a:p>
            <a:endParaRPr lang="en-CL"/>
          </a:p>
        </p:txBody>
      </p:sp>
      <p:sp>
        <p:nvSpPr>
          <p:cNvPr id="3" name="Shape 1"/>
          <p:cNvSpPr/>
          <p:nvPr/>
        </p:nvSpPr>
        <p:spPr>
          <a:xfrm>
            <a:off x="0" y="6565392"/>
            <a:ext cx="12191695" cy="292608"/>
          </a:xfrm>
          <a:prstGeom prst="rect">
            <a:avLst/>
          </a:prstGeom>
          <a:solidFill>
            <a:srgbClr val="0F2742"/>
          </a:solidFill>
          <a:ln w="12700">
            <a:solidFill>
              <a:srgbClr val="0F2742"/>
            </a:solidFill>
            <a:prstDash val="solid"/>
          </a:ln>
        </p:spPr>
        <p:txBody>
          <a:bodyPr/>
          <a:lstStyle/>
          <a:p>
            <a:endParaRPr lang="en-CL"/>
          </a:p>
        </p:txBody>
      </p:sp>
      <p:sp>
        <p:nvSpPr>
          <p:cNvPr id="4" name="Text 2"/>
          <p:cNvSpPr/>
          <p:nvPr/>
        </p:nvSpPr>
        <p:spPr>
          <a:xfrm>
            <a:off x="502920" y="347472"/>
            <a:ext cx="10515600" cy="384048"/>
          </a:xfrm>
          <a:prstGeom prst="rect">
            <a:avLst/>
          </a:prstGeom>
          <a:noFill/>
          <a:ln/>
        </p:spPr>
        <p:txBody>
          <a:bodyPr wrap="square" lIns="0" tIns="0" rIns="0" bIns="0" rtlCol="0" anchor="ctr"/>
          <a:lstStyle/>
          <a:p>
            <a:pPr marL="0" indent="0">
              <a:buNone/>
            </a:pPr>
            <a:r>
              <a:rPr lang="en-US" sz="2600" b="1" dirty="0">
                <a:solidFill>
                  <a:srgbClr val="0F2742"/>
                </a:solidFill>
                <a:latin typeface="Arial" pitchFamily="34" charset="0"/>
                <a:ea typeface="Arial" pitchFamily="34" charset="-122"/>
                <a:cs typeface="Arial" pitchFamily="34" charset="-120"/>
              </a:rPr>
              <a:t>Demo I: login, ticket y validaciones</a:t>
            </a:r>
            <a:endParaRPr lang="en-US" sz="2600" dirty="0"/>
          </a:p>
        </p:txBody>
      </p:sp>
      <p:sp>
        <p:nvSpPr>
          <p:cNvPr id="5" name="Text 3"/>
          <p:cNvSpPr/>
          <p:nvPr/>
        </p:nvSpPr>
        <p:spPr>
          <a:xfrm>
            <a:off x="521208" y="768096"/>
            <a:ext cx="10607040" cy="219456"/>
          </a:xfrm>
          <a:prstGeom prst="rect">
            <a:avLst/>
          </a:prstGeom>
          <a:noFill/>
          <a:ln/>
        </p:spPr>
        <p:txBody>
          <a:bodyPr wrap="square" lIns="0" tIns="0" rIns="0" bIns="0" rtlCol="0" anchor="ctr"/>
          <a:lstStyle/>
          <a:p>
            <a:pPr marL="0" indent="0">
              <a:buNone/>
            </a:pPr>
            <a:r>
              <a:rPr lang="en-US" sz="1050" dirty="0">
                <a:solidFill>
                  <a:srgbClr val="657182"/>
                </a:solidFill>
              </a:rPr>
              <a:t>El usuario ingresa, crea un ticket y el sistema exige información mínima.</a:t>
            </a:r>
            <a:endParaRPr lang="en-US" sz="1050" dirty="0"/>
          </a:p>
        </p:txBody>
      </p:sp>
      <p:sp>
        <p:nvSpPr>
          <p:cNvPr id="6" name="Text 4"/>
          <p:cNvSpPr/>
          <p:nvPr/>
        </p:nvSpPr>
        <p:spPr>
          <a:xfrm>
            <a:off x="502920" y="6611112"/>
            <a:ext cx="6583680" cy="146304"/>
          </a:xfrm>
          <a:prstGeom prst="rect">
            <a:avLst/>
          </a:prstGeom>
          <a:noFill/>
          <a:ln/>
        </p:spPr>
        <p:txBody>
          <a:bodyPr wrap="square" lIns="0" tIns="0" rIns="0" bIns="0" rtlCol="0" anchor="ctr"/>
          <a:lstStyle/>
          <a:p>
            <a:pPr marL="0" indent="0">
              <a:buNone/>
            </a:pPr>
            <a:r>
              <a:rPr lang="en-US" sz="750" dirty="0">
                <a:solidFill>
                  <a:srgbClr val="DCE7F2"/>
                </a:solidFill>
              </a:rPr>
              <a:t>TIP-INF-401 | Ingeniería en Informática | IPSS 2026</a:t>
            </a:r>
            <a:endParaRPr lang="en-US" sz="750" dirty="0"/>
          </a:p>
        </p:txBody>
      </p:sp>
      <p:sp>
        <p:nvSpPr>
          <p:cNvPr id="7" name="Text 5"/>
          <p:cNvSpPr/>
          <p:nvPr/>
        </p:nvSpPr>
        <p:spPr>
          <a:xfrm>
            <a:off x="11064240" y="6611112"/>
            <a:ext cx="640080" cy="146304"/>
          </a:xfrm>
          <a:prstGeom prst="rect">
            <a:avLst/>
          </a:prstGeom>
          <a:noFill/>
          <a:ln/>
        </p:spPr>
        <p:txBody>
          <a:bodyPr wrap="square" lIns="0" tIns="0" rIns="0" bIns="0" rtlCol="0" anchor="ctr"/>
          <a:lstStyle/>
          <a:p>
            <a:pPr marL="0" indent="0" algn="r">
              <a:buNone/>
            </a:pPr>
            <a:r>
              <a:rPr lang="en-US" sz="750" dirty="0">
                <a:solidFill>
                  <a:srgbClr val="DCE7F2"/>
                </a:solidFill>
              </a:rPr>
              <a:t>12/18</a:t>
            </a:r>
            <a:endParaRPr lang="en-US" sz="750" dirty="0"/>
          </a:p>
        </p:txBody>
      </p:sp>
      <p:sp>
        <p:nvSpPr>
          <p:cNvPr id="8" name="Shape 6"/>
          <p:cNvSpPr/>
          <p:nvPr/>
        </p:nvSpPr>
        <p:spPr>
          <a:xfrm>
            <a:off x="685800" y="1143000"/>
            <a:ext cx="3474720" cy="2194560"/>
          </a:xfrm>
          <a:prstGeom prst="roundRect">
            <a:avLst>
              <a:gd name="adj" fmla="val 2500"/>
            </a:avLst>
          </a:prstGeom>
          <a:solidFill>
            <a:srgbClr val="FFFFFF"/>
          </a:solidFill>
          <a:ln w="10160">
            <a:solidFill>
              <a:srgbClr val="CAD6E0"/>
            </a:solidFill>
            <a:prstDash val="solid"/>
          </a:ln>
        </p:spPr>
        <p:txBody>
          <a:bodyPr/>
          <a:lstStyle/>
          <a:p>
            <a:endParaRPr lang="en-CL"/>
          </a:p>
        </p:txBody>
      </p:sp>
      <p:pic>
        <p:nvPicPr>
          <p:cNvPr id="9" name="Image 0" descr="/mnt/data/repo/proyecto-de-titulo-ipss-2026-eva2/docs/testing/tc-12_01.png"/>
          <p:cNvPicPr>
            <a:picLocks noChangeAspect="1"/>
          </p:cNvPicPr>
          <p:nvPr/>
        </p:nvPicPr>
        <p:blipFill>
          <a:blip r:embed="rId3"/>
          <a:stretch>
            <a:fillRect/>
          </a:stretch>
        </p:blipFill>
        <p:spPr>
          <a:xfrm>
            <a:off x="841715" y="1188720"/>
            <a:ext cx="3162890" cy="1874520"/>
          </a:xfrm>
          <a:prstGeom prst="rect">
            <a:avLst/>
          </a:prstGeom>
        </p:spPr>
      </p:pic>
      <p:sp>
        <p:nvSpPr>
          <p:cNvPr id="10" name="Shape 7"/>
          <p:cNvSpPr/>
          <p:nvPr/>
        </p:nvSpPr>
        <p:spPr>
          <a:xfrm>
            <a:off x="685800" y="3090672"/>
            <a:ext cx="3474720" cy="246888"/>
          </a:xfrm>
          <a:prstGeom prst="rect">
            <a:avLst/>
          </a:prstGeom>
          <a:solidFill>
            <a:srgbClr val="0F2742">
              <a:alpha val="92000"/>
            </a:srgbClr>
          </a:solidFill>
          <a:ln w="12700">
            <a:solidFill>
              <a:srgbClr val="0F2742"/>
            </a:solidFill>
            <a:prstDash val="solid"/>
          </a:ln>
        </p:spPr>
        <p:txBody>
          <a:bodyPr/>
          <a:lstStyle/>
          <a:p>
            <a:endParaRPr lang="en-CL"/>
          </a:p>
        </p:txBody>
      </p:sp>
      <p:sp>
        <p:nvSpPr>
          <p:cNvPr id="11" name="Text 8"/>
          <p:cNvSpPr/>
          <p:nvPr/>
        </p:nvSpPr>
        <p:spPr>
          <a:xfrm>
            <a:off x="777240" y="3154680"/>
            <a:ext cx="3291840" cy="91440"/>
          </a:xfrm>
          <a:prstGeom prst="rect">
            <a:avLst/>
          </a:prstGeom>
          <a:noFill/>
          <a:ln/>
        </p:spPr>
        <p:txBody>
          <a:bodyPr wrap="square" lIns="0" tIns="0" rIns="0" bIns="0" rtlCol="0" anchor="ctr"/>
          <a:lstStyle/>
          <a:p>
            <a:pPr marL="0" indent="0" algn="ctr">
              <a:buNone/>
            </a:pPr>
            <a:r>
              <a:rPr lang="en-US" sz="750" b="1" dirty="0">
                <a:solidFill>
                  <a:srgbClr val="FFFFFF"/>
                </a:solidFill>
              </a:rPr>
              <a:t>Login y autenticación</a:t>
            </a:r>
            <a:endParaRPr lang="en-US" sz="750" dirty="0"/>
          </a:p>
        </p:txBody>
      </p:sp>
      <p:sp>
        <p:nvSpPr>
          <p:cNvPr id="12" name="Shape 9"/>
          <p:cNvSpPr/>
          <p:nvPr/>
        </p:nvSpPr>
        <p:spPr>
          <a:xfrm>
            <a:off x="4343400" y="1143000"/>
            <a:ext cx="3474720" cy="2194560"/>
          </a:xfrm>
          <a:prstGeom prst="roundRect">
            <a:avLst>
              <a:gd name="adj" fmla="val 2500"/>
            </a:avLst>
          </a:prstGeom>
          <a:solidFill>
            <a:srgbClr val="FFFFFF"/>
          </a:solidFill>
          <a:ln w="10160">
            <a:solidFill>
              <a:srgbClr val="CAD6E0"/>
            </a:solidFill>
            <a:prstDash val="solid"/>
          </a:ln>
        </p:spPr>
        <p:txBody>
          <a:bodyPr/>
          <a:lstStyle/>
          <a:p>
            <a:endParaRPr lang="en-CL"/>
          </a:p>
        </p:txBody>
      </p:sp>
      <p:pic>
        <p:nvPicPr>
          <p:cNvPr id="13" name="Image 1" descr="/mnt/data/repo/proyecto-de-titulo-ipss-2026-eva2/docs/testing/tc-01_01.png"/>
          <p:cNvPicPr>
            <a:picLocks noChangeAspect="1"/>
          </p:cNvPicPr>
          <p:nvPr/>
        </p:nvPicPr>
        <p:blipFill>
          <a:blip r:embed="rId4"/>
          <a:stretch>
            <a:fillRect/>
          </a:stretch>
        </p:blipFill>
        <p:spPr>
          <a:xfrm>
            <a:off x="4499618" y="1188720"/>
            <a:ext cx="3162284" cy="1874520"/>
          </a:xfrm>
          <a:prstGeom prst="rect">
            <a:avLst/>
          </a:prstGeom>
        </p:spPr>
      </p:pic>
      <p:sp>
        <p:nvSpPr>
          <p:cNvPr id="14" name="Shape 10"/>
          <p:cNvSpPr/>
          <p:nvPr/>
        </p:nvSpPr>
        <p:spPr>
          <a:xfrm>
            <a:off x="4343400" y="3090672"/>
            <a:ext cx="3474720" cy="246888"/>
          </a:xfrm>
          <a:prstGeom prst="rect">
            <a:avLst/>
          </a:prstGeom>
          <a:solidFill>
            <a:srgbClr val="0F2742">
              <a:alpha val="92000"/>
            </a:srgbClr>
          </a:solidFill>
          <a:ln w="12700">
            <a:solidFill>
              <a:srgbClr val="0F2742"/>
            </a:solidFill>
            <a:prstDash val="solid"/>
          </a:ln>
        </p:spPr>
        <p:txBody>
          <a:bodyPr/>
          <a:lstStyle/>
          <a:p>
            <a:endParaRPr lang="en-CL"/>
          </a:p>
        </p:txBody>
      </p:sp>
      <p:sp>
        <p:nvSpPr>
          <p:cNvPr id="15" name="Text 11"/>
          <p:cNvSpPr/>
          <p:nvPr/>
        </p:nvSpPr>
        <p:spPr>
          <a:xfrm>
            <a:off x="4434840" y="3154680"/>
            <a:ext cx="3291840" cy="91440"/>
          </a:xfrm>
          <a:prstGeom prst="rect">
            <a:avLst/>
          </a:prstGeom>
          <a:noFill/>
          <a:ln/>
        </p:spPr>
        <p:txBody>
          <a:bodyPr wrap="square" lIns="0" tIns="0" rIns="0" bIns="0" rtlCol="0" anchor="ctr"/>
          <a:lstStyle/>
          <a:p>
            <a:pPr marL="0" indent="0" algn="ctr">
              <a:buNone/>
            </a:pPr>
            <a:r>
              <a:rPr lang="en-US" sz="750" b="1" dirty="0">
                <a:solidFill>
                  <a:srgbClr val="FFFFFF"/>
                </a:solidFill>
              </a:rPr>
              <a:t>Creación de ticket</a:t>
            </a:r>
            <a:endParaRPr lang="en-US" sz="750" dirty="0"/>
          </a:p>
        </p:txBody>
      </p:sp>
      <p:sp>
        <p:nvSpPr>
          <p:cNvPr id="16" name="Shape 12"/>
          <p:cNvSpPr/>
          <p:nvPr/>
        </p:nvSpPr>
        <p:spPr>
          <a:xfrm>
            <a:off x="8001000" y="1143000"/>
            <a:ext cx="3474720" cy="2194560"/>
          </a:xfrm>
          <a:prstGeom prst="roundRect">
            <a:avLst>
              <a:gd name="adj" fmla="val 2500"/>
            </a:avLst>
          </a:prstGeom>
          <a:solidFill>
            <a:srgbClr val="FFFFFF"/>
          </a:solidFill>
          <a:ln w="10160">
            <a:solidFill>
              <a:srgbClr val="CAD6E0"/>
            </a:solidFill>
            <a:prstDash val="solid"/>
          </a:ln>
        </p:spPr>
        <p:txBody>
          <a:bodyPr/>
          <a:lstStyle/>
          <a:p>
            <a:endParaRPr lang="en-CL"/>
          </a:p>
        </p:txBody>
      </p:sp>
      <p:pic>
        <p:nvPicPr>
          <p:cNvPr id="17" name="Image 2" descr="/mnt/data/repo/proyecto-de-titulo-ipss-2026-eva2/docs/testing/tc-02_02.png"/>
          <p:cNvPicPr>
            <a:picLocks noChangeAspect="1"/>
          </p:cNvPicPr>
          <p:nvPr/>
        </p:nvPicPr>
        <p:blipFill>
          <a:blip r:embed="rId5"/>
          <a:stretch>
            <a:fillRect/>
          </a:stretch>
        </p:blipFill>
        <p:spPr>
          <a:xfrm>
            <a:off x="8157882" y="1188720"/>
            <a:ext cx="3160955" cy="1874520"/>
          </a:xfrm>
          <a:prstGeom prst="rect">
            <a:avLst/>
          </a:prstGeom>
        </p:spPr>
      </p:pic>
      <p:sp>
        <p:nvSpPr>
          <p:cNvPr id="18" name="Shape 13"/>
          <p:cNvSpPr/>
          <p:nvPr/>
        </p:nvSpPr>
        <p:spPr>
          <a:xfrm>
            <a:off x="8001000" y="3090672"/>
            <a:ext cx="3474720" cy="246888"/>
          </a:xfrm>
          <a:prstGeom prst="rect">
            <a:avLst/>
          </a:prstGeom>
          <a:solidFill>
            <a:srgbClr val="0F2742">
              <a:alpha val="92000"/>
            </a:srgbClr>
          </a:solidFill>
          <a:ln w="12700">
            <a:solidFill>
              <a:srgbClr val="0F2742"/>
            </a:solidFill>
            <a:prstDash val="solid"/>
          </a:ln>
        </p:spPr>
        <p:txBody>
          <a:bodyPr/>
          <a:lstStyle/>
          <a:p>
            <a:endParaRPr lang="en-CL"/>
          </a:p>
        </p:txBody>
      </p:sp>
      <p:sp>
        <p:nvSpPr>
          <p:cNvPr id="19" name="Text 14"/>
          <p:cNvSpPr/>
          <p:nvPr/>
        </p:nvSpPr>
        <p:spPr>
          <a:xfrm>
            <a:off x="8092440" y="3154680"/>
            <a:ext cx="3291840" cy="91440"/>
          </a:xfrm>
          <a:prstGeom prst="rect">
            <a:avLst/>
          </a:prstGeom>
          <a:noFill/>
          <a:ln/>
        </p:spPr>
        <p:txBody>
          <a:bodyPr wrap="square" lIns="0" tIns="0" rIns="0" bIns="0" rtlCol="0" anchor="ctr"/>
          <a:lstStyle/>
          <a:p>
            <a:pPr marL="0" indent="0" algn="ctr">
              <a:buNone/>
            </a:pPr>
            <a:r>
              <a:rPr lang="en-US" sz="750" b="1" dirty="0">
                <a:solidFill>
                  <a:srgbClr val="FFFFFF"/>
                </a:solidFill>
              </a:rPr>
              <a:t>Validación de campos obligatorios</a:t>
            </a:r>
            <a:endParaRPr lang="en-US" sz="750" dirty="0"/>
          </a:p>
        </p:txBody>
      </p:sp>
      <p:sp>
        <p:nvSpPr>
          <p:cNvPr id="20" name="Shape 15"/>
          <p:cNvSpPr/>
          <p:nvPr/>
        </p:nvSpPr>
        <p:spPr>
          <a:xfrm>
            <a:off x="868680" y="3886200"/>
            <a:ext cx="2926080" cy="1417320"/>
          </a:xfrm>
          <a:prstGeom prst="roundRect">
            <a:avLst>
              <a:gd name="adj" fmla="val 5161"/>
            </a:avLst>
          </a:prstGeom>
          <a:solidFill>
            <a:srgbClr val="FFFFFF"/>
          </a:solidFill>
          <a:ln w="12700">
            <a:solidFill>
              <a:srgbClr val="CAD6E0"/>
            </a:solidFill>
            <a:prstDash val="solid"/>
          </a:ln>
        </p:spPr>
        <p:txBody>
          <a:bodyPr/>
          <a:lstStyle/>
          <a:p>
            <a:endParaRPr lang="en-CL"/>
          </a:p>
        </p:txBody>
      </p:sp>
      <p:sp>
        <p:nvSpPr>
          <p:cNvPr id="21" name="Shape 16"/>
          <p:cNvSpPr/>
          <p:nvPr/>
        </p:nvSpPr>
        <p:spPr>
          <a:xfrm>
            <a:off x="868680" y="3886200"/>
            <a:ext cx="73152" cy="1417320"/>
          </a:xfrm>
          <a:prstGeom prst="rect">
            <a:avLst/>
          </a:prstGeom>
          <a:solidFill>
            <a:srgbClr val="1F5B99"/>
          </a:solidFill>
          <a:ln w="12700">
            <a:solidFill>
              <a:srgbClr val="1F5B99"/>
            </a:solidFill>
            <a:prstDash val="solid"/>
          </a:ln>
        </p:spPr>
        <p:txBody>
          <a:bodyPr/>
          <a:lstStyle/>
          <a:p>
            <a:endParaRPr lang="en-CL"/>
          </a:p>
        </p:txBody>
      </p:sp>
      <p:sp>
        <p:nvSpPr>
          <p:cNvPr id="22" name="Text 17"/>
          <p:cNvSpPr/>
          <p:nvPr/>
        </p:nvSpPr>
        <p:spPr>
          <a:xfrm>
            <a:off x="1069848" y="4032504"/>
            <a:ext cx="2615184" cy="228600"/>
          </a:xfrm>
          <a:prstGeom prst="rect">
            <a:avLst/>
          </a:prstGeom>
          <a:noFill/>
          <a:ln/>
        </p:spPr>
        <p:txBody>
          <a:bodyPr wrap="square" lIns="0" tIns="0" rIns="0" bIns="0" rtlCol="0" anchor="ctr"/>
          <a:lstStyle/>
          <a:p>
            <a:pPr marL="0" indent="0">
              <a:buNone/>
            </a:pPr>
            <a:r>
              <a:rPr lang="en-US" sz="1300" b="1" dirty="0">
                <a:solidFill>
                  <a:srgbClr val="0F2742"/>
                </a:solidFill>
              </a:rPr>
              <a:t>Qué demostrar</a:t>
            </a:r>
            <a:endParaRPr lang="en-US" sz="1300" dirty="0"/>
          </a:p>
        </p:txBody>
      </p:sp>
      <p:sp>
        <p:nvSpPr>
          <p:cNvPr id="23" name="Text 18"/>
          <p:cNvSpPr/>
          <p:nvPr/>
        </p:nvSpPr>
        <p:spPr>
          <a:xfrm>
            <a:off x="1069848" y="4343400"/>
            <a:ext cx="2615184" cy="868680"/>
          </a:xfrm>
          <a:prstGeom prst="rect">
            <a:avLst/>
          </a:prstGeom>
          <a:noFill/>
          <a:ln/>
        </p:spPr>
        <p:txBody>
          <a:bodyPr wrap="square" lIns="0" tIns="0" rIns="0" bIns="0" rtlCol="0" anchor="ctr">
            <a:normAutofit/>
          </a:bodyPr>
          <a:lstStyle/>
          <a:p>
            <a:pPr marL="0" indent="0">
              <a:buNone/>
            </a:pPr>
            <a:r>
              <a:rPr lang="en-US" sz="1050" dirty="0">
                <a:solidFill>
                  <a:srgbClr val="1B1F23"/>
                </a:solidFill>
              </a:rPr>
              <a:t>Acceso web, perfil de usuario y creación de solicitud desde formulario estructurado.</a:t>
            </a:r>
            <a:endParaRPr lang="en-US" sz="1050" dirty="0"/>
          </a:p>
        </p:txBody>
      </p:sp>
      <p:sp>
        <p:nvSpPr>
          <p:cNvPr id="24" name="Shape 19"/>
          <p:cNvSpPr/>
          <p:nvPr/>
        </p:nvSpPr>
        <p:spPr>
          <a:xfrm>
            <a:off x="4526280" y="3886200"/>
            <a:ext cx="2926080" cy="1417320"/>
          </a:xfrm>
          <a:prstGeom prst="roundRect">
            <a:avLst>
              <a:gd name="adj" fmla="val 5161"/>
            </a:avLst>
          </a:prstGeom>
          <a:solidFill>
            <a:srgbClr val="FFFFFF"/>
          </a:solidFill>
          <a:ln w="12700">
            <a:solidFill>
              <a:srgbClr val="CAD6E0"/>
            </a:solidFill>
            <a:prstDash val="solid"/>
          </a:ln>
        </p:spPr>
        <p:txBody>
          <a:bodyPr/>
          <a:lstStyle/>
          <a:p>
            <a:endParaRPr lang="en-CL"/>
          </a:p>
        </p:txBody>
      </p:sp>
      <p:sp>
        <p:nvSpPr>
          <p:cNvPr id="25" name="Shape 20"/>
          <p:cNvSpPr/>
          <p:nvPr/>
        </p:nvSpPr>
        <p:spPr>
          <a:xfrm>
            <a:off x="4526280" y="3886200"/>
            <a:ext cx="73152" cy="1417320"/>
          </a:xfrm>
          <a:prstGeom prst="rect">
            <a:avLst/>
          </a:prstGeom>
          <a:solidFill>
            <a:srgbClr val="0BBF72"/>
          </a:solidFill>
          <a:ln w="12700">
            <a:solidFill>
              <a:srgbClr val="0BBF72"/>
            </a:solidFill>
            <a:prstDash val="solid"/>
          </a:ln>
        </p:spPr>
        <p:txBody>
          <a:bodyPr/>
          <a:lstStyle/>
          <a:p>
            <a:endParaRPr lang="en-CL"/>
          </a:p>
        </p:txBody>
      </p:sp>
      <p:sp>
        <p:nvSpPr>
          <p:cNvPr id="26" name="Text 21"/>
          <p:cNvSpPr/>
          <p:nvPr/>
        </p:nvSpPr>
        <p:spPr>
          <a:xfrm>
            <a:off x="4727448" y="4032504"/>
            <a:ext cx="2615184" cy="228600"/>
          </a:xfrm>
          <a:prstGeom prst="rect">
            <a:avLst/>
          </a:prstGeom>
          <a:noFill/>
          <a:ln/>
        </p:spPr>
        <p:txBody>
          <a:bodyPr wrap="square" lIns="0" tIns="0" rIns="0" bIns="0" rtlCol="0" anchor="ctr"/>
          <a:lstStyle/>
          <a:p>
            <a:pPr marL="0" indent="0">
              <a:buNone/>
            </a:pPr>
            <a:r>
              <a:rPr lang="en-US" sz="1300" b="1" dirty="0">
                <a:solidFill>
                  <a:srgbClr val="0F2742"/>
                </a:solidFill>
              </a:rPr>
              <a:t>Valor funcional</a:t>
            </a:r>
            <a:endParaRPr lang="en-US" sz="1300" dirty="0"/>
          </a:p>
        </p:txBody>
      </p:sp>
      <p:sp>
        <p:nvSpPr>
          <p:cNvPr id="27" name="Text 22"/>
          <p:cNvSpPr/>
          <p:nvPr/>
        </p:nvSpPr>
        <p:spPr>
          <a:xfrm>
            <a:off x="4727448" y="4343400"/>
            <a:ext cx="2615184" cy="868680"/>
          </a:xfrm>
          <a:prstGeom prst="rect">
            <a:avLst/>
          </a:prstGeom>
          <a:noFill/>
          <a:ln/>
        </p:spPr>
        <p:txBody>
          <a:bodyPr wrap="square" lIns="0" tIns="0" rIns="0" bIns="0" rtlCol="0" anchor="ctr">
            <a:normAutofit/>
          </a:bodyPr>
          <a:lstStyle/>
          <a:p>
            <a:pPr marL="0" indent="0">
              <a:buNone/>
            </a:pPr>
            <a:r>
              <a:rPr lang="en-US" sz="1050" dirty="0">
                <a:solidFill>
                  <a:srgbClr val="1B1F23"/>
                </a:solidFill>
              </a:rPr>
              <a:t>Mejora la calidad del dato desde el origen y evita solicitudes incompletas.</a:t>
            </a:r>
            <a:endParaRPr lang="en-US" sz="1050" dirty="0"/>
          </a:p>
        </p:txBody>
      </p:sp>
      <p:sp>
        <p:nvSpPr>
          <p:cNvPr id="28" name="Shape 23"/>
          <p:cNvSpPr/>
          <p:nvPr/>
        </p:nvSpPr>
        <p:spPr>
          <a:xfrm>
            <a:off x="8183880" y="3886200"/>
            <a:ext cx="2926080" cy="1417320"/>
          </a:xfrm>
          <a:prstGeom prst="roundRect">
            <a:avLst>
              <a:gd name="adj" fmla="val 5161"/>
            </a:avLst>
          </a:prstGeom>
          <a:solidFill>
            <a:srgbClr val="FFFFFF"/>
          </a:solidFill>
          <a:ln w="12700">
            <a:solidFill>
              <a:srgbClr val="CAD6E0"/>
            </a:solidFill>
            <a:prstDash val="solid"/>
          </a:ln>
        </p:spPr>
        <p:txBody>
          <a:bodyPr/>
          <a:lstStyle/>
          <a:p>
            <a:endParaRPr lang="en-CL"/>
          </a:p>
        </p:txBody>
      </p:sp>
      <p:sp>
        <p:nvSpPr>
          <p:cNvPr id="29" name="Shape 24"/>
          <p:cNvSpPr/>
          <p:nvPr/>
        </p:nvSpPr>
        <p:spPr>
          <a:xfrm>
            <a:off x="8183880" y="3886200"/>
            <a:ext cx="73152" cy="1417320"/>
          </a:xfrm>
          <a:prstGeom prst="rect">
            <a:avLst/>
          </a:prstGeom>
          <a:solidFill>
            <a:srgbClr val="F2994A"/>
          </a:solidFill>
          <a:ln w="12700">
            <a:solidFill>
              <a:srgbClr val="F2994A"/>
            </a:solidFill>
            <a:prstDash val="solid"/>
          </a:ln>
        </p:spPr>
        <p:txBody>
          <a:bodyPr/>
          <a:lstStyle/>
          <a:p>
            <a:endParaRPr lang="en-CL"/>
          </a:p>
        </p:txBody>
      </p:sp>
      <p:sp>
        <p:nvSpPr>
          <p:cNvPr id="30" name="Text 25"/>
          <p:cNvSpPr/>
          <p:nvPr/>
        </p:nvSpPr>
        <p:spPr>
          <a:xfrm>
            <a:off x="8385048" y="4032504"/>
            <a:ext cx="2615184" cy="228600"/>
          </a:xfrm>
          <a:prstGeom prst="rect">
            <a:avLst/>
          </a:prstGeom>
          <a:noFill/>
          <a:ln/>
        </p:spPr>
        <p:txBody>
          <a:bodyPr wrap="square" lIns="0" tIns="0" rIns="0" bIns="0" rtlCol="0" anchor="ctr"/>
          <a:lstStyle/>
          <a:p>
            <a:pPr marL="0" indent="0">
              <a:buNone/>
            </a:pPr>
            <a:r>
              <a:rPr lang="en-US" sz="1300" b="1" dirty="0">
                <a:solidFill>
                  <a:srgbClr val="0F2742"/>
                </a:solidFill>
              </a:rPr>
              <a:t>Evidencia</a:t>
            </a:r>
            <a:endParaRPr lang="en-US" sz="1300" dirty="0"/>
          </a:p>
        </p:txBody>
      </p:sp>
      <p:sp>
        <p:nvSpPr>
          <p:cNvPr id="31" name="Text 26"/>
          <p:cNvSpPr/>
          <p:nvPr/>
        </p:nvSpPr>
        <p:spPr>
          <a:xfrm>
            <a:off x="8385048" y="4343400"/>
            <a:ext cx="2615184" cy="868680"/>
          </a:xfrm>
          <a:prstGeom prst="rect">
            <a:avLst/>
          </a:prstGeom>
          <a:noFill/>
          <a:ln/>
        </p:spPr>
        <p:txBody>
          <a:bodyPr wrap="square" lIns="0" tIns="0" rIns="0" bIns="0" rtlCol="0" anchor="ctr">
            <a:normAutofit/>
          </a:bodyPr>
          <a:lstStyle/>
          <a:p>
            <a:pPr marL="0" indent="0">
              <a:buNone/>
            </a:pPr>
            <a:r>
              <a:rPr lang="en-US" sz="1050" dirty="0">
                <a:solidFill>
                  <a:srgbClr val="1B1F23"/>
                </a:solidFill>
              </a:rPr>
              <a:t>Casos TC-01, TC-02 y TC-18 completados en ambiente de prueba.</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BBF72"/>
          </a:solidFill>
          <a:ln w="12700">
            <a:solidFill>
              <a:srgbClr val="0BBF72"/>
            </a:solidFill>
            <a:prstDash val="solid"/>
          </a:ln>
        </p:spPr>
        <p:txBody>
          <a:bodyPr/>
          <a:lstStyle/>
          <a:p>
            <a:endParaRPr lang="en-CL"/>
          </a:p>
        </p:txBody>
      </p:sp>
      <p:sp>
        <p:nvSpPr>
          <p:cNvPr id="3" name="Shape 1"/>
          <p:cNvSpPr/>
          <p:nvPr/>
        </p:nvSpPr>
        <p:spPr>
          <a:xfrm>
            <a:off x="0" y="6565392"/>
            <a:ext cx="12191695" cy="292608"/>
          </a:xfrm>
          <a:prstGeom prst="rect">
            <a:avLst/>
          </a:prstGeom>
          <a:solidFill>
            <a:srgbClr val="0F2742"/>
          </a:solidFill>
          <a:ln w="12700">
            <a:solidFill>
              <a:srgbClr val="0F2742"/>
            </a:solidFill>
            <a:prstDash val="solid"/>
          </a:ln>
        </p:spPr>
        <p:txBody>
          <a:bodyPr/>
          <a:lstStyle/>
          <a:p>
            <a:endParaRPr lang="en-CL"/>
          </a:p>
        </p:txBody>
      </p:sp>
      <p:sp>
        <p:nvSpPr>
          <p:cNvPr id="4" name="Text 2"/>
          <p:cNvSpPr/>
          <p:nvPr/>
        </p:nvSpPr>
        <p:spPr>
          <a:xfrm>
            <a:off x="502920" y="347472"/>
            <a:ext cx="10515600" cy="384048"/>
          </a:xfrm>
          <a:prstGeom prst="rect">
            <a:avLst/>
          </a:prstGeom>
          <a:noFill/>
          <a:ln/>
        </p:spPr>
        <p:txBody>
          <a:bodyPr wrap="square" lIns="0" tIns="0" rIns="0" bIns="0" rtlCol="0" anchor="ctr"/>
          <a:lstStyle/>
          <a:p>
            <a:pPr marL="0" indent="0">
              <a:buNone/>
            </a:pPr>
            <a:r>
              <a:rPr lang="en-US" sz="2600" b="1" dirty="0">
                <a:solidFill>
                  <a:srgbClr val="0F2742"/>
                </a:solidFill>
                <a:latin typeface="Arial" pitchFamily="34" charset="0"/>
                <a:ea typeface="Arial" pitchFamily="34" charset="-122"/>
                <a:cs typeface="Arial" pitchFamily="34" charset="-120"/>
              </a:rPr>
              <a:t>Demo II: gestión del ticket y activo asociado</a:t>
            </a:r>
            <a:endParaRPr lang="en-US" sz="2600" dirty="0"/>
          </a:p>
        </p:txBody>
      </p:sp>
      <p:sp>
        <p:nvSpPr>
          <p:cNvPr id="5" name="Text 3"/>
          <p:cNvSpPr/>
          <p:nvPr/>
        </p:nvSpPr>
        <p:spPr>
          <a:xfrm>
            <a:off x="521208" y="768096"/>
            <a:ext cx="10607040" cy="219456"/>
          </a:xfrm>
          <a:prstGeom prst="rect">
            <a:avLst/>
          </a:prstGeom>
          <a:noFill/>
          <a:ln/>
        </p:spPr>
        <p:txBody>
          <a:bodyPr wrap="square" lIns="0" tIns="0" rIns="0" bIns="0" rtlCol="0" anchor="ctr"/>
          <a:lstStyle/>
          <a:p>
            <a:pPr marL="0" indent="0">
              <a:buNone/>
            </a:pPr>
            <a:r>
              <a:rPr lang="en-US" sz="1050" dirty="0">
                <a:solidFill>
                  <a:srgbClr val="657182"/>
                </a:solidFill>
              </a:rPr>
              <a:t>Soporte asigna, actualiza estados y relaciona el caso con un activo TI.</a:t>
            </a:r>
            <a:endParaRPr lang="en-US" sz="1050" dirty="0"/>
          </a:p>
        </p:txBody>
      </p:sp>
      <p:sp>
        <p:nvSpPr>
          <p:cNvPr id="6" name="Text 4"/>
          <p:cNvSpPr/>
          <p:nvPr/>
        </p:nvSpPr>
        <p:spPr>
          <a:xfrm>
            <a:off x="502920" y="6611112"/>
            <a:ext cx="6583680" cy="146304"/>
          </a:xfrm>
          <a:prstGeom prst="rect">
            <a:avLst/>
          </a:prstGeom>
          <a:noFill/>
          <a:ln/>
        </p:spPr>
        <p:txBody>
          <a:bodyPr wrap="square" lIns="0" tIns="0" rIns="0" bIns="0" rtlCol="0" anchor="ctr"/>
          <a:lstStyle/>
          <a:p>
            <a:pPr marL="0" indent="0">
              <a:buNone/>
            </a:pPr>
            <a:r>
              <a:rPr lang="en-US" sz="750" dirty="0">
                <a:solidFill>
                  <a:srgbClr val="DCE7F2"/>
                </a:solidFill>
              </a:rPr>
              <a:t>TIP-INF-401 | Ingeniería en Informática | IPSS 2026</a:t>
            </a:r>
            <a:endParaRPr lang="en-US" sz="750" dirty="0"/>
          </a:p>
        </p:txBody>
      </p:sp>
      <p:sp>
        <p:nvSpPr>
          <p:cNvPr id="7" name="Text 5"/>
          <p:cNvSpPr/>
          <p:nvPr/>
        </p:nvSpPr>
        <p:spPr>
          <a:xfrm>
            <a:off x="11064240" y="6611112"/>
            <a:ext cx="640080" cy="146304"/>
          </a:xfrm>
          <a:prstGeom prst="rect">
            <a:avLst/>
          </a:prstGeom>
          <a:noFill/>
          <a:ln/>
        </p:spPr>
        <p:txBody>
          <a:bodyPr wrap="square" lIns="0" tIns="0" rIns="0" bIns="0" rtlCol="0" anchor="ctr"/>
          <a:lstStyle/>
          <a:p>
            <a:pPr marL="0" indent="0" algn="r">
              <a:buNone/>
            </a:pPr>
            <a:r>
              <a:rPr lang="en-US" sz="750" dirty="0">
                <a:solidFill>
                  <a:srgbClr val="DCE7F2"/>
                </a:solidFill>
              </a:rPr>
              <a:t>13/18</a:t>
            </a:r>
            <a:endParaRPr lang="en-US" sz="750" dirty="0"/>
          </a:p>
        </p:txBody>
      </p:sp>
      <p:sp>
        <p:nvSpPr>
          <p:cNvPr id="8" name="Shape 6"/>
          <p:cNvSpPr/>
          <p:nvPr/>
        </p:nvSpPr>
        <p:spPr>
          <a:xfrm>
            <a:off x="685800" y="1143000"/>
            <a:ext cx="3474720" cy="2331720"/>
          </a:xfrm>
          <a:prstGeom prst="roundRect">
            <a:avLst>
              <a:gd name="adj" fmla="val 2353"/>
            </a:avLst>
          </a:prstGeom>
          <a:solidFill>
            <a:srgbClr val="FFFFFF"/>
          </a:solidFill>
          <a:ln w="10160">
            <a:solidFill>
              <a:srgbClr val="CAD6E0"/>
            </a:solidFill>
            <a:prstDash val="solid"/>
          </a:ln>
        </p:spPr>
        <p:txBody>
          <a:bodyPr/>
          <a:lstStyle/>
          <a:p>
            <a:endParaRPr lang="en-CL"/>
          </a:p>
        </p:txBody>
      </p:sp>
      <p:pic>
        <p:nvPicPr>
          <p:cNvPr id="9" name="Image 0" descr="/mnt/data/repo/proyecto-de-titulo-ipss-2026-eva2/docs/testing/tc-04_01.png"/>
          <p:cNvPicPr>
            <a:picLocks noChangeAspect="1"/>
          </p:cNvPicPr>
          <p:nvPr/>
        </p:nvPicPr>
        <p:blipFill>
          <a:blip r:embed="rId3"/>
          <a:stretch>
            <a:fillRect/>
          </a:stretch>
        </p:blipFill>
        <p:spPr>
          <a:xfrm>
            <a:off x="731520" y="1192107"/>
            <a:ext cx="3383280" cy="2004907"/>
          </a:xfrm>
          <a:prstGeom prst="rect">
            <a:avLst/>
          </a:prstGeom>
        </p:spPr>
      </p:pic>
      <p:sp>
        <p:nvSpPr>
          <p:cNvPr id="10" name="Shape 7"/>
          <p:cNvSpPr/>
          <p:nvPr/>
        </p:nvSpPr>
        <p:spPr>
          <a:xfrm>
            <a:off x="685800" y="3227832"/>
            <a:ext cx="3474720" cy="246888"/>
          </a:xfrm>
          <a:prstGeom prst="rect">
            <a:avLst/>
          </a:prstGeom>
          <a:solidFill>
            <a:srgbClr val="0F2742">
              <a:alpha val="92000"/>
            </a:srgbClr>
          </a:solidFill>
          <a:ln w="12700">
            <a:solidFill>
              <a:srgbClr val="0F2742"/>
            </a:solidFill>
            <a:prstDash val="solid"/>
          </a:ln>
        </p:spPr>
        <p:txBody>
          <a:bodyPr/>
          <a:lstStyle/>
          <a:p>
            <a:endParaRPr lang="en-CL"/>
          </a:p>
        </p:txBody>
      </p:sp>
      <p:sp>
        <p:nvSpPr>
          <p:cNvPr id="11" name="Text 8"/>
          <p:cNvSpPr/>
          <p:nvPr/>
        </p:nvSpPr>
        <p:spPr>
          <a:xfrm>
            <a:off x="777240" y="3291840"/>
            <a:ext cx="3291840" cy="91440"/>
          </a:xfrm>
          <a:prstGeom prst="rect">
            <a:avLst/>
          </a:prstGeom>
          <a:noFill/>
          <a:ln/>
        </p:spPr>
        <p:txBody>
          <a:bodyPr wrap="square" lIns="0" tIns="0" rIns="0" bIns="0" rtlCol="0" anchor="ctr"/>
          <a:lstStyle/>
          <a:p>
            <a:pPr marL="0" indent="0" algn="ctr">
              <a:buNone/>
            </a:pPr>
            <a:r>
              <a:rPr lang="en-US" sz="750" b="1" dirty="0">
                <a:solidFill>
                  <a:srgbClr val="FFFFFF"/>
                </a:solidFill>
              </a:rPr>
              <a:t>Asignación a técnico o grupo</a:t>
            </a:r>
            <a:endParaRPr lang="en-US" sz="750" dirty="0"/>
          </a:p>
        </p:txBody>
      </p:sp>
      <p:sp>
        <p:nvSpPr>
          <p:cNvPr id="12" name="Shape 9"/>
          <p:cNvSpPr/>
          <p:nvPr/>
        </p:nvSpPr>
        <p:spPr>
          <a:xfrm>
            <a:off x="4343400" y="1143000"/>
            <a:ext cx="3474720" cy="2331720"/>
          </a:xfrm>
          <a:prstGeom prst="roundRect">
            <a:avLst>
              <a:gd name="adj" fmla="val 2353"/>
            </a:avLst>
          </a:prstGeom>
          <a:solidFill>
            <a:srgbClr val="FFFFFF"/>
          </a:solidFill>
          <a:ln w="10160">
            <a:solidFill>
              <a:srgbClr val="CAD6E0"/>
            </a:solidFill>
            <a:prstDash val="solid"/>
          </a:ln>
        </p:spPr>
        <p:txBody>
          <a:bodyPr/>
          <a:lstStyle/>
          <a:p>
            <a:endParaRPr lang="en-CL"/>
          </a:p>
        </p:txBody>
      </p:sp>
      <p:pic>
        <p:nvPicPr>
          <p:cNvPr id="13" name="Image 1" descr="/mnt/data/repo/proyecto-de-titulo-ipss-2026-eva2/docs/testing/tc-05_03.png"/>
          <p:cNvPicPr>
            <a:picLocks noChangeAspect="1"/>
          </p:cNvPicPr>
          <p:nvPr/>
        </p:nvPicPr>
        <p:blipFill>
          <a:blip r:embed="rId4"/>
          <a:stretch>
            <a:fillRect/>
          </a:stretch>
        </p:blipFill>
        <p:spPr>
          <a:xfrm>
            <a:off x="4389120" y="1190149"/>
            <a:ext cx="3383280" cy="2008823"/>
          </a:xfrm>
          <a:prstGeom prst="rect">
            <a:avLst/>
          </a:prstGeom>
        </p:spPr>
      </p:pic>
      <p:sp>
        <p:nvSpPr>
          <p:cNvPr id="14" name="Shape 10"/>
          <p:cNvSpPr/>
          <p:nvPr/>
        </p:nvSpPr>
        <p:spPr>
          <a:xfrm>
            <a:off x="4343400" y="3227832"/>
            <a:ext cx="3474720" cy="246888"/>
          </a:xfrm>
          <a:prstGeom prst="rect">
            <a:avLst/>
          </a:prstGeom>
          <a:solidFill>
            <a:srgbClr val="0F2742">
              <a:alpha val="92000"/>
            </a:srgbClr>
          </a:solidFill>
          <a:ln w="12700">
            <a:solidFill>
              <a:srgbClr val="0F2742"/>
            </a:solidFill>
            <a:prstDash val="solid"/>
          </a:ln>
        </p:spPr>
        <p:txBody>
          <a:bodyPr/>
          <a:lstStyle/>
          <a:p>
            <a:endParaRPr lang="en-CL"/>
          </a:p>
        </p:txBody>
      </p:sp>
      <p:sp>
        <p:nvSpPr>
          <p:cNvPr id="15" name="Text 11"/>
          <p:cNvSpPr/>
          <p:nvPr/>
        </p:nvSpPr>
        <p:spPr>
          <a:xfrm>
            <a:off x="4434840" y="3291840"/>
            <a:ext cx="3291840" cy="91440"/>
          </a:xfrm>
          <a:prstGeom prst="rect">
            <a:avLst/>
          </a:prstGeom>
          <a:noFill/>
          <a:ln/>
        </p:spPr>
        <p:txBody>
          <a:bodyPr wrap="square" lIns="0" tIns="0" rIns="0" bIns="0" rtlCol="0" anchor="ctr"/>
          <a:lstStyle/>
          <a:p>
            <a:pPr marL="0" indent="0" algn="ctr">
              <a:buNone/>
            </a:pPr>
            <a:r>
              <a:rPr lang="en-US" sz="750" b="1" dirty="0">
                <a:solidFill>
                  <a:srgbClr val="FFFFFF"/>
                </a:solidFill>
              </a:rPr>
              <a:t>Asociación ticket-activo</a:t>
            </a:r>
            <a:endParaRPr lang="en-US" sz="750" dirty="0"/>
          </a:p>
        </p:txBody>
      </p:sp>
      <p:sp>
        <p:nvSpPr>
          <p:cNvPr id="16" name="Shape 12"/>
          <p:cNvSpPr/>
          <p:nvPr/>
        </p:nvSpPr>
        <p:spPr>
          <a:xfrm>
            <a:off x="8001000" y="1143000"/>
            <a:ext cx="3474720" cy="2331720"/>
          </a:xfrm>
          <a:prstGeom prst="roundRect">
            <a:avLst>
              <a:gd name="adj" fmla="val 2353"/>
            </a:avLst>
          </a:prstGeom>
          <a:solidFill>
            <a:srgbClr val="FFFFFF"/>
          </a:solidFill>
          <a:ln w="10160">
            <a:solidFill>
              <a:srgbClr val="CAD6E0"/>
            </a:solidFill>
            <a:prstDash val="solid"/>
          </a:ln>
        </p:spPr>
        <p:txBody>
          <a:bodyPr/>
          <a:lstStyle/>
          <a:p>
            <a:endParaRPr lang="en-CL"/>
          </a:p>
        </p:txBody>
      </p:sp>
      <p:pic>
        <p:nvPicPr>
          <p:cNvPr id="17" name="Image 2" descr="/mnt/data/repo/proyecto-de-titulo-ipss-2026-eva2/docs/testing/tc-06_01.png"/>
          <p:cNvPicPr>
            <a:picLocks noChangeAspect="1"/>
          </p:cNvPicPr>
          <p:nvPr/>
        </p:nvPicPr>
        <p:blipFill>
          <a:blip r:embed="rId5"/>
          <a:stretch>
            <a:fillRect/>
          </a:stretch>
        </p:blipFill>
        <p:spPr>
          <a:xfrm>
            <a:off x="8046720" y="1431414"/>
            <a:ext cx="3383280" cy="1526292"/>
          </a:xfrm>
          <a:prstGeom prst="rect">
            <a:avLst/>
          </a:prstGeom>
        </p:spPr>
      </p:pic>
      <p:sp>
        <p:nvSpPr>
          <p:cNvPr id="18" name="Shape 13"/>
          <p:cNvSpPr/>
          <p:nvPr/>
        </p:nvSpPr>
        <p:spPr>
          <a:xfrm>
            <a:off x="8001000" y="3227832"/>
            <a:ext cx="3474720" cy="246888"/>
          </a:xfrm>
          <a:prstGeom prst="rect">
            <a:avLst/>
          </a:prstGeom>
          <a:solidFill>
            <a:srgbClr val="0F2742">
              <a:alpha val="92000"/>
            </a:srgbClr>
          </a:solidFill>
          <a:ln w="12700">
            <a:solidFill>
              <a:srgbClr val="0F2742"/>
            </a:solidFill>
            <a:prstDash val="solid"/>
          </a:ln>
        </p:spPr>
        <p:txBody>
          <a:bodyPr/>
          <a:lstStyle/>
          <a:p>
            <a:endParaRPr lang="en-CL"/>
          </a:p>
        </p:txBody>
      </p:sp>
      <p:sp>
        <p:nvSpPr>
          <p:cNvPr id="19" name="Text 14"/>
          <p:cNvSpPr/>
          <p:nvPr/>
        </p:nvSpPr>
        <p:spPr>
          <a:xfrm>
            <a:off x="8092440" y="3291840"/>
            <a:ext cx="3291840" cy="91440"/>
          </a:xfrm>
          <a:prstGeom prst="rect">
            <a:avLst/>
          </a:prstGeom>
          <a:noFill/>
          <a:ln/>
        </p:spPr>
        <p:txBody>
          <a:bodyPr wrap="square" lIns="0" tIns="0" rIns="0" bIns="0" rtlCol="0" anchor="ctr"/>
          <a:lstStyle/>
          <a:p>
            <a:pPr marL="0" indent="0" algn="ctr">
              <a:buNone/>
            </a:pPr>
            <a:r>
              <a:rPr lang="en-US" sz="750" b="1" dirty="0">
                <a:solidFill>
                  <a:srgbClr val="FFFFFF"/>
                </a:solidFill>
              </a:rPr>
              <a:t>Activo registrado en inventario</a:t>
            </a:r>
            <a:endParaRPr lang="en-US" sz="750" dirty="0"/>
          </a:p>
        </p:txBody>
      </p:sp>
      <p:sp>
        <p:nvSpPr>
          <p:cNvPr id="20" name="Shape 15"/>
          <p:cNvSpPr/>
          <p:nvPr/>
        </p:nvSpPr>
        <p:spPr>
          <a:xfrm>
            <a:off x="685800" y="3886200"/>
            <a:ext cx="10789920" cy="1325880"/>
          </a:xfrm>
          <a:prstGeom prst="roundRect">
            <a:avLst>
              <a:gd name="adj" fmla="val 5517"/>
            </a:avLst>
          </a:prstGeom>
          <a:solidFill>
            <a:srgbClr val="FFFFFF"/>
          </a:solidFill>
          <a:ln w="12700">
            <a:solidFill>
              <a:srgbClr val="CAD6E0"/>
            </a:solidFill>
            <a:prstDash val="solid"/>
          </a:ln>
        </p:spPr>
        <p:txBody>
          <a:bodyPr/>
          <a:lstStyle/>
          <a:p>
            <a:endParaRPr lang="en-CL"/>
          </a:p>
        </p:txBody>
      </p:sp>
      <p:sp>
        <p:nvSpPr>
          <p:cNvPr id="21" name="Text 16"/>
          <p:cNvSpPr/>
          <p:nvPr/>
        </p:nvSpPr>
        <p:spPr>
          <a:xfrm>
            <a:off x="960120" y="4069080"/>
            <a:ext cx="10241280" cy="219456"/>
          </a:xfrm>
          <a:prstGeom prst="rect">
            <a:avLst/>
          </a:prstGeom>
          <a:noFill/>
          <a:ln/>
        </p:spPr>
        <p:txBody>
          <a:bodyPr wrap="square" lIns="0" tIns="0" rIns="0" bIns="0" rtlCol="0" anchor="ctr"/>
          <a:lstStyle/>
          <a:p>
            <a:pPr marL="0" indent="0">
              <a:buNone/>
            </a:pPr>
            <a:r>
              <a:rPr lang="en-US" sz="1600" b="1" dirty="0">
                <a:solidFill>
                  <a:srgbClr val="0F2742"/>
                </a:solidFill>
              </a:rPr>
              <a:t>Flujo crítico demostrado</a:t>
            </a:r>
            <a:endParaRPr lang="en-US" sz="1600" dirty="0"/>
          </a:p>
        </p:txBody>
      </p:sp>
      <p:sp>
        <p:nvSpPr>
          <p:cNvPr id="22" name="Text 17"/>
          <p:cNvSpPr/>
          <p:nvPr/>
        </p:nvSpPr>
        <p:spPr>
          <a:xfrm>
            <a:off x="960120" y="4480560"/>
            <a:ext cx="10241280" cy="219456"/>
          </a:xfrm>
          <a:prstGeom prst="rect">
            <a:avLst/>
          </a:prstGeom>
          <a:noFill/>
          <a:ln/>
        </p:spPr>
        <p:txBody>
          <a:bodyPr wrap="square" lIns="0" tIns="0" rIns="0" bIns="0" rtlCol="0" anchor="ctr"/>
          <a:lstStyle/>
          <a:p>
            <a:pPr marL="0" indent="0" algn="ctr">
              <a:buNone/>
            </a:pPr>
            <a:r>
              <a:rPr lang="en-US" sz="1500" b="1" dirty="0">
                <a:solidFill>
                  <a:srgbClr val="1F5B99"/>
                </a:solidFill>
              </a:rPr>
              <a:t>Ticket creado → asignación → cambio de estado → comentarios → activo vinculado → historial disponible</a:t>
            </a:r>
            <a:endParaRPr lang="en-US" sz="1500" dirty="0"/>
          </a:p>
        </p:txBody>
      </p:sp>
      <p:sp>
        <p:nvSpPr>
          <p:cNvPr id="23" name="Text 18"/>
          <p:cNvSpPr/>
          <p:nvPr/>
        </p:nvSpPr>
        <p:spPr>
          <a:xfrm>
            <a:off x="960120" y="4892040"/>
            <a:ext cx="10241280" cy="137160"/>
          </a:xfrm>
          <a:prstGeom prst="rect">
            <a:avLst/>
          </a:prstGeom>
          <a:noFill/>
          <a:ln/>
        </p:spPr>
        <p:txBody>
          <a:bodyPr wrap="square" lIns="0" tIns="0" rIns="0" bIns="0" rtlCol="0" anchor="ctr"/>
          <a:lstStyle/>
          <a:p>
            <a:pPr marL="0" indent="0" algn="ctr">
              <a:buNone/>
            </a:pPr>
            <a:r>
              <a:rPr lang="en-US" sz="1050" dirty="0">
                <a:solidFill>
                  <a:srgbClr val="657182"/>
                </a:solidFill>
              </a:rPr>
              <a:t>Cubre RF-03, RF-04, RF-05, RF-08, RF-09, RF-10 y RF-11.</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BBF72"/>
          </a:solidFill>
          <a:ln w="12700">
            <a:solidFill>
              <a:srgbClr val="0BBF72"/>
            </a:solidFill>
            <a:prstDash val="solid"/>
          </a:ln>
        </p:spPr>
        <p:txBody>
          <a:bodyPr/>
          <a:lstStyle/>
          <a:p>
            <a:endParaRPr lang="en-CL"/>
          </a:p>
        </p:txBody>
      </p:sp>
      <p:sp>
        <p:nvSpPr>
          <p:cNvPr id="3" name="Shape 1"/>
          <p:cNvSpPr/>
          <p:nvPr/>
        </p:nvSpPr>
        <p:spPr>
          <a:xfrm>
            <a:off x="0" y="6565392"/>
            <a:ext cx="12191695" cy="292608"/>
          </a:xfrm>
          <a:prstGeom prst="rect">
            <a:avLst/>
          </a:prstGeom>
          <a:solidFill>
            <a:srgbClr val="0F2742"/>
          </a:solidFill>
          <a:ln w="12700">
            <a:solidFill>
              <a:srgbClr val="0F2742"/>
            </a:solidFill>
            <a:prstDash val="solid"/>
          </a:ln>
        </p:spPr>
        <p:txBody>
          <a:bodyPr/>
          <a:lstStyle/>
          <a:p>
            <a:endParaRPr lang="en-CL"/>
          </a:p>
        </p:txBody>
      </p:sp>
      <p:sp>
        <p:nvSpPr>
          <p:cNvPr id="4" name="Text 2"/>
          <p:cNvSpPr/>
          <p:nvPr/>
        </p:nvSpPr>
        <p:spPr>
          <a:xfrm>
            <a:off x="502920" y="347472"/>
            <a:ext cx="10515600" cy="384048"/>
          </a:xfrm>
          <a:prstGeom prst="rect">
            <a:avLst/>
          </a:prstGeom>
          <a:noFill/>
          <a:ln/>
        </p:spPr>
        <p:txBody>
          <a:bodyPr wrap="square" lIns="0" tIns="0" rIns="0" bIns="0" rtlCol="0" anchor="ctr"/>
          <a:lstStyle/>
          <a:p>
            <a:pPr marL="0" indent="0">
              <a:buNone/>
            </a:pPr>
            <a:r>
              <a:rPr lang="en-US" sz="2600" b="1" dirty="0">
                <a:solidFill>
                  <a:srgbClr val="0F2742"/>
                </a:solidFill>
                <a:latin typeface="Arial" pitchFamily="34" charset="0"/>
                <a:ea typeface="Arial" pitchFamily="34" charset="-122"/>
                <a:cs typeface="Arial" pitchFamily="34" charset="-120"/>
              </a:rPr>
              <a:t>Demo III: dashboard, reportes y evidencia</a:t>
            </a:r>
            <a:endParaRPr lang="en-US" sz="2600" dirty="0"/>
          </a:p>
        </p:txBody>
      </p:sp>
      <p:sp>
        <p:nvSpPr>
          <p:cNvPr id="5" name="Text 3"/>
          <p:cNvSpPr/>
          <p:nvPr/>
        </p:nvSpPr>
        <p:spPr>
          <a:xfrm>
            <a:off x="521208" y="768096"/>
            <a:ext cx="10607040" cy="219456"/>
          </a:xfrm>
          <a:prstGeom prst="rect">
            <a:avLst/>
          </a:prstGeom>
          <a:noFill/>
          <a:ln/>
        </p:spPr>
        <p:txBody>
          <a:bodyPr wrap="square" lIns="0" tIns="0" rIns="0" bIns="0" rtlCol="0" anchor="ctr"/>
          <a:lstStyle/>
          <a:p>
            <a:pPr marL="0" indent="0">
              <a:buNone/>
            </a:pPr>
            <a:r>
              <a:rPr lang="en-US" sz="1050" dirty="0">
                <a:solidFill>
                  <a:srgbClr val="657182"/>
                </a:solidFill>
              </a:rPr>
              <a:t>La jefatura obtiene visibilidad operativa para seguimiento y toma de decisiones.</a:t>
            </a:r>
            <a:endParaRPr lang="en-US" sz="1050" dirty="0"/>
          </a:p>
        </p:txBody>
      </p:sp>
      <p:sp>
        <p:nvSpPr>
          <p:cNvPr id="6" name="Text 4"/>
          <p:cNvSpPr/>
          <p:nvPr/>
        </p:nvSpPr>
        <p:spPr>
          <a:xfrm>
            <a:off x="502920" y="6611112"/>
            <a:ext cx="6583680" cy="146304"/>
          </a:xfrm>
          <a:prstGeom prst="rect">
            <a:avLst/>
          </a:prstGeom>
          <a:noFill/>
          <a:ln/>
        </p:spPr>
        <p:txBody>
          <a:bodyPr wrap="square" lIns="0" tIns="0" rIns="0" bIns="0" rtlCol="0" anchor="ctr"/>
          <a:lstStyle/>
          <a:p>
            <a:pPr marL="0" indent="0">
              <a:buNone/>
            </a:pPr>
            <a:r>
              <a:rPr lang="en-US" sz="750" dirty="0">
                <a:solidFill>
                  <a:srgbClr val="DCE7F2"/>
                </a:solidFill>
              </a:rPr>
              <a:t>TIP-INF-401 | Ingeniería en Informática | IPSS 2026</a:t>
            </a:r>
            <a:endParaRPr lang="en-US" sz="750" dirty="0"/>
          </a:p>
        </p:txBody>
      </p:sp>
      <p:sp>
        <p:nvSpPr>
          <p:cNvPr id="7" name="Text 5"/>
          <p:cNvSpPr/>
          <p:nvPr/>
        </p:nvSpPr>
        <p:spPr>
          <a:xfrm>
            <a:off x="11064240" y="6611112"/>
            <a:ext cx="640080" cy="146304"/>
          </a:xfrm>
          <a:prstGeom prst="rect">
            <a:avLst/>
          </a:prstGeom>
          <a:noFill/>
          <a:ln/>
        </p:spPr>
        <p:txBody>
          <a:bodyPr wrap="square" lIns="0" tIns="0" rIns="0" bIns="0" rtlCol="0" anchor="ctr"/>
          <a:lstStyle/>
          <a:p>
            <a:pPr marL="0" indent="0" algn="r">
              <a:buNone/>
            </a:pPr>
            <a:r>
              <a:rPr lang="en-US" sz="750" dirty="0">
                <a:solidFill>
                  <a:srgbClr val="DCE7F2"/>
                </a:solidFill>
              </a:rPr>
              <a:t>14/18</a:t>
            </a:r>
            <a:endParaRPr lang="en-US" sz="750" dirty="0"/>
          </a:p>
        </p:txBody>
      </p:sp>
      <p:sp>
        <p:nvSpPr>
          <p:cNvPr id="8" name="Shape 6"/>
          <p:cNvSpPr/>
          <p:nvPr/>
        </p:nvSpPr>
        <p:spPr>
          <a:xfrm>
            <a:off x="685800" y="1097280"/>
            <a:ext cx="5166360" cy="3063240"/>
          </a:xfrm>
          <a:prstGeom prst="roundRect">
            <a:avLst>
              <a:gd name="adj" fmla="val 1791"/>
            </a:avLst>
          </a:prstGeom>
          <a:solidFill>
            <a:srgbClr val="FFFFFF"/>
          </a:solidFill>
          <a:ln w="10160">
            <a:solidFill>
              <a:srgbClr val="CAD6E0"/>
            </a:solidFill>
            <a:prstDash val="solid"/>
          </a:ln>
        </p:spPr>
        <p:txBody>
          <a:bodyPr/>
          <a:lstStyle/>
          <a:p>
            <a:endParaRPr lang="en-CL"/>
          </a:p>
        </p:txBody>
      </p:sp>
      <p:pic>
        <p:nvPicPr>
          <p:cNvPr id="9" name="Image 0" descr="/mnt/data/repo/proyecto-de-titulo-ipss-2026-eva2/docs/testing/tc-09_01.png"/>
          <p:cNvPicPr>
            <a:picLocks noChangeAspect="1"/>
          </p:cNvPicPr>
          <p:nvPr/>
        </p:nvPicPr>
        <p:blipFill>
          <a:blip r:embed="rId3"/>
          <a:stretch>
            <a:fillRect/>
          </a:stretch>
        </p:blipFill>
        <p:spPr>
          <a:xfrm>
            <a:off x="956086" y="1143000"/>
            <a:ext cx="4625788" cy="2743200"/>
          </a:xfrm>
          <a:prstGeom prst="rect">
            <a:avLst/>
          </a:prstGeom>
        </p:spPr>
      </p:pic>
      <p:sp>
        <p:nvSpPr>
          <p:cNvPr id="10" name="Shape 7"/>
          <p:cNvSpPr/>
          <p:nvPr/>
        </p:nvSpPr>
        <p:spPr>
          <a:xfrm>
            <a:off x="685800" y="3913632"/>
            <a:ext cx="5166360" cy="246888"/>
          </a:xfrm>
          <a:prstGeom prst="rect">
            <a:avLst/>
          </a:prstGeom>
          <a:solidFill>
            <a:srgbClr val="0F2742">
              <a:alpha val="92000"/>
            </a:srgbClr>
          </a:solidFill>
          <a:ln w="12700">
            <a:solidFill>
              <a:srgbClr val="0F2742"/>
            </a:solidFill>
            <a:prstDash val="solid"/>
          </a:ln>
        </p:spPr>
        <p:txBody>
          <a:bodyPr/>
          <a:lstStyle/>
          <a:p>
            <a:endParaRPr lang="en-CL"/>
          </a:p>
        </p:txBody>
      </p:sp>
      <p:sp>
        <p:nvSpPr>
          <p:cNvPr id="11" name="Text 8"/>
          <p:cNvSpPr/>
          <p:nvPr/>
        </p:nvSpPr>
        <p:spPr>
          <a:xfrm>
            <a:off x="777240" y="3977640"/>
            <a:ext cx="4983480" cy="91440"/>
          </a:xfrm>
          <a:prstGeom prst="rect">
            <a:avLst/>
          </a:prstGeom>
          <a:noFill/>
          <a:ln/>
        </p:spPr>
        <p:txBody>
          <a:bodyPr wrap="square" lIns="0" tIns="0" rIns="0" bIns="0" rtlCol="0" anchor="ctr"/>
          <a:lstStyle/>
          <a:p>
            <a:pPr marL="0" indent="0" algn="ctr">
              <a:buNone/>
            </a:pPr>
            <a:r>
              <a:rPr lang="en-US" sz="750" b="1" dirty="0">
                <a:solidFill>
                  <a:srgbClr val="FFFFFF"/>
                </a:solidFill>
              </a:rPr>
              <a:t>Dashboard operativo GLPI</a:t>
            </a:r>
            <a:endParaRPr lang="en-US" sz="750" dirty="0"/>
          </a:p>
        </p:txBody>
      </p:sp>
      <p:sp>
        <p:nvSpPr>
          <p:cNvPr id="12" name="Shape 9"/>
          <p:cNvSpPr/>
          <p:nvPr/>
        </p:nvSpPr>
        <p:spPr>
          <a:xfrm>
            <a:off x="6172200" y="1097280"/>
            <a:ext cx="5166360" cy="3063240"/>
          </a:xfrm>
          <a:prstGeom prst="roundRect">
            <a:avLst>
              <a:gd name="adj" fmla="val 1791"/>
            </a:avLst>
          </a:prstGeom>
          <a:solidFill>
            <a:srgbClr val="FFFFFF"/>
          </a:solidFill>
          <a:ln w="10160">
            <a:solidFill>
              <a:srgbClr val="CAD6E0"/>
            </a:solidFill>
            <a:prstDash val="solid"/>
          </a:ln>
        </p:spPr>
        <p:txBody>
          <a:bodyPr/>
          <a:lstStyle/>
          <a:p>
            <a:endParaRPr lang="en-CL"/>
          </a:p>
        </p:txBody>
      </p:sp>
      <p:pic>
        <p:nvPicPr>
          <p:cNvPr id="13" name="Image 1" descr="/mnt/data/repo/proyecto-de-titulo-ipss-2026-eva2/docs/testing/tc-10_03.png"/>
          <p:cNvPicPr>
            <a:picLocks noChangeAspect="1"/>
          </p:cNvPicPr>
          <p:nvPr/>
        </p:nvPicPr>
        <p:blipFill>
          <a:blip r:embed="rId4"/>
          <a:stretch>
            <a:fillRect/>
          </a:stretch>
        </p:blipFill>
        <p:spPr>
          <a:xfrm>
            <a:off x="6814364" y="1143000"/>
            <a:ext cx="3882032" cy="2743200"/>
          </a:xfrm>
          <a:prstGeom prst="rect">
            <a:avLst/>
          </a:prstGeom>
        </p:spPr>
      </p:pic>
      <p:sp>
        <p:nvSpPr>
          <p:cNvPr id="14" name="Shape 10"/>
          <p:cNvSpPr/>
          <p:nvPr/>
        </p:nvSpPr>
        <p:spPr>
          <a:xfrm>
            <a:off x="6172200" y="3913632"/>
            <a:ext cx="5166360" cy="246888"/>
          </a:xfrm>
          <a:prstGeom prst="rect">
            <a:avLst/>
          </a:prstGeom>
          <a:solidFill>
            <a:srgbClr val="0F2742">
              <a:alpha val="92000"/>
            </a:srgbClr>
          </a:solidFill>
          <a:ln w="12700">
            <a:solidFill>
              <a:srgbClr val="0F2742"/>
            </a:solidFill>
            <a:prstDash val="solid"/>
          </a:ln>
        </p:spPr>
        <p:txBody>
          <a:bodyPr/>
          <a:lstStyle/>
          <a:p>
            <a:endParaRPr lang="en-CL"/>
          </a:p>
        </p:txBody>
      </p:sp>
      <p:sp>
        <p:nvSpPr>
          <p:cNvPr id="15" name="Text 11"/>
          <p:cNvSpPr/>
          <p:nvPr/>
        </p:nvSpPr>
        <p:spPr>
          <a:xfrm>
            <a:off x="6263640" y="3977640"/>
            <a:ext cx="4983480" cy="91440"/>
          </a:xfrm>
          <a:prstGeom prst="rect">
            <a:avLst/>
          </a:prstGeom>
          <a:noFill/>
          <a:ln/>
        </p:spPr>
        <p:txBody>
          <a:bodyPr wrap="square" lIns="0" tIns="0" rIns="0" bIns="0" rtlCol="0" anchor="ctr"/>
          <a:lstStyle/>
          <a:p>
            <a:pPr marL="0" indent="0" algn="ctr">
              <a:buNone/>
            </a:pPr>
            <a:r>
              <a:rPr lang="en-US" sz="750" b="1" dirty="0">
                <a:solidFill>
                  <a:srgbClr val="FFFFFF"/>
                </a:solidFill>
              </a:rPr>
              <a:t>Exportación / reporte filtrado</a:t>
            </a:r>
            <a:endParaRPr lang="en-US" sz="750" dirty="0"/>
          </a:p>
        </p:txBody>
      </p:sp>
      <p:sp>
        <p:nvSpPr>
          <p:cNvPr id="16" name="Shape 12"/>
          <p:cNvSpPr/>
          <p:nvPr/>
        </p:nvSpPr>
        <p:spPr>
          <a:xfrm>
            <a:off x="868680" y="4709160"/>
            <a:ext cx="2331720" cy="502920"/>
          </a:xfrm>
          <a:prstGeom prst="roundRect">
            <a:avLst>
              <a:gd name="adj" fmla="val 14545"/>
            </a:avLst>
          </a:prstGeom>
          <a:solidFill>
            <a:srgbClr val="1F5B99"/>
          </a:solidFill>
          <a:ln w="12700">
            <a:solidFill>
              <a:srgbClr val="1F5B99"/>
            </a:solidFill>
            <a:prstDash val="solid"/>
          </a:ln>
        </p:spPr>
        <p:txBody>
          <a:bodyPr/>
          <a:lstStyle/>
          <a:p>
            <a:endParaRPr lang="en-CL"/>
          </a:p>
        </p:txBody>
      </p:sp>
      <p:sp>
        <p:nvSpPr>
          <p:cNvPr id="17" name="Text 13"/>
          <p:cNvSpPr/>
          <p:nvPr/>
        </p:nvSpPr>
        <p:spPr>
          <a:xfrm>
            <a:off x="1005840" y="4892040"/>
            <a:ext cx="2057400" cy="91440"/>
          </a:xfrm>
          <a:prstGeom prst="rect">
            <a:avLst/>
          </a:prstGeom>
          <a:noFill/>
          <a:ln/>
        </p:spPr>
        <p:txBody>
          <a:bodyPr wrap="square" lIns="0" tIns="0" rIns="0" bIns="0" rtlCol="0" anchor="ctr"/>
          <a:lstStyle/>
          <a:p>
            <a:pPr marL="0" indent="0" algn="ctr">
              <a:buNone/>
            </a:pPr>
            <a:r>
              <a:rPr lang="en-US" sz="920" b="1" dirty="0">
                <a:solidFill>
                  <a:srgbClr val="FFFFFF"/>
                </a:solidFill>
              </a:rPr>
              <a:t>Tickets por área</a:t>
            </a:r>
            <a:endParaRPr lang="en-US" sz="920" dirty="0"/>
          </a:p>
        </p:txBody>
      </p:sp>
      <p:sp>
        <p:nvSpPr>
          <p:cNvPr id="18" name="Shape 14"/>
          <p:cNvSpPr/>
          <p:nvPr/>
        </p:nvSpPr>
        <p:spPr>
          <a:xfrm>
            <a:off x="3657600" y="4709160"/>
            <a:ext cx="2331720" cy="502920"/>
          </a:xfrm>
          <a:prstGeom prst="roundRect">
            <a:avLst>
              <a:gd name="adj" fmla="val 14545"/>
            </a:avLst>
          </a:prstGeom>
          <a:solidFill>
            <a:srgbClr val="0BBF72"/>
          </a:solidFill>
          <a:ln w="12700">
            <a:solidFill>
              <a:srgbClr val="0BBF72"/>
            </a:solidFill>
            <a:prstDash val="solid"/>
          </a:ln>
        </p:spPr>
        <p:txBody>
          <a:bodyPr/>
          <a:lstStyle/>
          <a:p>
            <a:endParaRPr lang="en-CL"/>
          </a:p>
        </p:txBody>
      </p:sp>
      <p:sp>
        <p:nvSpPr>
          <p:cNvPr id="19" name="Text 15"/>
          <p:cNvSpPr/>
          <p:nvPr/>
        </p:nvSpPr>
        <p:spPr>
          <a:xfrm>
            <a:off x="3794760" y="4892040"/>
            <a:ext cx="2057400" cy="91440"/>
          </a:xfrm>
          <a:prstGeom prst="rect">
            <a:avLst/>
          </a:prstGeom>
          <a:noFill/>
          <a:ln/>
        </p:spPr>
        <p:txBody>
          <a:bodyPr wrap="square" lIns="0" tIns="0" rIns="0" bIns="0" rtlCol="0" anchor="ctr"/>
          <a:lstStyle/>
          <a:p>
            <a:pPr marL="0" indent="0" algn="ctr">
              <a:buNone/>
            </a:pPr>
            <a:r>
              <a:rPr lang="en-US" sz="920" b="1" dirty="0">
                <a:solidFill>
                  <a:srgbClr val="FFFFFF"/>
                </a:solidFill>
              </a:rPr>
              <a:t>Abiertos vs. cerrados</a:t>
            </a:r>
            <a:endParaRPr lang="en-US" sz="920" dirty="0"/>
          </a:p>
        </p:txBody>
      </p:sp>
      <p:sp>
        <p:nvSpPr>
          <p:cNvPr id="20" name="Shape 16"/>
          <p:cNvSpPr/>
          <p:nvPr/>
        </p:nvSpPr>
        <p:spPr>
          <a:xfrm>
            <a:off x="6446520" y="4709160"/>
            <a:ext cx="2331720" cy="502920"/>
          </a:xfrm>
          <a:prstGeom prst="roundRect">
            <a:avLst>
              <a:gd name="adj" fmla="val 14545"/>
            </a:avLst>
          </a:prstGeom>
          <a:solidFill>
            <a:srgbClr val="F2994A"/>
          </a:solidFill>
          <a:ln w="12700">
            <a:solidFill>
              <a:srgbClr val="F2994A"/>
            </a:solidFill>
            <a:prstDash val="solid"/>
          </a:ln>
        </p:spPr>
        <p:txBody>
          <a:bodyPr/>
          <a:lstStyle/>
          <a:p>
            <a:endParaRPr lang="en-CL"/>
          </a:p>
        </p:txBody>
      </p:sp>
      <p:sp>
        <p:nvSpPr>
          <p:cNvPr id="21" name="Text 17"/>
          <p:cNvSpPr/>
          <p:nvPr/>
        </p:nvSpPr>
        <p:spPr>
          <a:xfrm>
            <a:off x="6583680" y="4892040"/>
            <a:ext cx="2057400" cy="91440"/>
          </a:xfrm>
          <a:prstGeom prst="rect">
            <a:avLst/>
          </a:prstGeom>
          <a:noFill/>
          <a:ln/>
        </p:spPr>
        <p:txBody>
          <a:bodyPr wrap="square" lIns="0" tIns="0" rIns="0" bIns="0" rtlCol="0" anchor="ctr"/>
          <a:lstStyle/>
          <a:p>
            <a:pPr marL="0" indent="0" algn="ctr">
              <a:buNone/>
            </a:pPr>
            <a:r>
              <a:rPr lang="en-US" sz="920" b="1" dirty="0">
                <a:solidFill>
                  <a:srgbClr val="FFFFFF"/>
                </a:solidFill>
              </a:rPr>
              <a:t>Tiempos de respuesta</a:t>
            </a:r>
            <a:endParaRPr lang="en-US" sz="920" dirty="0"/>
          </a:p>
        </p:txBody>
      </p:sp>
      <p:sp>
        <p:nvSpPr>
          <p:cNvPr id="22" name="Shape 18"/>
          <p:cNvSpPr/>
          <p:nvPr/>
        </p:nvSpPr>
        <p:spPr>
          <a:xfrm>
            <a:off x="9235440" y="4709160"/>
            <a:ext cx="2331720" cy="502920"/>
          </a:xfrm>
          <a:prstGeom prst="roundRect">
            <a:avLst>
              <a:gd name="adj" fmla="val 14545"/>
            </a:avLst>
          </a:prstGeom>
          <a:solidFill>
            <a:srgbClr val="2EA7D6"/>
          </a:solidFill>
          <a:ln w="12700">
            <a:solidFill>
              <a:srgbClr val="2EA7D6"/>
            </a:solidFill>
            <a:prstDash val="solid"/>
          </a:ln>
        </p:spPr>
        <p:txBody>
          <a:bodyPr/>
          <a:lstStyle/>
          <a:p>
            <a:endParaRPr lang="en-CL"/>
          </a:p>
        </p:txBody>
      </p:sp>
      <p:sp>
        <p:nvSpPr>
          <p:cNvPr id="23" name="Text 19"/>
          <p:cNvSpPr/>
          <p:nvPr/>
        </p:nvSpPr>
        <p:spPr>
          <a:xfrm>
            <a:off x="9372600" y="4892040"/>
            <a:ext cx="2057400" cy="91440"/>
          </a:xfrm>
          <a:prstGeom prst="rect">
            <a:avLst/>
          </a:prstGeom>
          <a:noFill/>
          <a:ln/>
        </p:spPr>
        <p:txBody>
          <a:bodyPr wrap="square" lIns="0" tIns="0" rIns="0" bIns="0" rtlCol="0" anchor="ctr"/>
          <a:lstStyle/>
          <a:p>
            <a:pPr marL="0" indent="0" algn="ctr">
              <a:buNone/>
            </a:pPr>
            <a:r>
              <a:rPr lang="en-US" sz="920" b="1" dirty="0">
                <a:solidFill>
                  <a:srgbClr val="FFFFFF"/>
                </a:solidFill>
              </a:rPr>
              <a:t>Carga por unidad/región</a:t>
            </a:r>
            <a:endParaRPr lang="en-US" sz="920" dirty="0"/>
          </a:p>
        </p:txBody>
      </p:sp>
      <p:sp>
        <p:nvSpPr>
          <p:cNvPr id="24" name="Text 20"/>
          <p:cNvSpPr/>
          <p:nvPr/>
        </p:nvSpPr>
        <p:spPr>
          <a:xfrm>
            <a:off x="914400" y="5623560"/>
            <a:ext cx="10241280" cy="201168"/>
          </a:xfrm>
          <a:prstGeom prst="rect">
            <a:avLst/>
          </a:prstGeom>
          <a:noFill/>
          <a:ln/>
        </p:spPr>
        <p:txBody>
          <a:bodyPr wrap="square" lIns="0" tIns="0" rIns="0" bIns="0" rtlCol="0" anchor="ctr"/>
          <a:lstStyle/>
          <a:p>
            <a:pPr marL="0" indent="0" algn="ctr">
              <a:buNone/>
            </a:pPr>
            <a:r>
              <a:rPr lang="en-US" sz="1300" b="1" dirty="0">
                <a:solidFill>
                  <a:srgbClr val="0F2742"/>
                </a:solidFill>
              </a:rPr>
              <a:t>Resultado: menos planillas auxiliares y más información operativa para jefaturas.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BBF72"/>
          </a:solidFill>
          <a:ln w="12700">
            <a:solidFill>
              <a:srgbClr val="0BBF72"/>
            </a:solidFill>
            <a:prstDash val="solid"/>
          </a:ln>
        </p:spPr>
        <p:txBody>
          <a:bodyPr/>
          <a:lstStyle/>
          <a:p>
            <a:endParaRPr lang="en-CL"/>
          </a:p>
        </p:txBody>
      </p:sp>
      <p:sp>
        <p:nvSpPr>
          <p:cNvPr id="3" name="Shape 1"/>
          <p:cNvSpPr/>
          <p:nvPr/>
        </p:nvSpPr>
        <p:spPr>
          <a:xfrm>
            <a:off x="0" y="6565392"/>
            <a:ext cx="12191695" cy="292608"/>
          </a:xfrm>
          <a:prstGeom prst="rect">
            <a:avLst/>
          </a:prstGeom>
          <a:solidFill>
            <a:srgbClr val="0F2742"/>
          </a:solidFill>
          <a:ln w="12700">
            <a:solidFill>
              <a:srgbClr val="0F2742"/>
            </a:solidFill>
            <a:prstDash val="solid"/>
          </a:ln>
        </p:spPr>
        <p:txBody>
          <a:bodyPr/>
          <a:lstStyle/>
          <a:p>
            <a:endParaRPr lang="en-CL"/>
          </a:p>
        </p:txBody>
      </p:sp>
      <p:sp>
        <p:nvSpPr>
          <p:cNvPr id="4" name="Text 2"/>
          <p:cNvSpPr/>
          <p:nvPr/>
        </p:nvSpPr>
        <p:spPr>
          <a:xfrm>
            <a:off x="502920" y="347472"/>
            <a:ext cx="10515600" cy="384048"/>
          </a:xfrm>
          <a:prstGeom prst="rect">
            <a:avLst/>
          </a:prstGeom>
          <a:noFill/>
          <a:ln/>
        </p:spPr>
        <p:txBody>
          <a:bodyPr wrap="square" lIns="0" tIns="0" rIns="0" bIns="0" rtlCol="0" anchor="ctr"/>
          <a:lstStyle/>
          <a:p>
            <a:pPr marL="0" indent="0">
              <a:buNone/>
            </a:pPr>
            <a:r>
              <a:rPr lang="en-US" sz="2600" b="1" dirty="0">
                <a:solidFill>
                  <a:srgbClr val="0F2742"/>
                </a:solidFill>
                <a:latin typeface="Arial" pitchFamily="34" charset="0"/>
                <a:ea typeface="Arial" pitchFamily="34" charset="-122"/>
                <a:cs typeface="Arial" pitchFamily="34" charset="-120"/>
              </a:rPr>
              <a:t>Calidad del proyecto: pruebas, cobertura y buenas prácticas</a:t>
            </a:r>
            <a:endParaRPr lang="en-US" sz="2600" dirty="0"/>
          </a:p>
        </p:txBody>
      </p:sp>
      <p:sp>
        <p:nvSpPr>
          <p:cNvPr id="5" name="Text 3"/>
          <p:cNvSpPr/>
          <p:nvPr/>
        </p:nvSpPr>
        <p:spPr>
          <a:xfrm>
            <a:off x="521208" y="768096"/>
            <a:ext cx="10607040" cy="219456"/>
          </a:xfrm>
          <a:prstGeom prst="rect">
            <a:avLst/>
          </a:prstGeom>
          <a:noFill/>
          <a:ln/>
        </p:spPr>
        <p:txBody>
          <a:bodyPr wrap="square" lIns="0" tIns="0" rIns="0" bIns="0" rtlCol="0" anchor="ctr"/>
          <a:lstStyle/>
          <a:p>
            <a:pPr marL="0" indent="0">
              <a:buNone/>
            </a:pPr>
            <a:r>
              <a:rPr lang="en-US" sz="1050" dirty="0">
                <a:solidFill>
                  <a:srgbClr val="657182"/>
                </a:solidFill>
              </a:rPr>
              <a:t>Validación funcional completa del MVP y trazabilidad documental en GitHub.</a:t>
            </a:r>
            <a:endParaRPr lang="en-US" sz="1050" dirty="0"/>
          </a:p>
        </p:txBody>
      </p:sp>
      <p:sp>
        <p:nvSpPr>
          <p:cNvPr id="6" name="Text 4"/>
          <p:cNvSpPr/>
          <p:nvPr/>
        </p:nvSpPr>
        <p:spPr>
          <a:xfrm>
            <a:off x="502920" y="6611112"/>
            <a:ext cx="6583680" cy="146304"/>
          </a:xfrm>
          <a:prstGeom prst="rect">
            <a:avLst/>
          </a:prstGeom>
          <a:noFill/>
          <a:ln/>
        </p:spPr>
        <p:txBody>
          <a:bodyPr wrap="square" lIns="0" tIns="0" rIns="0" bIns="0" rtlCol="0" anchor="ctr"/>
          <a:lstStyle/>
          <a:p>
            <a:pPr marL="0" indent="0">
              <a:buNone/>
            </a:pPr>
            <a:r>
              <a:rPr lang="en-US" sz="750" dirty="0">
                <a:solidFill>
                  <a:srgbClr val="DCE7F2"/>
                </a:solidFill>
              </a:rPr>
              <a:t>TIP-INF-401 | Ingeniería en Informática | IPSS 2026</a:t>
            </a:r>
            <a:endParaRPr lang="en-US" sz="750" dirty="0"/>
          </a:p>
        </p:txBody>
      </p:sp>
      <p:sp>
        <p:nvSpPr>
          <p:cNvPr id="7" name="Text 5"/>
          <p:cNvSpPr/>
          <p:nvPr/>
        </p:nvSpPr>
        <p:spPr>
          <a:xfrm>
            <a:off x="11064240" y="6611112"/>
            <a:ext cx="640080" cy="146304"/>
          </a:xfrm>
          <a:prstGeom prst="rect">
            <a:avLst/>
          </a:prstGeom>
          <a:noFill/>
          <a:ln/>
        </p:spPr>
        <p:txBody>
          <a:bodyPr wrap="square" lIns="0" tIns="0" rIns="0" bIns="0" rtlCol="0" anchor="ctr"/>
          <a:lstStyle/>
          <a:p>
            <a:pPr marL="0" indent="0" algn="r">
              <a:buNone/>
            </a:pPr>
            <a:r>
              <a:rPr lang="en-US" sz="750" dirty="0">
                <a:solidFill>
                  <a:srgbClr val="DCE7F2"/>
                </a:solidFill>
              </a:rPr>
              <a:t>15/18</a:t>
            </a:r>
            <a:endParaRPr lang="en-US" sz="750" dirty="0"/>
          </a:p>
        </p:txBody>
      </p:sp>
      <p:sp>
        <p:nvSpPr>
          <p:cNvPr id="8" name="Shape 6"/>
          <p:cNvSpPr/>
          <p:nvPr/>
        </p:nvSpPr>
        <p:spPr>
          <a:xfrm>
            <a:off x="731520" y="1188720"/>
            <a:ext cx="2743200" cy="1188720"/>
          </a:xfrm>
          <a:prstGeom prst="roundRect">
            <a:avLst>
              <a:gd name="adj" fmla="val 6154"/>
            </a:avLst>
          </a:prstGeom>
          <a:solidFill>
            <a:srgbClr val="FFFFFF"/>
          </a:solidFill>
          <a:ln w="12700">
            <a:solidFill>
              <a:srgbClr val="CAD6E0"/>
            </a:solidFill>
            <a:prstDash val="solid"/>
          </a:ln>
        </p:spPr>
        <p:txBody>
          <a:bodyPr/>
          <a:lstStyle/>
          <a:p>
            <a:endParaRPr lang="en-CL"/>
          </a:p>
        </p:txBody>
      </p:sp>
      <p:sp>
        <p:nvSpPr>
          <p:cNvPr id="9" name="Shape 7"/>
          <p:cNvSpPr/>
          <p:nvPr/>
        </p:nvSpPr>
        <p:spPr>
          <a:xfrm>
            <a:off x="731520" y="1188720"/>
            <a:ext cx="73152" cy="1188720"/>
          </a:xfrm>
          <a:prstGeom prst="rect">
            <a:avLst/>
          </a:prstGeom>
          <a:solidFill>
            <a:srgbClr val="1F5B99"/>
          </a:solidFill>
          <a:ln w="12700">
            <a:solidFill>
              <a:srgbClr val="1F5B99"/>
            </a:solidFill>
            <a:prstDash val="solid"/>
          </a:ln>
        </p:spPr>
        <p:txBody>
          <a:bodyPr/>
          <a:lstStyle/>
          <a:p>
            <a:endParaRPr lang="en-CL"/>
          </a:p>
        </p:txBody>
      </p:sp>
      <p:sp>
        <p:nvSpPr>
          <p:cNvPr id="10" name="Text 8"/>
          <p:cNvSpPr/>
          <p:nvPr/>
        </p:nvSpPr>
        <p:spPr>
          <a:xfrm>
            <a:off x="932688" y="1335024"/>
            <a:ext cx="2432304" cy="228600"/>
          </a:xfrm>
          <a:prstGeom prst="rect">
            <a:avLst/>
          </a:prstGeom>
          <a:noFill/>
          <a:ln/>
        </p:spPr>
        <p:txBody>
          <a:bodyPr wrap="square" lIns="0" tIns="0" rIns="0" bIns="0" rtlCol="0" anchor="ctr"/>
          <a:lstStyle/>
          <a:p>
            <a:pPr marL="0" indent="0">
              <a:buNone/>
            </a:pPr>
            <a:r>
              <a:rPr lang="en-US" sz="1300" b="1" dirty="0">
                <a:solidFill>
                  <a:srgbClr val="0F2742"/>
                </a:solidFill>
              </a:rPr>
              <a:t>18 casos de prueba</a:t>
            </a:r>
            <a:endParaRPr lang="en-US" sz="1300" dirty="0"/>
          </a:p>
        </p:txBody>
      </p:sp>
      <p:sp>
        <p:nvSpPr>
          <p:cNvPr id="11" name="Text 9"/>
          <p:cNvSpPr/>
          <p:nvPr/>
        </p:nvSpPr>
        <p:spPr>
          <a:xfrm>
            <a:off x="932688" y="1645920"/>
            <a:ext cx="2432304" cy="640080"/>
          </a:xfrm>
          <a:prstGeom prst="rect">
            <a:avLst/>
          </a:prstGeom>
          <a:noFill/>
          <a:ln/>
        </p:spPr>
        <p:txBody>
          <a:bodyPr wrap="square" lIns="0" tIns="0" rIns="0" bIns="0" rtlCol="0" anchor="ctr">
            <a:normAutofit/>
          </a:bodyPr>
          <a:lstStyle/>
          <a:p>
            <a:pPr marL="0" indent="0">
              <a:buNone/>
            </a:pPr>
            <a:r>
              <a:rPr lang="en-US" sz="1050" dirty="0">
                <a:solidFill>
                  <a:srgbClr val="1B1F23"/>
                </a:solidFill>
              </a:rPr>
              <a:t>Funcionales, integración, seguridad, operación y aceptación.</a:t>
            </a:r>
            <a:endParaRPr lang="en-US" sz="1050" dirty="0"/>
          </a:p>
        </p:txBody>
      </p:sp>
      <p:sp>
        <p:nvSpPr>
          <p:cNvPr id="12" name="Shape 10"/>
          <p:cNvSpPr/>
          <p:nvPr/>
        </p:nvSpPr>
        <p:spPr>
          <a:xfrm>
            <a:off x="3703320" y="1188720"/>
            <a:ext cx="2743200" cy="1188720"/>
          </a:xfrm>
          <a:prstGeom prst="roundRect">
            <a:avLst>
              <a:gd name="adj" fmla="val 6154"/>
            </a:avLst>
          </a:prstGeom>
          <a:solidFill>
            <a:srgbClr val="FFFFFF"/>
          </a:solidFill>
          <a:ln w="12700">
            <a:solidFill>
              <a:srgbClr val="CAD6E0"/>
            </a:solidFill>
            <a:prstDash val="solid"/>
          </a:ln>
        </p:spPr>
        <p:txBody>
          <a:bodyPr/>
          <a:lstStyle/>
          <a:p>
            <a:endParaRPr lang="en-CL"/>
          </a:p>
        </p:txBody>
      </p:sp>
      <p:sp>
        <p:nvSpPr>
          <p:cNvPr id="13" name="Shape 11"/>
          <p:cNvSpPr/>
          <p:nvPr/>
        </p:nvSpPr>
        <p:spPr>
          <a:xfrm>
            <a:off x="3703320" y="1188720"/>
            <a:ext cx="73152" cy="1188720"/>
          </a:xfrm>
          <a:prstGeom prst="rect">
            <a:avLst/>
          </a:prstGeom>
          <a:solidFill>
            <a:srgbClr val="0BBF72"/>
          </a:solidFill>
          <a:ln w="12700">
            <a:solidFill>
              <a:srgbClr val="0BBF72"/>
            </a:solidFill>
            <a:prstDash val="solid"/>
          </a:ln>
        </p:spPr>
        <p:txBody>
          <a:bodyPr/>
          <a:lstStyle/>
          <a:p>
            <a:endParaRPr lang="en-CL"/>
          </a:p>
        </p:txBody>
      </p:sp>
      <p:sp>
        <p:nvSpPr>
          <p:cNvPr id="14" name="Text 12"/>
          <p:cNvSpPr/>
          <p:nvPr/>
        </p:nvSpPr>
        <p:spPr>
          <a:xfrm>
            <a:off x="3904488" y="1335024"/>
            <a:ext cx="2432304" cy="228600"/>
          </a:xfrm>
          <a:prstGeom prst="rect">
            <a:avLst/>
          </a:prstGeom>
          <a:noFill/>
          <a:ln/>
        </p:spPr>
        <p:txBody>
          <a:bodyPr wrap="square" lIns="0" tIns="0" rIns="0" bIns="0" rtlCol="0" anchor="ctr"/>
          <a:lstStyle/>
          <a:p>
            <a:pPr marL="0" indent="0">
              <a:buNone/>
            </a:pPr>
            <a:r>
              <a:rPr lang="en-US" sz="1300" b="1" dirty="0">
                <a:solidFill>
                  <a:srgbClr val="0F2742"/>
                </a:solidFill>
              </a:rPr>
              <a:t>21 escenarios críticos</a:t>
            </a:r>
            <a:endParaRPr lang="en-US" sz="1300" dirty="0"/>
          </a:p>
        </p:txBody>
      </p:sp>
      <p:sp>
        <p:nvSpPr>
          <p:cNvPr id="15" name="Text 13"/>
          <p:cNvSpPr/>
          <p:nvPr/>
        </p:nvSpPr>
        <p:spPr>
          <a:xfrm>
            <a:off x="3904488" y="1645920"/>
            <a:ext cx="2432304" cy="640080"/>
          </a:xfrm>
          <a:prstGeom prst="rect">
            <a:avLst/>
          </a:prstGeom>
          <a:noFill/>
          <a:ln/>
        </p:spPr>
        <p:txBody>
          <a:bodyPr wrap="square" lIns="0" tIns="0" rIns="0" bIns="0" rtlCol="0" anchor="ctr">
            <a:normAutofit/>
          </a:bodyPr>
          <a:lstStyle/>
          <a:p>
            <a:pPr marL="0" indent="0">
              <a:buNone/>
            </a:pPr>
            <a:r>
              <a:rPr lang="en-US" sz="1050" dirty="0">
                <a:solidFill>
                  <a:srgbClr val="1B1F23"/>
                </a:solidFill>
              </a:rPr>
              <a:t>Cobertura funcional consolidada por ámbitos del MVP.</a:t>
            </a:r>
            <a:endParaRPr lang="en-US" sz="1050" dirty="0"/>
          </a:p>
        </p:txBody>
      </p:sp>
      <p:sp>
        <p:nvSpPr>
          <p:cNvPr id="16" name="Shape 14"/>
          <p:cNvSpPr/>
          <p:nvPr/>
        </p:nvSpPr>
        <p:spPr>
          <a:xfrm>
            <a:off x="6675120" y="1188720"/>
            <a:ext cx="2468880" cy="1188720"/>
          </a:xfrm>
          <a:prstGeom prst="roundRect">
            <a:avLst>
              <a:gd name="adj" fmla="val 6154"/>
            </a:avLst>
          </a:prstGeom>
          <a:solidFill>
            <a:srgbClr val="FFFFFF"/>
          </a:solidFill>
          <a:ln w="12700">
            <a:solidFill>
              <a:srgbClr val="CAD6E0"/>
            </a:solidFill>
            <a:prstDash val="solid"/>
          </a:ln>
        </p:spPr>
        <p:txBody>
          <a:bodyPr/>
          <a:lstStyle/>
          <a:p>
            <a:endParaRPr lang="en-CL"/>
          </a:p>
        </p:txBody>
      </p:sp>
      <p:sp>
        <p:nvSpPr>
          <p:cNvPr id="17" name="Shape 15"/>
          <p:cNvSpPr/>
          <p:nvPr/>
        </p:nvSpPr>
        <p:spPr>
          <a:xfrm>
            <a:off x="6675120" y="1188720"/>
            <a:ext cx="73152" cy="1188720"/>
          </a:xfrm>
          <a:prstGeom prst="rect">
            <a:avLst/>
          </a:prstGeom>
          <a:solidFill>
            <a:srgbClr val="2EA7D6"/>
          </a:solidFill>
          <a:ln w="12700">
            <a:solidFill>
              <a:srgbClr val="2EA7D6"/>
            </a:solidFill>
            <a:prstDash val="solid"/>
          </a:ln>
        </p:spPr>
        <p:txBody>
          <a:bodyPr/>
          <a:lstStyle/>
          <a:p>
            <a:endParaRPr lang="en-CL"/>
          </a:p>
        </p:txBody>
      </p:sp>
      <p:sp>
        <p:nvSpPr>
          <p:cNvPr id="18" name="Text 16"/>
          <p:cNvSpPr/>
          <p:nvPr/>
        </p:nvSpPr>
        <p:spPr>
          <a:xfrm>
            <a:off x="6876288" y="1335024"/>
            <a:ext cx="2157984" cy="228600"/>
          </a:xfrm>
          <a:prstGeom prst="rect">
            <a:avLst/>
          </a:prstGeom>
          <a:noFill/>
          <a:ln/>
        </p:spPr>
        <p:txBody>
          <a:bodyPr wrap="square" lIns="0" tIns="0" rIns="0" bIns="0" rtlCol="0" anchor="ctr"/>
          <a:lstStyle/>
          <a:p>
            <a:pPr marL="0" indent="0">
              <a:buNone/>
            </a:pPr>
            <a:r>
              <a:rPr lang="en-US" sz="1300" b="1" dirty="0">
                <a:solidFill>
                  <a:srgbClr val="0F2742"/>
                </a:solidFill>
              </a:rPr>
              <a:t>100% completado</a:t>
            </a:r>
            <a:endParaRPr lang="en-US" sz="1300" dirty="0"/>
          </a:p>
        </p:txBody>
      </p:sp>
      <p:sp>
        <p:nvSpPr>
          <p:cNvPr id="19" name="Text 17"/>
          <p:cNvSpPr/>
          <p:nvPr/>
        </p:nvSpPr>
        <p:spPr>
          <a:xfrm>
            <a:off x="6876288" y="1645920"/>
            <a:ext cx="2157984" cy="640080"/>
          </a:xfrm>
          <a:prstGeom prst="rect">
            <a:avLst/>
          </a:prstGeom>
          <a:noFill/>
          <a:ln/>
        </p:spPr>
        <p:txBody>
          <a:bodyPr wrap="square" lIns="0" tIns="0" rIns="0" bIns="0" rtlCol="0" anchor="ctr">
            <a:normAutofit/>
          </a:bodyPr>
          <a:lstStyle/>
          <a:p>
            <a:pPr marL="0" indent="0">
              <a:buNone/>
            </a:pPr>
            <a:r>
              <a:rPr lang="en-US" sz="1050" dirty="0">
                <a:solidFill>
                  <a:srgbClr val="1B1F23"/>
                </a:solidFill>
              </a:rPr>
              <a:t>Casos ejecutados sin errores bloqueantes.</a:t>
            </a:r>
            <a:endParaRPr lang="en-US" sz="1050" dirty="0"/>
          </a:p>
        </p:txBody>
      </p:sp>
      <p:sp>
        <p:nvSpPr>
          <p:cNvPr id="20" name="Shape 18"/>
          <p:cNvSpPr/>
          <p:nvPr/>
        </p:nvSpPr>
        <p:spPr>
          <a:xfrm>
            <a:off x="9372600" y="1188720"/>
            <a:ext cx="2011680" cy="1188720"/>
          </a:xfrm>
          <a:prstGeom prst="roundRect">
            <a:avLst>
              <a:gd name="adj" fmla="val 6154"/>
            </a:avLst>
          </a:prstGeom>
          <a:solidFill>
            <a:srgbClr val="FFFFFF"/>
          </a:solidFill>
          <a:ln w="12700">
            <a:solidFill>
              <a:srgbClr val="CAD6E0"/>
            </a:solidFill>
            <a:prstDash val="solid"/>
          </a:ln>
        </p:spPr>
        <p:txBody>
          <a:bodyPr/>
          <a:lstStyle/>
          <a:p>
            <a:endParaRPr lang="en-CL"/>
          </a:p>
        </p:txBody>
      </p:sp>
      <p:sp>
        <p:nvSpPr>
          <p:cNvPr id="21" name="Shape 19"/>
          <p:cNvSpPr/>
          <p:nvPr/>
        </p:nvSpPr>
        <p:spPr>
          <a:xfrm>
            <a:off x="9372600" y="1188720"/>
            <a:ext cx="73152" cy="1188720"/>
          </a:xfrm>
          <a:prstGeom prst="rect">
            <a:avLst/>
          </a:prstGeom>
          <a:solidFill>
            <a:srgbClr val="F2994A"/>
          </a:solidFill>
          <a:ln w="12700">
            <a:solidFill>
              <a:srgbClr val="F2994A"/>
            </a:solidFill>
            <a:prstDash val="solid"/>
          </a:ln>
        </p:spPr>
        <p:txBody>
          <a:bodyPr/>
          <a:lstStyle/>
          <a:p>
            <a:endParaRPr lang="en-CL"/>
          </a:p>
        </p:txBody>
      </p:sp>
      <p:sp>
        <p:nvSpPr>
          <p:cNvPr id="22" name="Text 20"/>
          <p:cNvSpPr/>
          <p:nvPr/>
        </p:nvSpPr>
        <p:spPr>
          <a:xfrm>
            <a:off x="9573768" y="1335024"/>
            <a:ext cx="1700784" cy="228600"/>
          </a:xfrm>
          <a:prstGeom prst="rect">
            <a:avLst/>
          </a:prstGeom>
          <a:noFill/>
          <a:ln/>
        </p:spPr>
        <p:txBody>
          <a:bodyPr wrap="square" lIns="0" tIns="0" rIns="0" bIns="0" rtlCol="0" anchor="ctr"/>
          <a:lstStyle/>
          <a:p>
            <a:pPr marL="0" indent="0">
              <a:buNone/>
            </a:pPr>
            <a:r>
              <a:rPr lang="en-US" sz="1300" b="1" dirty="0">
                <a:solidFill>
                  <a:srgbClr val="0F2742"/>
                </a:solidFill>
              </a:rPr>
              <a:t>GitHub</a:t>
            </a:r>
            <a:endParaRPr lang="en-US" sz="1300" dirty="0"/>
          </a:p>
        </p:txBody>
      </p:sp>
      <p:sp>
        <p:nvSpPr>
          <p:cNvPr id="23" name="Text 21"/>
          <p:cNvSpPr/>
          <p:nvPr/>
        </p:nvSpPr>
        <p:spPr>
          <a:xfrm>
            <a:off x="9573768" y="1645920"/>
            <a:ext cx="1700784" cy="640080"/>
          </a:xfrm>
          <a:prstGeom prst="rect">
            <a:avLst/>
          </a:prstGeom>
          <a:noFill/>
          <a:ln/>
        </p:spPr>
        <p:txBody>
          <a:bodyPr wrap="square" lIns="0" tIns="0" rIns="0" bIns="0" rtlCol="0" anchor="ctr">
            <a:normAutofit/>
          </a:bodyPr>
          <a:lstStyle/>
          <a:p>
            <a:pPr marL="0" indent="0">
              <a:buNone/>
            </a:pPr>
            <a:r>
              <a:rPr lang="en-US" sz="1050" dirty="0">
                <a:solidFill>
                  <a:srgbClr val="1B1F23"/>
                </a:solidFill>
              </a:rPr>
              <a:t>Repositorio, evidencia y control de cambios.</a:t>
            </a:r>
            <a:endParaRPr lang="en-US" sz="1050" dirty="0"/>
          </a:p>
        </p:txBody>
      </p:sp>
      <p:sp>
        <p:nvSpPr>
          <p:cNvPr id="24" name="Shape 22"/>
          <p:cNvSpPr/>
          <p:nvPr/>
        </p:nvSpPr>
        <p:spPr>
          <a:xfrm>
            <a:off x="777240" y="2788920"/>
            <a:ext cx="5394960" cy="2377440"/>
          </a:xfrm>
          <a:prstGeom prst="roundRect">
            <a:avLst>
              <a:gd name="adj" fmla="val 3077"/>
            </a:avLst>
          </a:prstGeom>
          <a:solidFill>
            <a:srgbClr val="FFFFFF"/>
          </a:solidFill>
          <a:ln w="12700">
            <a:solidFill>
              <a:srgbClr val="CAD6E0"/>
            </a:solidFill>
            <a:prstDash val="solid"/>
          </a:ln>
        </p:spPr>
        <p:txBody>
          <a:bodyPr/>
          <a:lstStyle/>
          <a:p>
            <a:endParaRPr lang="en-CL"/>
          </a:p>
        </p:txBody>
      </p:sp>
      <p:sp>
        <p:nvSpPr>
          <p:cNvPr id="25" name="Text 23"/>
          <p:cNvSpPr/>
          <p:nvPr/>
        </p:nvSpPr>
        <p:spPr>
          <a:xfrm>
            <a:off x="1005840" y="3017520"/>
            <a:ext cx="4937760" cy="228600"/>
          </a:xfrm>
          <a:prstGeom prst="rect">
            <a:avLst/>
          </a:prstGeom>
          <a:noFill/>
          <a:ln/>
        </p:spPr>
        <p:txBody>
          <a:bodyPr wrap="square" lIns="0" tIns="0" rIns="0" bIns="0" rtlCol="0" anchor="ctr"/>
          <a:lstStyle/>
          <a:p>
            <a:pPr marL="0" indent="0">
              <a:buNone/>
            </a:pPr>
            <a:r>
              <a:rPr lang="en-US" sz="1600" b="1" dirty="0">
                <a:solidFill>
                  <a:srgbClr val="0F2742"/>
                </a:solidFill>
              </a:rPr>
              <a:t>Cobertura funcional</a:t>
            </a:r>
            <a:endParaRPr lang="en-US" sz="1600" dirty="0"/>
          </a:p>
        </p:txBody>
      </p:sp>
      <p:sp>
        <p:nvSpPr>
          <p:cNvPr id="26" name="Text 24"/>
          <p:cNvSpPr/>
          <p:nvPr/>
        </p:nvSpPr>
        <p:spPr>
          <a:xfrm>
            <a:off x="1051560" y="3429000"/>
            <a:ext cx="2743200" cy="91440"/>
          </a:xfrm>
          <a:prstGeom prst="rect">
            <a:avLst/>
          </a:prstGeom>
          <a:noFill/>
          <a:ln/>
        </p:spPr>
        <p:txBody>
          <a:bodyPr wrap="square" lIns="0" tIns="0" rIns="0" bIns="0" rtlCol="0" anchor="ctr"/>
          <a:lstStyle/>
          <a:p>
            <a:pPr marL="0" indent="0">
              <a:buNone/>
            </a:pPr>
            <a:r>
              <a:rPr lang="en-US" sz="950" dirty="0">
                <a:solidFill>
                  <a:srgbClr val="1B1F23"/>
                </a:solidFill>
              </a:rPr>
              <a:t>Tickets</a:t>
            </a:r>
            <a:endParaRPr lang="en-US" sz="950" dirty="0"/>
          </a:p>
        </p:txBody>
      </p:sp>
      <p:sp>
        <p:nvSpPr>
          <p:cNvPr id="27" name="Text 25"/>
          <p:cNvSpPr/>
          <p:nvPr/>
        </p:nvSpPr>
        <p:spPr>
          <a:xfrm>
            <a:off x="5303520" y="3429000"/>
            <a:ext cx="548640" cy="91440"/>
          </a:xfrm>
          <a:prstGeom prst="rect">
            <a:avLst/>
          </a:prstGeom>
          <a:noFill/>
          <a:ln/>
        </p:spPr>
        <p:txBody>
          <a:bodyPr wrap="square" lIns="0" tIns="0" rIns="0" bIns="0" rtlCol="0" anchor="ctr"/>
          <a:lstStyle/>
          <a:p>
            <a:pPr marL="0" indent="0" algn="r">
              <a:buNone/>
            </a:pPr>
            <a:r>
              <a:rPr lang="en-US" sz="950" b="1" dirty="0">
                <a:solidFill>
                  <a:srgbClr val="0BBF72"/>
                </a:solidFill>
              </a:rPr>
              <a:t>7/7</a:t>
            </a:r>
            <a:endParaRPr lang="en-US" sz="950" dirty="0"/>
          </a:p>
        </p:txBody>
      </p:sp>
      <p:sp>
        <p:nvSpPr>
          <p:cNvPr id="28" name="Text 26"/>
          <p:cNvSpPr/>
          <p:nvPr/>
        </p:nvSpPr>
        <p:spPr>
          <a:xfrm>
            <a:off x="1051560" y="3685032"/>
            <a:ext cx="2743200" cy="91440"/>
          </a:xfrm>
          <a:prstGeom prst="rect">
            <a:avLst/>
          </a:prstGeom>
          <a:noFill/>
          <a:ln/>
        </p:spPr>
        <p:txBody>
          <a:bodyPr wrap="square" lIns="0" tIns="0" rIns="0" bIns="0" rtlCol="0" anchor="ctr"/>
          <a:lstStyle/>
          <a:p>
            <a:pPr marL="0" indent="0">
              <a:buNone/>
            </a:pPr>
            <a:r>
              <a:rPr lang="en-US" sz="950" dirty="0">
                <a:solidFill>
                  <a:srgbClr val="1B1F23"/>
                </a:solidFill>
              </a:rPr>
              <a:t>Activos TI</a:t>
            </a:r>
            <a:endParaRPr lang="en-US" sz="950" dirty="0"/>
          </a:p>
        </p:txBody>
      </p:sp>
      <p:sp>
        <p:nvSpPr>
          <p:cNvPr id="29" name="Text 27"/>
          <p:cNvSpPr/>
          <p:nvPr/>
        </p:nvSpPr>
        <p:spPr>
          <a:xfrm>
            <a:off x="5303520" y="3685032"/>
            <a:ext cx="548640" cy="91440"/>
          </a:xfrm>
          <a:prstGeom prst="rect">
            <a:avLst/>
          </a:prstGeom>
          <a:noFill/>
          <a:ln/>
        </p:spPr>
        <p:txBody>
          <a:bodyPr wrap="square" lIns="0" tIns="0" rIns="0" bIns="0" rtlCol="0" anchor="ctr"/>
          <a:lstStyle/>
          <a:p>
            <a:pPr marL="0" indent="0" algn="r">
              <a:buNone/>
            </a:pPr>
            <a:r>
              <a:rPr lang="en-US" sz="950" b="1" dirty="0">
                <a:solidFill>
                  <a:srgbClr val="0BBF72"/>
                </a:solidFill>
              </a:rPr>
              <a:t>4/4</a:t>
            </a:r>
            <a:endParaRPr lang="en-US" sz="950" dirty="0"/>
          </a:p>
        </p:txBody>
      </p:sp>
      <p:sp>
        <p:nvSpPr>
          <p:cNvPr id="30" name="Text 28"/>
          <p:cNvSpPr/>
          <p:nvPr/>
        </p:nvSpPr>
        <p:spPr>
          <a:xfrm>
            <a:off x="1051560" y="3941064"/>
            <a:ext cx="2743200" cy="91440"/>
          </a:xfrm>
          <a:prstGeom prst="rect">
            <a:avLst/>
          </a:prstGeom>
          <a:noFill/>
          <a:ln/>
        </p:spPr>
        <p:txBody>
          <a:bodyPr wrap="square" lIns="0" tIns="0" rIns="0" bIns="0" rtlCol="0" anchor="ctr"/>
          <a:lstStyle/>
          <a:p>
            <a:pPr marL="0" indent="0">
              <a:buNone/>
            </a:pPr>
            <a:r>
              <a:rPr lang="en-US" sz="950" dirty="0">
                <a:solidFill>
                  <a:srgbClr val="1B1F23"/>
                </a:solidFill>
              </a:rPr>
              <a:t>Dashboards</a:t>
            </a:r>
            <a:endParaRPr lang="en-US" sz="950" dirty="0"/>
          </a:p>
        </p:txBody>
      </p:sp>
      <p:sp>
        <p:nvSpPr>
          <p:cNvPr id="31" name="Text 29"/>
          <p:cNvSpPr/>
          <p:nvPr/>
        </p:nvSpPr>
        <p:spPr>
          <a:xfrm>
            <a:off x="5303520" y="3941064"/>
            <a:ext cx="548640" cy="91440"/>
          </a:xfrm>
          <a:prstGeom prst="rect">
            <a:avLst/>
          </a:prstGeom>
          <a:noFill/>
          <a:ln/>
        </p:spPr>
        <p:txBody>
          <a:bodyPr wrap="square" lIns="0" tIns="0" rIns="0" bIns="0" rtlCol="0" anchor="ctr"/>
          <a:lstStyle/>
          <a:p>
            <a:pPr marL="0" indent="0" algn="r">
              <a:buNone/>
            </a:pPr>
            <a:r>
              <a:rPr lang="en-US" sz="950" b="1" dirty="0">
                <a:solidFill>
                  <a:srgbClr val="0BBF72"/>
                </a:solidFill>
              </a:rPr>
              <a:t>3/3</a:t>
            </a:r>
            <a:endParaRPr lang="en-US" sz="950" dirty="0"/>
          </a:p>
        </p:txBody>
      </p:sp>
      <p:sp>
        <p:nvSpPr>
          <p:cNvPr id="32" name="Text 30"/>
          <p:cNvSpPr/>
          <p:nvPr/>
        </p:nvSpPr>
        <p:spPr>
          <a:xfrm>
            <a:off x="1051560" y="4197096"/>
            <a:ext cx="2743200" cy="91440"/>
          </a:xfrm>
          <a:prstGeom prst="rect">
            <a:avLst/>
          </a:prstGeom>
          <a:noFill/>
          <a:ln/>
        </p:spPr>
        <p:txBody>
          <a:bodyPr wrap="square" lIns="0" tIns="0" rIns="0" bIns="0" rtlCol="0" anchor="ctr"/>
          <a:lstStyle/>
          <a:p>
            <a:pPr marL="0" indent="0">
              <a:buNone/>
            </a:pPr>
            <a:r>
              <a:rPr lang="en-US" sz="950" dirty="0">
                <a:solidFill>
                  <a:srgbClr val="1B1F23"/>
                </a:solidFill>
              </a:rPr>
              <a:t>Seguridad</a:t>
            </a:r>
            <a:endParaRPr lang="en-US" sz="950" dirty="0"/>
          </a:p>
        </p:txBody>
      </p:sp>
      <p:sp>
        <p:nvSpPr>
          <p:cNvPr id="33" name="Text 31"/>
          <p:cNvSpPr/>
          <p:nvPr/>
        </p:nvSpPr>
        <p:spPr>
          <a:xfrm>
            <a:off x="5303520" y="4197096"/>
            <a:ext cx="548640" cy="91440"/>
          </a:xfrm>
          <a:prstGeom prst="rect">
            <a:avLst/>
          </a:prstGeom>
          <a:noFill/>
          <a:ln/>
        </p:spPr>
        <p:txBody>
          <a:bodyPr wrap="square" lIns="0" tIns="0" rIns="0" bIns="0" rtlCol="0" anchor="ctr"/>
          <a:lstStyle/>
          <a:p>
            <a:pPr marL="0" indent="0" algn="r">
              <a:buNone/>
            </a:pPr>
            <a:r>
              <a:rPr lang="en-US" sz="950" b="1" dirty="0">
                <a:solidFill>
                  <a:srgbClr val="0BBF72"/>
                </a:solidFill>
              </a:rPr>
              <a:t>2/2</a:t>
            </a:r>
            <a:endParaRPr lang="en-US" sz="950" dirty="0"/>
          </a:p>
        </p:txBody>
      </p:sp>
      <p:sp>
        <p:nvSpPr>
          <p:cNvPr id="34" name="Text 32"/>
          <p:cNvSpPr/>
          <p:nvPr/>
        </p:nvSpPr>
        <p:spPr>
          <a:xfrm>
            <a:off x="1051560" y="4453128"/>
            <a:ext cx="2743200" cy="91440"/>
          </a:xfrm>
          <a:prstGeom prst="rect">
            <a:avLst/>
          </a:prstGeom>
          <a:noFill/>
          <a:ln/>
        </p:spPr>
        <p:txBody>
          <a:bodyPr wrap="square" lIns="0" tIns="0" rIns="0" bIns="0" rtlCol="0" anchor="ctr"/>
          <a:lstStyle/>
          <a:p>
            <a:pPr marL="0" indent="0">
              <a:buNone/>
            </a:pPr>
            <a:r>
              <a:rPr lang="en-US" sz="950" dirty="0">
                <a:solidFill>
                  <a:srgbClr val="1B1F23"/>
                </a:solidFill>
              </a:rPr>
              <a:t>Operación</a:t>
            </a:r>
            <a:endParaRPr lang="en-US" sz="950" dirty="0"/>
          </a:p>
        </p:txBody>
      </p:sp>
      <p:sp>
        <p:nvSpPr>
          <p:cNvPr id="35" name="Text 33"/>
          <p:cNvSpPr/>
          <p:nvPr/>
        </p:nvSpPr>
        <p:spPr>
          <a:xfrm>
            <a:off x="5303520" y="4453128"/>
            <a:ext cx="548640" cy="91440"/>
          </a:xfrm>
          <a:prstGeom prst="rect">
            <a:avLst/>
          </a:prstGeom>
          <a:noFill/>
          <a:ln/>
        </p:spPr>
        <p:txBody>
          <a:bodyPr wrap="square" lIns="0" tIns="0" rIns="0" bIns="0" rtlCol="0" anchor="ctr"/>
          <a:lstStyle/>
          <a:p>
            <a:pPr marL="0" indent="0" algn="r">
              <a:buNone/>
            </a:pPr>
            <a:r>
              <a:rPr lang="en-US" sz="950" b="1" dirty="0">
                <a:solidFill>
                  <a:srgbClr val="0BBF72"/>
                </a:solidFill>
              </a:rPr>
              <a:t>2/2</a:t>
            </a:r>
            <a:endParaRPr lang="en-US" sz="950" dirty="0"/>
          </a:p>
        </p:txBody>
      </p:sp>
      <p:sp>
        <p:nvSpPr>
          <p:cNvPr id="36" name="Text 34"/>
          <p:cNvSpPr/>
          <p:nvPr/>
        </p:nvSpPr>
        <p:spPr>
          <a:xfrm>
            <a:off x="1051560" y="4709160"/>
            <a:ext cx="2743200" cy="91440"/>
          </a:xfrm>
          <a:prstGeom prst="rect">
            <a:avLst/>
          </a:prstGeom>
          <a:noFill/>
          <a:ln/>
        </p:spPr>
        <p:txBody>
          <a:bodyPr wrap="square" lIns="0" tIns="0" rIns="0" bIns="0" rtlCol="0" anchor="ctr"/>
          <a:lstStyle/>
          <a:p>
            <a:pPr marL="0" indent="0">
              <a:buNone/>
            </a:pPr>
            <a:r>
              <a:rPr lang="en-US" sz="950" dirty="0">
                <a:solidFill>
                  <a:srgbClr val="1B1F23"/>
                </a:solidFill>
              </a:rPr>
              <a:t>Aceptación</a:t>
            </a:r>
            <a:endParaRPr lang="en-US" sz="950" dirty="0"/>
          </a:p>
        </p:txBody>
      </p:sp>
      <p:sp>
        <p:nvSpPr>
          <p:cNvPr id="37" name="Text 35"/>
          <p:cNvSpPr/>
          <p:nvPr/>
        </p:nvSpPr>
        <p:spPr>
          <a:xfrm>
            <a:off x="5303520" y="4709160"/>
            <a:ext cx="548640" cy="91440"/>
          </a:xfrm>
          <a:prstGeom prst="rect">
            <a:avLst/>
          </a:prstGeom>
          <a:noFill/>
          <a:ln/>
        </p:spPr>
        <p:txBody>
          <a:bodyPr wrap="square" lIns="0" tIns="0" rIns="0" bIns="0" rtlCol="0" anchor="ctr"/>
          <a:lstStyle/>
          <a:p>
            <a:pPr marL="0" indent="0" algn="r">
              <a:buNone/>
            </a:pPr>
            <a:r>
              <a:rPr lang="en-US" sz="950" b="1" dirty="0">
                <a:solidFill>
                  <a:srgbClr val="0BBF72"/>
                </a:solidFill>
              </a:rPr>
              <a:t>3/3</a:t>
            </a:r>
            <a:endParaRPr lang="en-US" sz="950" dirty="0"/>
          </a:p>
        </p:txBody>
      </p:sp>
      <p:sp>
        <p:nvSpPr>
          <p:cNvPr id="38" name="Shape 36"/>
          <p:cNvSpPr/>
          <p:nvPr/>
        </p:nvSpPr>
        <p:spPr>
          <a:xfrm>
            <a:off x="6492240" y="2788920"/>
            <a:ext cx="4800600" cy="2377440"/>
          </a:xfrm>
          <a:prstGeom prst="roundRect">
            <a:avLst>
              <a:gd name="adj" fmla="val 3077"/>
            </a:avLst>
          </a:prstGeom>
          <a:solidFill>
            <a:srgbClr val="FFFFFF"/>
          </a:solidFill>
          <a:ln w="12700">
            <a:solidFill>
              <a:srgbClr val="CAD6E0"/>
            </a:solidFill>
            <a:prstDash val="solid"/>
          </a:ln>
        </p:spPr>
        <p:txBody>
          <a:bodyPr/>
          <a:lstStyle/>
          <a:p>
            <a:endParaRPr lang="en-CL"/>
          </a:p>
        </p:txBody>
      </p:sp>
      <p:sp>
        <p:nvSpPr>
          <p:cNvPr id="39" name="Text 37"/>
          <p:cNvSpPr/>
          <p:nvPr/>
        </p:nvSpPr>
        <p:spPr>
          <a:xfrm>
            <a:off x="6720840" y="3017520"/>
            <a:ext cx="4389120" cy="228600"/>
          </a:xfrm>
          <a:prstGeom prst="rect">
            <a:avLst/>
          </a:prstGeom>
          <a:noFill/>
          <a:ln/>
        </p:spPr>
        <p:txBody>
          <a:bodyPr wrap="square" lIns="0" tIns="0" rIns="0" bIns="0" rtlCol="0" anchor="ctr"/>
          <a:lstStyle/>
          <a:p>
            <a:pPr marL="0" indent="0">
              <a:buNone/>
            </a:pPr>
            <a:r>
              <a:rPr lang="en-US" sz="1600" b="1" dirty="0">
                <a:solidFill>
                  <a:srgbClr val="0F2742"/>
                </a:solidFill>
              </a:rPr>
              <a:t>Buenas prácticas aplicadas</a:t>
            </a:r>
            <a:endParaRPr lang="en-US" sz="1600" dirty="0"/>
          </a:p>
        </p:txBody>
      </p:sp>
      <p:sp>
        <p:nvSpPr>
          <p:cNvPr id="40" name="Text 38"/>
          <p:cNvSpPr/>
          <p:nvPr/>
        </p:nvSpPr>
        <p:spPr>
          <a:xfrm>
            <a:off x="6812280" y="3429000"/>
            <a:ext cx="4023360" cy="1325880"/>
          </a:xfrm>
          <a:prstGeom prst="rect">
            <a:avLst/>
          </a:prstGeom>
          <a:noFill/>
          <a:ln/>
        </p:spPr>
        <p:txBody>
          <a:bodyPr wrap="square" lIns="635" tIns="635" rIns="635" bIns="635" rtlCol="0" anchor="ctr">
            <a:normAutofit/>
          </a:bodyPr>
          <a:lstStyle/>
          <a:p>
            <a:r>
              <a:rPr lang="en-US" sz="1150" dirty="0">
                <a:solidFill>
                  <a:srgbClr val="1B1F23"/>
                </a:solidFill>
              </a:rPr>
              <a:t>No se modificó el core de GLPI</a:t>
            </a:r>
            <a:endParaRPr lang="en-US" sz="1150" dirty="0"/>
          </a:p>
          <a:p>
            <a:r>
              <a:rPr lang="en-US" sz="1150" dirty="0">
                <a:solidFill>
                  <a:srgbClr val="1B1F23"/>
                </a:solidFill>
              </a:rPr>
              <a:t>Configuración y documentación versionadas</a:t>
            </a:r>
            <a:endParaRPr lang="en-US" sz="1150" dirty="0"/>
          </a:p>
          <a:p>
            <a:r>
              <a:rPr lang="en-US" sz="1150" dirty="0">
                <a:solidFill>
                  <a:srgbClr val="1B1F23"/>
                </a:solidFill>
              </a:rPr>
              <a:t>Separación por responsabilidades en el repositorio</a:t>
            </a:r>
            <a:endParaRPr lang="en-US" sz="1150" dirty="0"/>
          </a:p>
          <a:p>
            <a:r>
              <a:rPr lang="en-US" sz="1150" dirty="0">
                <a:solidFill>
                  <a:srgbClr val="1B1F23"/>
                </a:solidFill>
              </a:rPr>
              <a:t>Pruebas web desde la experiencia real del usuario</a:t>
            </a:r>
            <a:endParaRPr lang="en-US" sz="1150" dirty="0"/>
          </a:p>
          <a:p>
            <a:r>
              <a:rPr lang="en-US" sz="1150" dirty="0">
                <a:solidFill>
                  <a:srgbClr val="1B1F23"/>
                </a:solidFill>
              </a:rPr>
              <a:t>Pruebas unitarias tradicionales: limitadas por alcance de parametrización</a:t>
            </a:r>
            <a:endParaRPr lang="en-US" sz="1150" dirty="0"/>
          </a:p>
        </p:txBody>
      </p:sp>
      <p:sp>
        <p:nvSpPr>
          <p:cNvPr id="41" name="Text 39"/>
          <p:cNvSpPr/>
          <p:nvPr/>
        </p:nvSpPr>
        <p:spPr>
          <a:xfrm>
            <a:off x="914400" y="5623560"/>
            <a:ext cx="10241280" cy="201168"/>
          </a:xfrm>
          <a:prstGeom prst="rect">
            <a:avLst/>
          </a:prstGeom>
          <a:noFill/>
          <a:ln/>
        </p:spPr>
        <p:txBody>
          <a:bodyPr wrap="square" lIns="0" tIns="0" rIns="0" bIns="0" rtlCol="0" anchor="ctr"/>
          <a:lstStyle/>
          <a:p>
            <a:pPr marL="0" indent="0" algn="ctr">
              <a:buNone/>
            </a:pPr>
            <a:r>
              <a:rPr lang="en-US" sz="1020" i="1" dirty="0">
                <a:solidFill>
                  <a:srgbClr val="657182"/>
                </a:solidFill>
              </a:rPr>
              <a:t>Nota: la cobertura unitaria sobre código propio no aplica de forma tradicional; se defendió mediante cobertura funcional del MVP.</a:t>
            </a:r>
            <a:endParaRPr lang="en-US" sz="10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BBF72"/>
          </a:solidFill>
          <a:ln w="12700">
            <a:solidFill>
              <a:srgbClr val="0BBF72"/>
            </a:solidFill>
            <a:prstDash val="solid"/>
          </a:ln>
        </p:spPr>
        <p:txBody>
          <a:bodyPr/>
          <a:lstStyle/>
          <a:p>
            <a:endParaRPr lang="en-CL"/>
          </a:p>
        </p:txBody>
      </p:sp>
      <p:sp>
        <p:nvSpPr>
          <p:cNvPr id="3" name="Shape 1"/>
          <p:cNvSpPr/>
          <p:nvPr/>
        </p:nvSpPr>
        <p:spPr>
          <a:xfrm>
            <a:off x="0" y="6565392"/>
            <a:ext cx="12191695" cy="292608"/>
          </a:xfrm>
          <a:prstGeom prst="rect">
            <a:avLst/>
          </a:prstGeom>
          <a:solidFill>
            <a:srgbClr val="0F2742"/>
          </a:solidFill>
          <a:ln w="12700">
            <a:solidFill>
              <a:srgbClr val="0F2742"/>
            </a:solidFill>
            <a:prstDash val="solid"/>
          </a:ln>
        </p:spPr>
        <p:txBody>
          <a:bodyPr/>
          <a:lstStyle/>
          <a:p>
            <a:endParaRPr lang="en-CL"/>
          </a:p>
        </p:txBody>
      </p:sp>
      <p:sp>
        <p:nvSpPr>
          <p:cNvPr id="4" name="Text 2"/>
          <p:cNvSpPr/>
          <p:nvPr/>
        </p:nvSpPr>
        <p:spPr>
          <a:xfrm>
            <a:off x="502920" y="347472"/>
            <a:ext cx="10515600" cy="384048"/>
          </a:xfrm>
          <a:prstGeom prst="rect">
            <a:avLst/>
          </a:prstGeom>
          <a:noFill/>
          <a:ln/>
        </p:spPr>
        <p:txBody>
          <a:bodyPr wrap="square" lIns="0" tIns="0" rIns="0" bIns="0" rtlCol="0" anchor="ctr"/>
          <a:lstStyle/>
          <a:p>
            <a:pPr marL="0" indent="0">
              <a:buNone/>
            </a:pPr>
            <a:r>
              <a:rPr lang="en-US" sz="2600" b="1" dirty="0">
                <a:solidFill>
                  <a:srgbClr val="0F2742"/>
                </a:solidFill>
                <a:latin typeface="Arial" pitchFamily="34" charset="0"/>
                <a:ea typeface="Arial" pitchFamily="34" charset="-122"/>
                <a:cs typeface="Arial" pitchFamily="34" charset="-120"/>
              </a:rPr>
              <a:t>Riesgos, mitigaciones y deuda técnica</a:t>
            </a:r>
            <a:endParaRPr lang="en-US" sz="2600" dirty="0"/>
          </a:p>
        </p:txBody>
      </p:sp>
      <p:sp>
        <p:nvSpPr>
          <p:cNvPr id="5" name="Text 3"/>
          <p:cNvSpPr/>
          <p:nvPr/>
        </p:nvSpPr>
        <p:spPr>
          <a:xfrm>
            <a:off x="521208" y="768096"/>
            <a:ext cx="10607040" cy="219456"/>
          </a:xfrm>
          <a:prstGeom prst="rect">
            <a:avLst/>
          </a:prstGeom>
          <a:noFill/>
          <a:ln/>
        </p:spPr>
        <p:txBody>
          <a:bodyPr wrap="square" lIns="0" tIns="0" rIns="0" bIns="0" rtlCol="0" anchor="ctr"/>
          <a:lstStyle/>
          <a:p>
            <a:pPr marL="0" indent="0">
              <a:buNone/>
            </a:pPr>
            <a:r>
              <a:rPr lang="en-US" sz="1050" dirty="0">
                <a:solidFill>
                  <a:srgbClr val="657182"/>
                </a:solidFill>
              </a:rPr>
              <a:t>El MVP es viable, pero se deja trazada una ruta de maduración.</a:t>
            </a:r>
            <a:endParaRPr lang="en-US" sz="1050" dirty="0"/>
          </a:p>
        </p:txBody>
      </p:sp>
      <p:sp>
        <p:nvSpPr>
          <p:cNvPr id="6" name="Text 4"/>
          <p:cNvSpPr/>
          <p:nvPr/>
        </p:nvSpPr>
        <p:spPr>
          <a:xfrm>
            <a:off x="502920" y="6611112"/>
            <a:ext cx="6583680" cy="146304"/>
          </a:xfrm>
          <a:prstGeom prst="rect">
            <a:avLst/>
          </a:prstGeom>
          <a:noFill/>
          <a:ln/>
        </p:spPr>
        <p:txBody>
          <a:bodyPr wrap="square" lIns="0" tIns="0" rIns="0" bIns="0" rtlCol="0" anchor="ctr"/>
          <a:lstStyle/>
          <a:p>
            <a:pPr marL="0" indent="0">
              <a:buNone/>
            </a:pPr>
            <a:r>
              <a:rPr lang="en-US" sz="750" dirty="0">
                <a:solidFill>
                  <a:srgbClr val="DCE7F2"/>
                </a:solidFill>
              </a:rPr>
              <a:t>TIP-INF-401 | Ingeniería en Informática | IPSS 2026</a:t>
            </a:r>
            <a:endParaRPr lang="en-US" sz="750" dirty="0"/>
          </a:p>
        </p:txBody>
      </p:sp>
      <p:sp>
        <p:nvSpPr>
          <p:cNvPr id="7" name="Text 5"/>
          <p:cNvSpPr/>
          <p:nvPr/>
        </p:nvSpPr>
        <p:spPr>
          <a:xfrm>
            <a:off x="11064240" y="6611112"/>
            <a:ext cx="640080" cy="146304"/>
          </a:xfrm>
          <a:prstGeom prst="rect">
            <a:avLst/>
          </a:prstGeom>
          <a:noFill/>
          <a:ln/>
        </p:spPr>
        <p:txBody>
          <a:bodyPr wrap="square" lIns="0" tIns="0" rIns="0" bIns="0" rtlCol="0" anchor="ctr"/>
          <a:lstStyle/>
          <a:p>
            <a:pPr marL="0" indent="0" algn="r">
              <a:buNone/>
            </a:pPr>
            <a:r>
              <a:rPr lang="en-US" sz="750" dirty="0">
                <a:solidFill>
                  <a:srgbClr val="DCE7F2"/>
                </a:solidFill>
              </a:rPr>
              <a:t>16/18</a:t>
            </a:r>
            <a:endParaRPr lang="en-US" sz="750" dirty="0"/>
          </a:p>
        </p:txBody>
      </p:sp>
      <p:sp>
        <p:nvSpPr>
          <p:cNvPr id="8" name="Shape 6"/>
          <p:cNvSpPr/>
          <p:nvPr/>
        </p:nvSpPr>
        <p:spPr>
          <a:xfrm>
            <a:off x="685800" y="1143000"/>
            <a:ext cx="4480560" cy="2926080"/>
          </a:xfrm>
          <a:prstGeom prst="roundRect">
            <a:avLst>
              <a:gd name="adj" fmla="val 1875"/>
            </a:avLst>
          </a:prstGeom>
          <a:solidFill>
            <a:srgbClr val="FFFFFF"/>
          </a:solidFill>
          <a:ln w="10160">
            <a:solidFill>
              <a:srgbClr val="CAD6E0"/>
            </a:solidFill>
            <a:prstDash val="solid"/>
          </a:ln>
        </p:spPr>
        <p:txBody>
          <a:bodyPr/>
          <a:lstStyle/>
          <a:p>
            <a:endParaRPr lang="en-CL"/>
          </a:p>
        </p:txBody>
      </p:sp>
      <p:pic>
        <p:nvPicPr>
          <p:cNvPr id="9" name="Image 0" descr="/mnt/data/f8abe363-afb7-4a50-ae4e-a5c47fbe4e39.png"/>
          <p:cNvPicPr>
            <a:picLocks noChangeAspect="1"/>
          </p:cNvPicPr>
          <p:nvPr/>
        </p:nvPicPr>
        <p:blipFill>
          <a:blip r:embed="rId3"/>
          <a:stretch>
            <a:fillRect/>
          </a:stretch>
        </p:blipFill>
        <p:spPr>
          <a:xfrm>
            <a:off x="739657" y="1188720"/>
            <a:ext cx="4372847" cy="2606040"/>
          </a:xfrm>
          <a:prstGeom prst="rect">
            <a:avLst/>
          </a:prstGeom>
        </p:spPr>
      </p:pic>
      <p:sp>
        <p:nvSpPr>
          <p:cNvPr id="10" name="Shape 7"/>
          <p:cNvSpPr/>
          <p:nvPr/>
        </p:nvSpPr>
        <p:spPr>
          <a:xfrm>
            <a:off x="685800" y="3822192"/>
            <a:ext cx="4480560" cy="246888"/>
          </a:xfrm>
          <a:prstGeom prst="rect">
            <a:avLst/>
          </a:prstGeom>
          <a:solidFill>
            <a:srgbClr val="0F2742">
              <a:alpha val="92000"/>
            </a:srgbClr>
          </a:solidFill>
          <a:ln w="12700">
            <a:solidFill>
              <a:srgbClr val="0F2742"/>
            </a:solidFill>
            <a:prstDash val="solid"/>
          </a:ln>
        </p:spPr>
        <p:txBody>
          <a:bodyPr/>
          <a:lstStyle/>
          <a:p>
            <a:endParaRPr lang="en-CL"/>
          </a:p>
        </p:txBody>
      </p:sp>
      <p:sp>
        <p:nvSpPr>
          <p:cNvPr id="11" name="Text 8"/>
          <p:cNvSpPr/>
          <p:nvPr/>
        </p:nvSpPr>
        <p:spPr>
          <a:xfrm>
            <a:off x="777240" y="3886200"/>
            <a:ext cx="4297680" cy="91440"/>
          </a:xfrm>
          <a:prstGeom prst="rect">
            <a:avLst/>
          </a:prstGeom>
          <a:noFill/>
          <a:ln/>
        </p:spPr>
        <p:txBody>
          <a:bodyPr wrap="square" lIns="0" tIns="0" rIns="0" bIns="0" rtlCol="0" anchor="ctr"/>
          <a:lstStyle/>
          <a:p>
            <a:pPr marL="0" indent="0" algn="ctr">
              <a:buNone/>
            </a:pPr>
            <a:r>
              <a:rPr lang="en-US" sz="750" b="1" dirty="0">
                <a:solidFill>
                  <a:srgbClr val="FFFFFF"/>
                </a:solidFill>
              </a:rPr>
              <a:t>Matriz de riesgos</a:t>
            </a:r>
            <a:endParaRPr lang="en-US" sz="750" dirty="0"/>
          </a:p>
        </p:txBody>
      </p:sp>
      <p:sp>
        <p:nvSpPr>
          <p:cNvPr id="12" name="Shape 9"/>
          <p:cNvSpPr/>
          <p:nvPr/>
        </p:nvSpPr>
        <p:spPr>
          <a:xfrm>
            <a:off x="5486400" y="1143000"/>
            <a:ext cx="5852160" cy="2926080"/>
          </a:xfrm>
          <a:prstGeom prst="roundRect">
            <a:avLst>
              <a:gd name="adj" fmla="val 3125"/>
            </a:avLst>
          </a:prstGeom>
          <a:solidFill>
            <a:srgbClr val="FFFFFF"/>
          </a:solidFill>
          <a:ln w="12700">
            <a:solidFill>
              <a:srgbClr val="CAD6E0"/>
            </a:solidFill>
            <a:prstDash val="solid"/>
          </a:ln>
        </p:spPr>
        <p:txBody>
          <a:bodyPr/>
          <a:lstStyle/>
          <a:p>
            <a:endParaRPr lang="en-CL"/>
          </a:p>
        </p:txBody>
      </p:sp>
      <p:sp>
        <p:nvSpPr>
          <p:cNvPr id="13" name="Text 10"/>
          <p:cNvSpPr/>
          <p:nvPr/>
        </p:nvSpPr>
        <p:spPr>
          <a:xfrm>
            <a:off x="5715000" y="1417320"/>
            <a:ext cx="5394960" cy="228600"/>
          </a:xfrm>
          <a:prstGeom prst="rect">
            <a:avLst/>
          </a:prstGeom>
          <a:noFill/>
          <a:ln/>
        </p:spPr>
        <p:txBody>
          <a:bodyPr wrap="square" lIns="0" tIns="0" rIns="0" bIns="0" rtlCol="0" anchor="ctr"/>
          <a:lstStyle/>
          <a:p>
            <a:pPr marL="0" indent="0">
              <a:buNone/>
            </a:pPr>
            <a:r>
              <a:rPr lang="en-US" sz="1700" b="1" dirty="0">
                <a:solidFill>
                  <a:srgbClr val="0F2742"/>
                </a:solidFill>
              </a:rPr>
              <a:t>Riesgos principales</a:t>
            </a:r>
            <a:endParaRPr lang="en-US" sz="1700" dirty="0"/>
          </a:p>
        </p:txBody>
      </p:sp>
      <p:sp>
        <p:nvSpPr>
          <p:cNvPr id="14" name="Text 11"/>
          <p:cNvSpPr/>
          <p:nvPr/>
        </p:nvSpPr>
        <p:spPr>
          <a:xfrm>
            <a:off x="5760720" y="1874520"/>
            <a:ext cx="4983480" cy="1691640"/>
          </a:xfrm>
          <a:prstGeom prst="rect">
            <a:avLst/>
          </a:prstGeom>
          <a:noFill/>
          <a:ln/>
        </p:spPr>
        <p:txBody>
          <a:bodyPr wrap="square" lIns="635" tIns="635" rIns="635" bIns="635" rtlCol="0" anchor="ctr">
            <a:normAutofit/>
          </a:bodyPr>
          <a:lstStyle/>
          <a:p>
            <a:r>
              <a:rPr lang="en-US" sz="1250" dirty="0">
                <a:solidFill>
                  <a:srgbClr val="1B1F23"/>
                </a:solidFill>
              </a:rPr>
              <a:t>R-03: crecimiento no controlado del alcance</a:t>
            </a:r>
            <a:endParaRPr lang="en-US" sz="1250" dirty="0"/>
          </a:p>
          <a:p>
            <a:r>
              <a:rPr lang="en-US" sz="1250" dirty="0">
                <a:solidFill>
                  <a:srgbClr val="1B1F23"/>
                </a:solidFill>
              </a:rPr>
              <a:t>R-01: limitaciones de infraestructura</a:t>
            </a:r>
            <a:endParaRPr lang="en-US" sz="1250" dirty="0"/>
          </a:p>
          <a:p>
            <a:r>
              <a:rPr lang="en-US" sz="1250" dirty="0">
                <a:solidFill>
                  <a:srgbClr val="1B1F23"/>
                </a:solidFill>
              </a:rPr>
              <a:t>R-02: baja calidad de datos históricos</a:t>
            </a:r>
            <a:endParaRPr lang="en-US" sz="1250" dirty="0"/>
          </a:p>
          <a:p>
            <a:r>
              <a:rPr lang="en-US" sz="1250" dirty="0">
                <a:solidFill>
                  <a:srgbClr val="1B1F23"/>
                </a:solidFill>
              </a:rPr>
              <a:t>R-05: reportería ejecutiva más compleja</a:t>
            </a:r>
            <a:endParaRPr lang="en-US" sz="1250" dirty="0"/>
          </a:p>
          <a:p>
            <a:r>
              <a:rPr lang="en-US" sz="1250" dirty="0">
                <a:solidFill>
                  <a:srgbClr val="1B1F23"/>
                </a:solidFill>
              </a:rPr>
              <a:t>R-04: adopción por usuarios finales</a:t>
            </a:r>
            <a:endParaRPr lang="en-US" sz="1250" dirty="0"/>
          </a:p>
        </p:txBody>
      </p:sp>
      <p:sp>
        <p:nvSpPr>
          <p:cNvPr id="15" name="Shape 12"/>
          <p:cNvSpPr/>
          <p:nvPr/>
        </p:nvSpPr>
        <p:spPr>
          <a:xfrm>
            <a:off x="685800" y="4343400"/>
            <a:ext cx="10652760" cy="1005840"/>
          </a:xfrm>
          <a:prstGeom prst="roundRect">
            <a:avLst>
              <a:gd name="adj" fmla="val 9091"/>
            </a:avLst>
          </a:prstGeom>
          <a:solidFill>
            <a:srgbClr val="FFFFFF"/>
          </a:solidFill>
          <a:ln w="12700">
            <a:solidFill>
              <a:srgbClr val="CAD6E0"/>
            </a:solidFill>
            <a:prstDash val="solid"/>
          </a:ln>
        </p:spPr>
        <p:txBody>
          <a:bodyPr/>
          <a:lstStyle/>
          <a:p>
            <a:endParaRPr lang="en-CL"/>
          </a:p>
        </p:txBody>
      </p:sp>
      <p:sp>
        <p:nvSpPr>
          <p:cNvPr id="16" name="Text 13"/>
          <p:cNvSpPr/>
          <p:nvPr/>
        </p:nvSpPr>
        <p:spPr>
          <a:xfrm>
            <a:off x="914400" y="4645152"/>
            <a:ext cx="10058400" cy="228600"/>
          </a:xfrm>
          <a:prstGeom prst="rect">
            <a:avLst/>
          </a:prstGeom>
          <a:noFill/>
          <a:ln/>
        </p:spPr>
        <p:txBody>
          <a:bodyPr wrap="square" lIns="0" tIns="0" rIns="0" bIns="0" rtlCol="0" anchor="ctr"/>
          <a:lstStyle/>
          <a:p>
            <a:pPr marL="0" indent="0">
              <a:buNone/>
            </a:pPr>
            <a:r>
              <a:rPr lang="en-US" sz="1600" b="1" dirty="0">
                <a:solidFill>
                  <a:srgbClr val="0F2742"/>
                </a:solidFill>
              </a:rPr>
              <a:t>Deuda técnica identificada</a:t>
            </a:r>
            <a:endParaRPr lang="en-US" sz="1600" dirty="0"/>
          </a:p>
        </p:txBody>
      </p:sp>
      <p:sp>
        <p:nvSpPr>
          <p:cNvPr id="17" name="Text 14"/>
          <p:cNvSpPr/>
          <p:nvPr/>
        </p:nvSpPr>
        <p:spPr>
          <a:xfrm>
            <a:off x="914400" y="5074920"/>
            <a:ext cx="10149840" cy="164592"/>
          </a:xfrm>
          <a:prstGeom prst="rect">
            <a:avLst/>
          </a:prstGeom>
          <a:noFill/>
          <a:ln/>
        </p:spPr>
        <p:txBody>
          <a:bodyPr wrap="square" lIns="0" tIns="0" rIns="0" bIns="0" rtlCol="0" anchor="ctr"/>
          <a:lstStyle/>
          <a:p>
            <a:pPr marL="0" indent="0" algn="ctr">
              <a:buNone/>
            </a:pPr>
            <a:r>
              <a:rPr lang="en-US" sz="1250" b="1" dirty="0">
                <a:solidFill>
                  <a:srgbClr val="1F5B99"/>
                </a:solidFill>
              </a:rPr>
              <a:t>Reporterías ejecutivas avanzadas · Reglas automáticas de asignación · Inventario con agentes · Integración LDAP/AD · Gobierno del dato</a:t>
            </a:r>
            <a:endParaRPr lang="en-US" sz="1250" dirty="0"/>
          </a:p>
        </p:txBody>
      </p:sp>
      <p:sp>
        <p:nvSpPr>
          <p:cNvPr id="18" name="Text 15"/>
          <p:cNvSpPr/>
          <p:nvPr/>
        </p:nvSpPr>
        <p:spPr>
          <a:xfrm>
            <a:off x="914400" y="5669280"/>
            <a:ext cx="10149840" cy="164592"/>
          </a:xfrm>
          <a:prstGeom prst="rect">
            <a:avLst/>
          </a:prstGeom>
          <a:noFill/>
          <a:ln/>
        </p:spPr>
        <p:txBody>
          <a:bodyPr wrap="square" lIns="0" tIns="0" rIns="0" bIns="0" rtlCol="0" anchor="ctr"/>
          <a:lstStyle/>
          <a:p>
            <a:pPr marL="0" indent="0" algn="ctr">
              <a:buNone/>
            </a:pPr>
            <a:r>
              <a:rPr lang="en-US" sz="1050" dirty="0">
                <a:solidFill>
                  <a:srgbClr val="657182"/>
                </a:solidFill>
              </a:rPr>
              <a:t>Mitigación central: priorizar MVP, documentar exclusiones y dejar una hoja de ruta posterior.</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BBF72"/>
          </a:solidFill>
          <a:ln w="12700">
            <a:solidFill>
              <a:srgbClr val="0BBF72"/>
            </a:solidFill>
            <a:prstDash val="solid"/>
          </a:ln>
        </p:spPr>
        <p:txBody>
          <a:bodyPr/>
          <a:lstStyle/>
          <a:p>
            <a:endParaRPr lang="en-CL"/>
          </a:p>
        </p:txBody>
      </p:sp>
      <p:sp>
        <p:nvSpPr>
          <p:cNvPr id="3" name="Shape 1"/>
          <p:cNvSpPr/>
          <p:nvPr/>
        </p:nvSpPr>
        <p:spPr>
          <a:xfrm>
            <a:off x="0" y="6565392"/>
            <a:ext cx="12191695" cy="292608"/>
          </a:xfrm>
          <a:prstGeom prst="rect">
            <a:avLst/>
          </a:prstGeom>
          <a:solidFill>
            <a:srgbClr val="0F2742"/>
          </a:solidFill>
          <a:ln w="12700">
            <a:solidFill>
              <a:srgbClr val="0F2742"/>
            </a:solidFill>
            <a:prstDash val="solid"/>
          </a:ln>
        </p:spPr>
        <p:txBody>
          <a:bodyPr/>
          <a:lstStyle/>
          <a:p>
            <a:endParaRPr lang="en-CL"/>
          </a:p>
        </p:txBody>
      </p:sp>
      <p:sp>
        <p:nvSpPr>
          <p:cNvPr id="4" name="Text 2"/>
          <p:cNvSpPr/>
          <p:nvPr/>
        </p:nvSpPr>
        <p:spPr>
          <a:xfrm>
            <a:off x="502920" y="347472"/>
            <a:ext cx="10515600" cy="384048"/>
          </a:xfrm>
          <a:prstGeom prst="rect">
            <a:avLst/>
          </a:prstGeom>
          <a:noFill/>
          <a:ln/>
        </p:spPr>
        <p:txBody>
          <a:bodyPr wrap="square" lIns="0" tIns="0" rIns="0" bIns="0" rtlCol="0" anchor="ctr"/>
          <a:lstStyle/>
          <a:p>
            <a:pPr marL="0" indent="0">
              <a:buNone/>
            </a:pPr>
            <a:r>
              <a:rPr lang="en-US" sz="2600" b="1" dirty="0">
                <a:solidFill>
                  <a:srgbClr val="0F2742"/>
                </a:solidFill>
                <a:latin typeface="Arial" pitchFamily="34" charset="0"/>
                <a:ea typeface="Arial" pitchFamily="34" charset="-122"/>
                <a:cs typeface="Arial" pitchFamily="34" charset="-120"/>
              </a:rPr>
              <a:t>Conclusiones e impacto organizacional</a:t>
            </a:r>
            <a:endParaRPr lang="en-US" sz="2600" dirty="0"/>
          </a:p>
        </p:txBody>
      </p:sp>
      <p:sp>
        <p:nvSpPr>
          <p:cNvPr id="5" name="Text 3"/>
          <p:cNvSpPr/>
          <p:nvPr/>
        </p:nvSpPr>
        <p:spPr>
          <a:xfrm>
            <a:off x="521208" y="768096"/>
            <a:ext cx="10607040" cy="219456"/>
          </a:xfrm>
          <a:prstGeom prst="rect">
            <a:avLst/>
          </a:prstGeom>
          <a:noFill/>
          <a:ln/>
        </p:spPr>
        <p:txBody>
          <a:bodyPr wrap="square" lIns="0" tIns="0" rIns="0" bIns="0" rtlCol="0" anchor="ctr"/>
          <a:lstStyle/>
          <a:p>
            <a:pPr marL="0" indent="0">
              <a:buNone/>
            </a:pPr>
            <a:r>
              <a:rPr lang="en-US" sz="1050" dirty="0">
                <a:solidFill>
                  <a:srgbClr val="657182"/>
                </a:solidFill>
              </a:rPr>
              <a:t>GLPI entrega una base sostenible para soporte, activos y toma de decisiones.</a:t>
            </a:r>
            <a:endParaRPr lang="en-US" sz="1050" dirty="0"/>
          </a:p>
        </p:txBody>
      </p:sp>
      <p:sp>
        <p:nvSpPr>
          <p:cNvPr id="6" name="Text 4"/>
          <p:cNvSpPr/>
          <p:nvPr/>
        </p:nvSpPr>
        <p:spPr>
          <a:xfrm>
            <a:off x="502920" y="6611112"/>
            <a:ext cx="6583680" cy="146304"/>
          </a:xfrm>
          <a:prstGeom prst="rect">
            <a:avLst/>
          </a:prstGeom>
          <a:noFill/>
          <a:ln/>
        </p:spPr>
        <p:txBody>
          <a:bodyPr wrap="square" lIns="0" tIns="0" rIns="0" bIns="0" rtlCol="0" anchor="ctr"/>
          <a:lstStyle/>
          <a:p>
            <a:pPr marL="0" indent="0">
              <a:buNone/>
            </a:pPr>
            <a:r>
              <a:rPr lang="en-US" sz="750" dirty="0">
                <a:solidFill>
                  <a:srgbClr val="DCE7F2"/>
                </a:solidFill>
              </a:rPr>
              <a:t>TIP-INF-401 | Ingeniería en Informática | IPSS 2026</a:t>
            </a:r>
            <a:endParaRPr lang="en-US" sz="750" dirty="0"/>
          </a:p>
        </p:txBody>
      </p:sp>
      <p:sp>
        <p:nvSpPr>
          <p:cNvPr id="7" name="Text 5"/>
          <p:cNvSpPr/>
          <p:nvPr/>
        </p:nvSpPr>
        <p:spPr>
          <a:xfrm>
            <a:off x="11064240" y="6611112"/>
            <a:ext cx="640080" cy="146304"/>
          </a:xfrm>
          <a:prstGeom prst="rect">
            <a:avLst/>
          </a:prstGeom>
          <a:noFill/>
          <a:ln/>
        </p:spPr>
        <p:txBody>
          <a:bodyPr wrap="square" lIns="0" tIns="0" rIns="0" bIns="0" rtlCol="0" anchor="ctr"/>
          <a:lstStyle/>
          <a:p>
            <a:pPr marL="0" indent="0" algn="r">
              <a:buNone/>
            </a:pPr>
            <a:r>
              <a:rPr lang="en-US" sz="750" dirty="0">
                <a:solidFill>
                  <a:srgbClr val="DCE7F2"/>
                </a:solidFill>
              </a:rPr>
              <a:t>17/18</a:t>
            </a:r>
            <a:endParaRPr lang="en-US" sz="750" dirty="0"/>
          </a:p>
        </p:txBody>
      </p:sp>
      <p:sp>
        <p:nvSpPr>
          <p:cNvPr id="8" name="Shape 6"/>
          <p:cNvSpPr/>
          <p:nvPr/>
        </p:nvSpPr>
        <p:spPr>
          <a:xfrm>
            <a:off x="731520" y="1234440"/>
            <a:ext cx="2926080" cy="1463040"/>
          </a:xfrm>
          <a:prstGeom prst="roundRect">
            <a:avLst>
              <a:gd name="adj" fmla="val 5000"/>
            </a:avLst>
          </a:prstGeom>
          <a:solidFill>
            <a:srgbClr val="FFFFFF"/>
          </a:solidFill>
          <a:ln w="12700">
            <a:solidFill>
              <a:srgbClr val="CAD6E0"/>
            </a:solidFill>
            <a:prstDash val="solid"/>
          </a:ln>
        </p:spPr>
        <p:txBody>
          <a:bodyPr/>
          <a:lstStyle/>
          <a:p>
            <a:endParaRPr lang="en-CL"/>
          </a:p>
        </p:txBody>
      </p:sp>
      <p:sp>
        <p:nvSpPr>
          <p:cNvPr id="9" name="Shape 7"/>
          <p:cNvSpPr/>
          <p:nvPr/>
        </p:nvSpPr>
        <p:spPr>
          <a:xfrm>
            <a:off x="731520" y="1234440"/>
            <a:ext cx="73152" cy="1463040"/>
          </a:xfrm>
          <a:prstGeom prst="rect">
            <a:avLst/>
          </a:prstGeom>
          <a:solidFill>
            <a:srgbClr val="0BBF72"/>
          </a:solidFill>
          <a:ln w="12700">
            <a:solidFill>
              <a:srgbClr val="0BBF72"/>
            </a:solidFill>
            <a:prstDash val="solid"/>
          </a:ln>
        </p:spPr>
        <p:txBody>
          <a:bodyPr/>
          <a:lstStyle/>
          <a:p>
            <a:endParaRPr lang="en-CL"/>
          </a:p>
        </p:txBody>
      </p:sp>
      <p:sp>
        <p:nvSpPr>
          <p:cNvPr id="10" name="Text 8"/>
          <p:cNvSpPr/>
          <p:nvPr/>
        </p:nvSpPr>
        <p:spPr>
          <a:xfrm>
            <a:off x="932688" y="1380744"/>
            <a:ext cx="2615184" cy="228600"/>
          </a:xfrm>
          <a:prstGeom prst="rect">
            <a:avLst/>
          </a:prstGeom>
          <a:noFill/>
          <a:ln/>
        </p:spPr>
        <p:txBody>
          <a:bodyPr wrap="square" lIns="0" tIns="0" rIns="0" bIns="0" rtlCol="0" anchor="ctr"/>
          <a:lstStyle/>
          <a:p>
            <a:pPr marL="0" indent="0">
              <a:buNone/>
            </a:pPr>
            <a:r>
              <a:rPr lang="en-US" sz="1300" b="1" dirty="0">
                <a:solidFill>
                  <a:srgbClr val="0F2742"/>
                </a:solidFill>
              </a:rPr>
              <a:t>Resultados obtenidos</a:t>
            </a:r>
            <a:endParaRPr lang="en-US" sz="1300" dirty="0"/>
          </a:p>
        </p:txBody>
      </p:sp>
      <p:sp>
        <p:nvSpPr>
          <p:cNvPr id="11" name="Text 9"/>
          <p:cNvSpPr/>
          <p:nvPr/>
        </p:nvSpPr>
        <p:spPr>
          <a:xfrm>
            <a:off x="932688" y="1691640"/>
            <a:ext cx="2615184" cy="914400"/>
          </a:xfrm>
          <a:prstGeom prst="rect">
            <a:avLst/>
          </a:prstGeom>
          <a:noFill/>
          <a:ln/>
        </p:spPr>
        <p:txBody>
          <a:bodyPr wrap="square" lIns="0" tIns="0" rIns="0" bIns="0" rtlCol="0" anchor="ctr">
            <a:normAutofit/>
          </a:bodyPr>
          <a:lstStyle/>
          <a:p>
            <a:pPr marL="0" indent="0">
              <a:buNone/>
            </a:pPr>
            <a:r>
              <a:rPr lang="en-US" sz="1050" dirty="0">
                <a:solidFill>
                  <a:srgbClr val="1B1F23"/>
                </a:solidFill>
              </a:rPr>
              <a:t>MVP funcional validado: tickets, activos, perfiles, reportes base y evidencias de prueba.</a:t>
            </a:r>
            <a:endParaRPr lang="en-US" sz="1050" dirty="0"/>
          </a:p>
        </p:txBody>
      </p:sp>
      <p:sp>
        <p:nvSpPr>
          <p:cNvPr id="12" name="Shape 10"/>
          <p:cNvSpPr/>
          <p:nvPr/>
        </p:nvSpPr>
        <p:spPr>
          <a:xfrm>
            <a:off x="3886200" y="1234440"/>
            <a:ext cx="2926080" cy="1463040"/>
          </a:xfrm>
          <a:prstGeom prst="roundRect">
            <a:avLst>
              <a:gd name="adj" fmla="val 5000"/>
            </a:avLst>
          </a:prstGeom>
          <a:solidFill>
            <a:srgbClr val="FFFFFF"/>
          </a:solidFill>
          <a:ln w="12700">
            <a:solidFill>
              <a:srgbClr val="CAD6E0"/>
            </a:solidFill>
            <a:prstDash val="solid"/>
          </a:ln>
        </p:spPr>
        <p:txBody>
          <a:bodyPr/>
          <a:lstStyle/>
          <a:p>
            <a:endParaRPr lang="en-CL"/>
          </a:p>
        </p:txBody>
      </p:sp>
      <p:sp>
        <p:nvSpPr>
          <p:cNvPr id="13" name="Shape 11"/>
          <p:cNvSpPr/>
          <p:nvPr/>
        </p:nvSpPr>
        <p:spPr>
          <a:xfrm>
            <a:off x="3886200" y="1234440"/>
            <a:ext cx="73152" cy="1463040"/>
          </a:xfrm>
          <a:prstGeom prst="rect">
            <a:avLst/>
          </a:prstGeom>
          <a:solidFill>
            <a:srgbClr val="1F5B99"/>
          </a:solidFill>
          <a:ln w="12700">
            <a:solidFill>
              <a:srgbClr val="1F5B99"/>
            </a:solidFill>
            <a:prstDash val="solid"/>
          </a:ln>
        </p:spPr>
        <p:txBody>
          <a:bodyPr/>
          <a:lstStyle/>
          <a:p>
            <a:endParaRPr lang="en-CL"/>
          </a:p>
        </p:txBody>
      </p:sp>
      <p:sp>
        <p:nvSpPr>
          <p:cNvPr id="14" name="Text 12"/>
          <p:cNvSpPr/>
          <p:nvPr/>
        </p:nvSpPr>
        <p:spPr>
          <a:xfrm>
            <a:off x="4087368" y="1380744"/>
            <a:ext cx="2615184" cy="228600"/>
          </a:xfrm>
          <a:prstGeom prst="rect">
            <a:avLst/>
          </a:prstGeom>
          <a:noFill/>
          <a:ln/>
        </p:spPr>
        <p:txBody>
          <a:bodyPr wrap="square" lIns="0" tIns="0" rIns="0" bIns="0" rtlCol="0" anchor="ctr"/>
          <a:lstStyle/>
          <a:p>
            <a:pPr marL="0" indent="0">
              <a:buNone/>
            </a:pPr>
            <a:r>
              <a:rPr lang="en-US" sz="1300" b="1" dirty="0">
                <a:solidFill>
                  <a:srgbClr val="0F2742"/>
                </a:solidFill>
              </a:rPr>
              <a:t>Impacto esperado</a:t>
            </a:r>
            <a:endParaRPr lang="en-US" sz="1300" dirty="0"/>
          </a:p>
        </p:txBody>
      </p:sp>
      <p:sp>
        <p:nvSpPr>
          <p:cNvPr id="15" name="Text 13"/>
          <p:cNvSpPr/>
          <p:nvPr/>
        </p:nvSpPr>
        <p:spPr>
          <a:xfrm>
            <a:off x="4087368" y="1691640"/>
            <a:ext cx="2615184" cy="914400"/>
          </a:xfrm>
          <a:prstGeom prst="rect">
            <a:avLst/>
          </a:prstGeom>
          <a:noFill/>
          <a:ln/>
        </p:spPr>
        <p:txBody>
          <a:bodyPr wrap="square" lIns="0" tIns="0" rIns="0" bIns="0" rtlCol="0" anchor="ctr">
            <a:normAutofit/>
          </a:bodyPr>
          <a:lstStyle/>
          <a:p>
            <a:pPr marL="0" indent="0">
              <a:buNone/>
            </a:pPr>
            <a:r>
              <a:rPr lang="en-US" sz="1050" dirty="0">
                <a:solidFill>
                  <a:srgbClr val="1B1F23"/>
                </a:solidFill>
              </a:rPr>
              <a:t>Menos dependencia del correo, mayor trazabilidad y mejor control operativo.</a:t>
            </a:r>
            <a:endParaRPr lang="en-US" sz="1050" dirty="0"/>
          </a:p>
        </p:txBody>
      </p:sp>
      <p:sp>
        <p:nvSpPr>
          <p:cNvPr id="16" name="Shape 14"/>
          <p:cNvSpPr/>
          <p:nvPr/>
        </p:nvSpPr>
        <p:spPr>
          <a:xfrm>
            <a:off x="7040880" y="1234440"/>
            <a:ext cx="2926080" cy="1463040"/>
          </a:xfrm>
          <a:prstGeom prst="roundRect">
            <a:avLst>
              <a:gd name="adj" fmla="val 5000"/>
            </a:avLst>
          </a:prstGeom>
          <a:solidFill>
            <a:srgbClr val="FFFFFF"/>
          </a:solidFill>
          <a:ln w="12700">
            <a:solidFill>
              <a:srgbClr val="CAD6E0"/>
            </a:solidFill>
            <a:prstDash val="solid"/>
          </a:ln>
        </p:spPr>
        <p:txBody>
          <a:bodyPr/>
          <a:lstStyle/>
          <a:p>
            <a:endParaRPr lang="en-CL"/>
          </a:p>
        </p:txBody>
      </p:sp>
      <p:sp>
        <p:nvSpPr>
          <p:cNvPr id="17" name="Shape 15"/>
          <p:cNvSpPr/>
          <p:nvPr/>
        </p:nvSpPr>
        <p:spPr>
          <a:xfrm>
            <a:off x="7040880" y="1234440"/>
            <a:ext cx="73152" cy="1463040"/>
          </a:xfrm>
          <a:prstGeom prst="rect">
            <a:avLst/>
          </a:prstGeom>
          <a:solidFill>
            <a:srgbClr val="F2994A"/>
          </a:solidFill>
          <a:ln w="12700">
            <a:solidFill>
              <a:srgbClr val="F2994A"/>
            </a:solidFill>
            <a:prstDash val="solid"/>
          </a:ln>
        </p:spPr>
        <p:txBody>
          <a:bodyPr/>
          <a:lstStyle/>
          <a:p>
            <a:endParaRPr lang="en-CL"/>
          </a:p>
        </p:txBody>
      </p:sp>
      <p:sp>
        <p:nvSpPr>
          <p:cNvPr id="18" name="Text 16"/>
          <p:cNvSpPr/>
          <p:nvPr/>
        </p:nvSpPr>
        <p:spPr>
          <a:xfrm>
            <a:off x="7242048" y="1380744"/>
            <a:ext cx="2615184" cy="228600"/>
          </a:xfrm>
          <a:prstGeom prst="rect">
            <a:avLst/>
          </a:prstGeom>
          <a:noFill/>
          <a:ln/>
        </p:spPr>
        <p:txBody>
          <a:bodyPr wrap="square" lIns="0" tIns="0" rIns="0" bIns="0" rtlCol="0" anchor="ctr"/>
          <a:lstStyle/>
          <a:p>
            <a:pPr marL="0" indent="0">
              <a:buNone/>
            </a:pPr>
            <a:r>
              <a:rPr lang="en-US" sz="1300" b="1" dirty="0">
                <a:solidFill>
                  <a:srgbClr val="0F2742"/>
                </a:solidFill>
              </a:rPr>
              <a:t>Valor para JUNJI</a:t>
            </a:r>
            <a:endParaRPr lang="en-US" sz="1300" dirty="0"/>
          </a:p>
        </p:txBody>
      </p:sp>
      <p:sp>
        <p:nvSpPr>
          <p:cNvPr id="19" name="Text 17"/>
          <p:cNvSpPr/>
          <p:nvPr/>
        </p:nvSpPr>
        <p:spPr>
          <a:xfrm>
            <a:off x="7242048" y="1691640"/>
            <a:ext cx="2615184" cy="914400"/>
          </a:xfrm>
          <a:prstGeom prst="rect">
            <a:avLst/>
          </a:prstGeom>
          <a:noFill/>
          <a:ln/>
        </p:spPr>
        <p:txBody>
          <a:bodyPr wrap="square" lIns="0" tIns="0" rIns="0" bIns="0" rtlCol="0" anchor="ctr">
            <a:normAutofit/>
          </a:bodyPr>
          <a:lstStyle/>
          <a:p>
            <a:pPr marL="0" indent="0">
              <a:buNone/>
            </a:pPr>
            <a:r>
              <a:rPr lang="en-US" sz="1050" dirty="0">
                <a:solidFill>
                  <a:srgbClr val="1B1F23"/>
                </a:solidFill>
              </a:rPr>
              <a:t>Información más confiable para jefaturas y mejor resguardo de activos institucionales.</a:t>
            </a:r>
            <a:endParaRPr lang="en-US" sz="1050" dirty="0"/>
          </a:p>
        </p:txBody>
      </p:sp>
      <p:sp>
        <p:nvSpPr>
          <p:cNvPr id="20" name="Shape 18"/>
          <p:cNvSpPr/>
          <p:nvPr/>
        </p:nvSpPr>
        <p:spPr>
          <a:xfrm>
            <a:off x="822960" y="3246120"/>
            <a:ext cx="10515600" cy="2057400"/>
          </a:xfrm>
          <a:prstGeom prst="roundRect">
            <a:avLst>
              <a:gd name="adj" fmla="val 4444"/>
            </a:avLst>
          </a:prstGeom>
          <a:solidFill>
            <a:srgbClr val="0F2742"/>
          </a:solidFill>
          <a:ln w="12700">
            <a:solidFill>
              <a:srgbClr val="0F2742"/>
            </a:solidFill>
            <a:prstDash val="solid"/>
          </a:ln>
        </p:spPr>
        <p:txBody>
          <a:bodyPr/>
          <a:lstStyle/>
          <a:p>
            <a:endParaRPr lang="en-CL"/>
          </a:p>
        </p:txBody>
      </p:sp>
      <p:sp>
        <p:nvSpPr>
          <p:cNvPr id="21" name="Text 19"/>
          <p:cNvSpPr/>
          <p:nvPr/>
        </p:nvSpPr>
        <p:spPr>
          <a:xfrm>
            <a:off x="1097280" y="3566160"/>
            <a:ext cx="9966960" cy="274320"/>
          </a:xfrm>
          <a:prstGeom prst="rect">
            <a:avLst/>
          </a:prstGeom>
          <a:noFill/>
          <a:ln/>
        </p:spPr>
        <p:txBody>
          <a:bodyPr wrap="square" lIns="0" tIns="0" rIns="0" bIns="0" rtlCol="0" anchor="ctr"/>
          <a:lstStyle/>
          <a:p>
            <a:pPr marL="0" indent="0" algn="ctr">
              <a:buNone/>
            </a:pPr>
            <a:r>
              <a:rPr lang="en-US" sz="2200" b="1" dirty="0">
                <a:solidFill>
                  <a:srgbClr val="FFFFFF"/>
                </a:solidFill>
              </a:rPr>
              <a:t>Cierre del proyecto</a:t>
            </a:r>
            <a:endParaRPr lang="en-US" sz="2200" dirty="0"/>
          </a:p>
        </p:txBody>
      </p:sp>
      <p:sp>
        <p:nvSpPr>
          <p:cNvPr id="22" name="Text 20"/>
          <p:cNvSpPr/>
          <p:nvPr/>
        </p:nvSpPr>
        <p:spPr>
          <a:xfrm>
            <a:off x="1417320" y="4069080"/>
            <a:ext cx="9326880" cy="502920"/>
          </a:xfrm>
          <a:prstGeom prst="rect">
            <a:avLst/>
          </a:prstGeom>
          <a:noFill/>
          <a:ln/>
        </p:spPr>
        <p:txBody>
          <a:bodyPr wrap="square" lIns="0" tIns="0" rIns="0" bIns="0" rtlCol="0" anchor="ctr">
            <a:normAutofit lnSpcReduction="10000"/>
          </a:bodyPr>
          <a:lstStyle/>
          <a:p>
            <a:pPr marL="0" indent="0" algn="ctr">
              <a:buNone/>
            </a:pPr>
            <a:r>
              <a:rPr lang="en-US" sz="1700" b="1" dirty="0">
                <a:solidFill>
                  <a:srgbClr val="DCE7F2"/>
                </a:solidFill>
              </a:rPr>
              <a:t>La propuesta no solo reemplaza una ticketera: instala una base tecnológica para gestionar soporte, controlar activos y tomar decisiones con información trazable.</a:t>
            </a:r>
            <a:endParaRPr lang="en-US" sz="1700" dirty="0"/>
          </a:p>
        </p:txBody>
      </p:sp>
      <p:sp>
        <p:nvSpPr>
          <p:cNvPr id="23" name="Text 21"/>
          <p:cNvSpPr/>
          <p:nvPr/>
        </p:nvSpPr>
        <p:spPr>
          <a:xfrm>
            <a:off x="1188720" y="4800600"/>
            <a:ext cx="9875520" cy="182880"/>
          </a:xfrm>
          <a:prstGeom prst="rect">
            <a:avLst/>
          </a:prstGeom>
          <a:noFill/>
          <a:ln/>
        </p:spPr>
        <p:txBody>
          <a:bodyPr wrap="square" lIns="0" tIns="0" rIns="0" bIns="0" rtlCol="0" anchor="ctr"/>
          <a:lstStyle/>
          <a:p>
            <a:pPr marL="0" indent="0" algn="ctr">
              <a:buNone/>
            </a:pPr>
            <a:r>
              <a:rPr lang="en-US" sz="1150" b="1" dirty="0">
                <a:solidFill>
                  <a:srgbClr val="0BBF72"/>
                </a:solidFill>
              </a:rPr>
              <a:t>Mejoras futuras: reportería avanzada · automatización · inventario automático · contenedores/cloud</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BBF72"/>
          </a:solidFill>
          <a:ln w="12700">
            <a:solidFill>
              <a:srgbClr val="0BBF72"/>
            </a:solidFill>
            <a:prstDash val="solid"/>
          </a:ln>
        </p:spPr>
        <p:txBody>
          <a:bodyPr/>
          <a:lstStyle/>
          <a:p>
            <a:endParaRPr lang="en-CL"/>
          </a:p>
        </p:txBody>
      </p:sp>
      <p:sp>
        <p:nvSpPr>
          <p:cNvPr id="3" name="Shape 1"/>
          <p:cNvSpPr/>
          <p:nvPr/>
        </p:nvSpPr>
        <p:spPr>
          <a:xfrm>
            <a:off x="0" y="6565392"/>
            <a:ext cx="12191695" cy="292608"/>
          </a:xfrm>
          <a:prstGeom prst="rect">
            <a:avLst/>
          </a:prstGeom>
          <a:solidFill>
            <a:srgbClr val="0F2742"/>
          </a:solidFill>
          <a:ln w="12700">
            <a:solidFill>
              <a:srgbClr val="0F2742"/>
            </a:solidFill>
            <a:prstDash val="solid"/>
          </a:ln>
        </p:spPr>
        <p:txBody>
          <a:bodyPr/>
          <a:lstStyle/>
          <a:p>
            <a:endParaRPr lang="en-CL"/>
          </a:p>
        </p:txBody>
      </p:sp>
      <p:sp>
        <p:nvSpPr>
          <p:cNvPr id="4" name="Text 2"/>
          <p:cNvSpPr/>
          <p:nvPr/>
        </p:nvSpPr>
        <p:spPr>
          <a:xfrm>
            <a:off x="502920" y="347472"/>
            <a:ext cx="10515600" cy="384048"/>
          </a:xfrm>
          <a:prstGeom prst="rect">
            <a:avLst/>
          </a:prstGeom>
          <a:noFill/>
          <a:ln/>
        </p:spPr>
        <p:txBody>
          <a:bodyPr wrap="square" lIns="0" tIns="0" rIns="0" bIns="0" rtlCol="0" anchor="ctr"/>
          <a:lstStyle/>
          <a:p>
            <a:pPr marL="0" indent="0">
              <a:buNone/>
            </a:pPr>
            <a:r>
              <a:rPr lang="en-US" sz="2600" b="1" dirty="0" err="1">
                <a:solidFill>
                  <a:srgbClr val="0F2742"/>
                </a:solidFill>
                <a:latin typeface="Arial" pitchFamily="34" charset="0"/>
                <a:ea typeface="Arial" pitchFamily="34" charset="-122"/>
                <a:cs typeface="Arial" pitchFamily="34" charset="-120"/>
              </a:rPr>
              <a:t>Cierre</a:t>
            </a:r>
            <a:r>
              <a:rPr lang="en-US" sz="2600" b="1" dirty="0">
                <a:solidFill>
                  <a:srgbClr val="0F2742"/>
                </a:solidFill>
                <a:latin typeface="Arial" pitchFamily="34" charset="0"/>
                <a:ea typeface="Arial" pitchFamily="34" charset="-122"/>
                <a:cs typeface="Arial" pitchFamily="34" charset="-120"/>
              </a:rPr>
              <a:t>: </a:t>
            </a:r>
            <a:r>
              <a:rPr lang="en-US" sz="2600" b="1" dirty="0" err="1">
                <a:solidFill>
                  <a:srgbClr val="0F2742"/>
                </a:solidFill>
                <a:latin typeface="Arial" pitchFamily="34" charset="0"/>
                <a:ea typeface="Arial" pitchFamily="34" charset="-122"/>
                <a:cs typeface="Arial" pitchFamily="34" charset="-120"/>
              </a:rPr>
              <a:t>Preguntas</a:t>
            </a:r>
            <a:r>
              <a:rPr lang="en-US" sz="2600" b="1" dirty="0">
                <a:solidFill>
                  <a:srgbClr val="0F2742"/>
                </a:solidFill>
                <a:latin typeface="Arial" pitchFamily="34" charset="0"/>
                <a:ea typeface="Arial" pitchFamily="34" charset="-122"/>
                <a:cs typeface="Arial" pitchFamily="34" charset="-120"/>
              </a:rPr>
              <a:t> </a:t>
            </a:r>
            <a:r>
              <a:rPr lang="en-US" sz="2600" b="1" dirty="0" err="1">
                <a:solidFill>
                  <a:srgbClr val="0F2742"/>
                </a:solidFill>
                <a:latin typeface="Arial" pitchFamily="34" charset="0"/>
                <a:ea typeface="Arial" pitchFamily="34" charset="-122"/>
                <a:cs typeface="Arial" pitchFamily="34" charset="-120"/>
              </a:rPr>
              <a:t>técnicas</a:t>
            </a:r>
            <a:endParaRPr lang="en-US" sz="2600" dirty="0"/>
          </a:p>
        </p:txBody>
      </p:sp>
      <p:sp>
        <p:nvSpPr>
          <p:cNvPr id="6" name="Text 4"/>
          <p:cNvSpPr/>
          <p:nvPr/>
        </p:nvSpPr>
        <p:spPr>
          <a:xfrm>
            <a:off x="502920" y="6611112"/>
            <a:ext cx="6583680" cy="146304"/>
          </a:xfrm>
          <a:prstGeom prst="rect">
            <a:avLst/>
          </a:prstGeom>
          <a:noFill/>
          <a:ln/>
        </p:spPr>
        <p:txBody>
          <a:bodyPr wrap="square" lIns="0" tIns="0" rIns="0" bIns="0" rtlCol="0" anchor="ctr"/>
          <a:lstStyle/>
          <a:p>
            <a:pPr marL="0" indent="0">
              <a:buNone/>
            </a:pPr>
            <a:r>
              <a:rPr lang="en-US" sz="750" dirty="0">
                <a:solidFill>
                  <a:srgbClr val="DCE7F2"/>
                </a:solidFill>
              </a:rPr>
              <a:t>TIP-INF-401 | Ingeniería en Informática | IPSS 2026</a:t>
            </a:r>
            <a:endParaRPr lang="en-US" sz="750" dirty="0"/>
          </a:p>
        </p:txBody>
      </p:sp>
      <p:sp>
        <p:nvSpPr>
          <p:cNvPr id="7" name="Text 5"/>
          <p:cNvSpPr/>
          <p:nvPr/>
        </p:nvSpPr>
        <p:spPr>
          <a:xfrm>
            <a:off x="11064240" y="6611112"/>
            <a:ext cx="640080" cy="146304"/>
          </a:xfrm>
          <a:prstGeom prst="rect">
            <a:avLst/>
          </a:prstGeom>
          <a:noFill/>
          <a:ln/>
        </p:spPr>
        <p:txBody>
          <a:bodyPr wrap="square" lIns="0" tIns="0" rIns="0" bIns="0" rtlCol="0" anchor="ctr"/>
          <a:lstStyle/>
          <a:p>
            <a:pPr marL="0" indent="0" algn="r">
              <a:buNone/>
            </a:pPr>
            <a:r>
              <a:rPr lang="en-US" sz="750" dirty="0">
                <a:solidFill>
                  <a:srgbClr val="DCE7F2"/>
                </a:solidFill>
              </a:rPr>
              <a:t>18/18</a:t>
            </a:r>
            <a:endParaRPr lang="en-US" sz="750" dirty="0"/>
          </a:p>
        </p:txBody>
      </p:sp>
      <p:sp>
        <p:nvSpPr>
          <p:cNvPr id="24" name="Shape 22"/>
          <p:cNvSpPr/>
          <p:nvPr/>
        </p:nvSpPr>
        <p:spPr>
          <a:xfrm>
            <a:off x="868680" y="1143000"/>
            <a:ext cx="10515600" cy="4389120"/>
          </a:xfrm>
          <a:prstGeom prst="roundRect">
            <a:avLst>
              <a:gd name="adj" fmla="val 2083"/>
            </a:avLst>
          </a:prstGeom>
          <a:solidFill>
            <a:srgbClr val="FFFFFF"/>
          </a:solidFill>
          <a:ln w="12700">
            <a:solidFill>
              <a:srgbClr val="CAD6E0"/>
            </a:solidFill>
            <a:prstDash val="solid"/>
          </a:ln>
        </p:spPr>
        <p:txBody>
          <a:bodyPr/>
          <a:lstStyle/>
          <a:p>
            <a:endParaRPr lang="en-CL"/>
          </a:p>
        </p:txBody>
      </p:sp>
      <p:sp>
        <p:nvSpPr>
          <p:cNvPr id="26" name="Text 24"/>
          <p:cNvSpPr/>
          <p:nvPr/>
        </p:nvSpPr>
        <p:spPr>
          <a:xfrm>
            <a:off x="868680" y="1325880"/>
            <a:ext cx="10195560" cy="4008120"/>
          </a:xfrm>
          <a:prstGeom prst="rect">
            <a:avLst/>
          </a:prstGeom>
          <a:noFill/>
          <a:ln/>
        </p:spPr>
        <p:txBody>
          <a:bodyPr wrap="square" lIns="635" tIns="635" rIns="635" bIns="635" rtlCol="0" anchor="ctr">
            <a:normAutofit/>
          </a:bodyPr>
          <a:lstStyle/>
          <a:p>
            <a:pPr algn="ctr"/>
            <a:r>
              <a:rPr lang="en-US" sz="5400" dirty="0" err="1">
                <a:solidFill>
                  <a:srgbClr val="1B1F23"/>
                </a:solidFill>
              </a:rPr>
              <a:t>Preguntas</a:t>
            </a:r>
            <a:endParaRPr lang="en-US" sz="5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109</TotalTime>
  <Words>4856</Words>
  <Application>Microsoft Macintosh PowerPoint</Application>
  <PresentationFormat>Widescreen</PresentationFormat>
  <Paragraphs>348</Paragraphs>
  <Slides>18</Slides>
  <Notes>18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18</vt:i4>
      </vt:variant>
    </vt:vector>
  </HeadingPairs>
  <TitlesOfParts>
    <vt:vector size="20"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IPSS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Implementación de GLPI para gestión de Mesa de Ayuda y activos TI en JUNJI</dc:title>
  <dc:subject>Defensa oral proyecto GLPI JUNJI</dc:subject>
  <dc:creator>Jonathan Garcés / Andrés Vargas</dc:creator>
  <cp:lastModifiedBy>JONATHAN ALEXIS GARCES SEPULVEDA</cp:lastModifiedBy>
  <cp:revision>2</cp:revision>
  <dcterms:created xsi:type="dcterms:W3CDTF">2026-06-04T17:10:18Z</dcterms:created>
  <dcterms:modified xsi:type="dcterms:W3CDTF">2026-06-04T19:01:07Z</dcterms:modified>
</cp:coreProperties>
</file>